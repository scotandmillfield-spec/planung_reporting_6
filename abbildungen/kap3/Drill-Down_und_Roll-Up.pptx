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580000" cy="324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ürfel oben"/>
          <p:cNvSpPr/>
          <p:nvPr/>
        </p:nvSpPr>
        <p:spPr>
          <a:xfrm>
            <a:off x="540000" y="254057"/>
            <a:ext cx="905143" cy="213943"/>
          </a:xfrm>
          <a:custGeom>
            <a:avLst/>
            <a:gdLst/>
            <a:ahLst/>
            <a:cxnLst/>
            <a:rect l="l" t="t" r="r" b="b"/>
            <a:pathLst>
              <a:path w="905143" h="213943">
                <a:moveTo>
                  <a:pt x="0" y="213943"/>
                </a:moveTo>
                <a:lnTo>
                  <a:pt x="576000" y="213943"/>
                </a:lnTo>
                <a:lnTo>
                  <a:pt x="905143" y="0"/>
                </a:lnTo>
                <a:lnTo>
                  <a:pt x="329143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Würfel rechts"/>
          <p:cNvSpPr/>
          <p:nvPr/>
        </p:nvSpPr>
        <p:spPr>
          <a:xfrm>
            <a:off x="1116000" y="254057"/>
            <a:ext cx="329143" cy="933943"/>
          </a:xfrm>
          <a:custGeom>
            <a:avLst/>
            <a:gdLst/>
            <a:ahLst/>
            <a:cxnLst/>
            <a:rect l="l" t="t" r="r" b="b"/>
            <a:pathLst>
              <a:path w="329143" h="933943">
                <a:moveTo>
                  <a:pt x="0" y="213943"/>
                </a:moveTo>
                <a:lnTo>
                  <a:pt x="329143" y="0"/>
                </a:lnTo>
                <a:lnTo>
                  <a:pt x="329143" y="720000"/>
                </a:lnTo>
                <a:lnTo>
                  <a:pt x="0" y="933943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ürfel vorn"/>
          <p:cNvSpPr/>
          <p:nvPr/>
        </p:nvSpPr>
        <p:spPr>
          <a:xfrm>
            <a:off x="540000" y="468000"/>
            <a:ext cx="576000" cy="720000"/>
          </a:xfrm>
          <a:custGeom>
            <a:avLst/>
            <a:gdLst/>
            <a:ahLst/>
            <a:cxnLst/>
            <a:rect l="l" t="t" r="r" b="b"/>
            <a:pathLst>
              <a:path w="576000" h="720000">
                <a:moveTo>
                  <a:pt x="0" y="0"/>
                </a:moveTo>
                <a:lnTo>
                  <a:pt x="576000" y="0"/>
                </a:lnTo>
                <a:lnTo>
                  <a:pt x="576000" y="720000"/>
                </a:lnTo>
                <a:lnTo>
                  <a:pt x="0" y="7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ürfel Raster vorn"/>
          <p:cNvSpPr/>
          <p:nvPr/>
        </p:nvSpPr>
        <p:spPr>
          <a:xfrm>
            <a:off x="684000" y="46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ürfel Raster vorn"/>
          <p:cNvSpPr/>
          <p:nvPr/>
        </p:nvSpPr>
        <p:spPr>
          <a:xfrm>
            <a:off x="828000" y="46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ürfel Raster vorn"/>
          <p:cNvSpPr/>
          <p:nvPr/>
        </p:nvSpPr>
        <p:spPr>
          <a:xfrm>
            <a:off x="972000" y="46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ürfel Raster vorn"/>
          <p:cNvSpPr/>
          <p:nvPr/>
        </p:nvSpPr>
        <p:spPr>
          <a:xfrm>
            <a:off x="540000" y="612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Würfel Raster vorn"/>
          <p:cNvSpPr/>
          <p:nvPr/>
        </p:nvSpPr>
        <p:spPr>
          <a:xfrm>
            <a:off x="540000" y="756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Würfel Raster vorn"/>
          <p:cNvSpPr/>
          <p:nvPr/>
        </p:nvSpPr>
        <p:spPr>
          <a:xfrm>
            <a:off x="540000" y="900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Würfel Raster vorn"/>
          <p:cNvSpPr/>
          <p:nvPr/>
        </p:nvSpPr>
        <p:spPr>
          <a:xfrm>
            <a:off x="540000" y="1044000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Würfel Raster oben"/>
          <p:cNvSpPr/>
          <p:nvPr/>
        </p:nvSpPr>
        <p:spPr>
          <a:xfrm>
            <a:off x="684000" y="25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ürfel Raster oben"/>
          <p:cNvSpPr/>
          <p:nvPr/>
        </p:nvSpPr>
        <p:spPr>
          <a:xfrm>
            <a:off x="828000" y="25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Würfel Raster oben"/>
          <p:cNvSpPr/>
          <p:nvPr/>
        </p:nvSpPr>
        <p:spPr>
          <a:xfrm>
            <a:off x="972000" y="254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Würfel Raster oben"/>
          <p:cNvSpPr/>
          <p:nvPr/>
        </p:nvSpPr>
        <p:spPr>
          <a:xfrm>
            <a:off x="622286" y="414514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Würfel Raster oben"/>
          <p:cNvSpPr/>
          <p:nvPr/>
        </p:nvSpPr>
        <p:spPr>
          <a:xfrm>
            <a:off x="704571" y="361029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Würfel Raster oben"/>
          <p:cNvSpPr/>
          <p:nvPr/>
        </p:nvSpPr>
        <p:spPr>
          <a:xfrm>
            <a:off x="786857" y="307543"/>
            <a:ext cx="576000" cy="0"/>
          </a:xfrm>
          <a:custGeom>
            <a:avLst/>
            <a:gdLst/>
            <a:ahLst/>
            <a:cxnLst/>
            <a:rect l="l" t="t" r="r" b="b"/>
            <a:pathLst>
              <a:path w="576000" h="0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Würfel Raster rechts"/>
          <p:cNvSpPr/>
          <p:nvPr/>
        </p:nvSpPr>
        <p:spPr>
          <a:xfrm>
            <a:off x="1116000" y="398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Würfel Raster rechts"/>
          <p:cNvSpPr/>
          <p:nvPr/>
        </p:nvSpPr>
        <p:spPr>
          <a:xfrm>
            <a:off x="1116000" y="542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ürfel Raster rechts"/>
          <p:cNvSpPr/>
          <p:nvPr/>
        </p:nvSpPr>
        <p:spPr>
          <a:xfrm>
            <a:off x="1116000" y="686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ürfel Raster rechts"/>
          <p:cNvSpPr/>
          <p:nvPr/>
        </p:nvSpPr>
        <p:spPr>
          <a:xfrm>
            <a:off x="1116000" y="830057"/>
            <a:ext cx="329143" cy="213943"/>
          </a:xfrm>
          <a:custGeom>
            <a:avLst/>
            <a:gdLst/>
            <a:ahLst/>
            <a:cxnLst/>
            <a:rect l="l" t="t" r="r" b="b"/>
            <a:pathLst>
              <a:path w="329143" h="213943">
                <a:moveTo>
                  <a:pt x="0" y="213943"/>
                </a:moveTo>
                <a:lnTo>
                  <a:pt x="329143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Würfel Raster rechts"/>
          <p:cNvSpPr/>
          <p:nvPr/>
        </p:nvSpPr>
        <p:spPr>
          <a:xfrm>
            <a:off x="1198286" y="414514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Würfel Raster rechts"/>
          <p:cNvSpPr/>
          <p:nvPr/>
        </p:nvSpPr>
        <p:spPr>
          <a:xfrm>
            <a:off x="1280571" y="361029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Würfel Raster rechts"/>
          <p:cNvSpPr/>
          <p:nvPr/>
        </p:nvSpPr>
        <p:spPr>
          <a:xfrm>
            <a:off x="1362857" y="307543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Würfel Auswahl vorn"/>
          <p:cNvSpPr/>
          <p:nvPr/>
        </p:nvSpPr>
        <p:spPr>
          <a:xfrm>
            <a:off x="828000" y="468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ürfel Auswahl vorn"/>
          <p:cNvSpPr/>
          <p:nvPr/>
        </p:nvSpPr>
        <p:spPr>
          <a:xfrm>
            <a:off x="828000" y="612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Würfel Auswahl vorn"/>
          <p:cNvSpPr/>
          <p:nvPr/>
        </p:nvSpPr>
        <p:spPr>
          <a:xfrm>
            <a:off x="828000" y="756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Würfel Auswahl vorn"/>
          <p:cNvSpPr/>
          <p:nvPr/>
        </p:nvSpPr>
        <p:spPr>
          <a:xfrm>
            <a:off x="972000" y="468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ürfel Auswahl vorn"/>
          <p:cNvSpPr/>
          <p:nvPr/>
        </p:nvSpPr>
        <p:spPr>
          <a:xfrm>
            <a:off x="972000" y="612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Würfel Auswahl vorn"/>
          <p:cNvSpPr/>
          <p:nvPr/>
        </p:nvSpPr>
        <p:spPr>
          <a:xfrm>
            <a:off x="972000" y="756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0" y="0"/>
                </a:moveTo>
                <a:lnTo>
                  <a:pt x="144000" y="0"/>
                </a:lnTo>
                <a:lnTo>
                  <a:pt x="144000" y="144000"/>
                </a:lnTo>
                <a:lnTo>
                  <a:pt x="0" y="14400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ürfel Auswahl oben"/>
          <p:cNvSpPr/>
          <p:nvPr/>
        </p:nvSpPr>
        <p:spPr>
          <a:xfrm>
            <a:off x="828000" y="414514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Würfel Auswahl oben"/>
          <p:cNvSpPr/>
          <p:nvPr/>
        </p:nvSpPr>
        <p:spPr>
          <a:xfrm>
            <a:off x="910286" y="361029"/>
            <a:ext cx="226285" cy="53485"/>
          </a:xfrm>
          <a:custGeom>
            <a:avLst/>
            <a:gdLst/>
            <a:ahLst/>
            <a:cxnLst/>
            <a:rect l="l" t="t" r="r" b="b"/>
            <a:pathLst>
              <a:path w="226285" h="53485">
                <a:moveTo>
                  <a:pt x="0" y="53485"/>
                </a:moveTo>
                <a:lnTo>
                  <a:pt x="144000" y="53485"/>
                </a:lnTo>
                <a:lnTo>
                  <a:pt x="226285" y="0"/>
                </a:lnTo>
                <a:lnTo>
                  <a:pt x="82285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Würfel Auswahl oben"/>
          <p:cNvSpPr/>
          <p:nvPr/>
        </p:nvSpPr>
        <p:spPr>
          <a:xfrm>
            <a:off x="992571" y="307543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Würfel Auswahl oben"/>
          <p:cNvSpPr/>
          <p:nvPr/>
        </p:nvSpPr>
        <p:spPr>
          <a:xfrm>
            <a:off x="1074857" y="254057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Würfel Auswahl oben"/>
          <p:cNvSpPr/>
          <p:nvPr/>
        </p:nvSpPr>
        <p:spPr>
          <a:xfrm>
            <a:off x="972000" y="414514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Würfel Auswahl oben"/>
          <p:cNvSpPr/>
          <p:nvPr/>
        </p:nvSpPr>
        <p:spPr>
          <a:xfrm>
            <a:off x="1054286" y="361029"/>
            <a:ext cx="226285" cy="53485"/>
          </a:xfrm>
          <a:custGeom>
            <a:avLst/>
            <a:gdLst/>
            <a:ahLst/>
            <a:cxnLst/>
            <a:rect l="l" t="t" r="r" b="b"/>
            <a:pathLst>
              <a:path w="226285" h="53485">
                <a:moveTo>
                  <a:pt x="0" y="53485"/>
                </a:moveTo>
                <a:lnTo>
                  <a:pt x="144000" y="53485"/>
                </a:lnTo>
                <a:lnTo>
                  <a:pt x="226285" y="0"/>
                </a:lnTo>
                <a:lnTo>
                  <a:pt x="82285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Würfel Auswahl oben"/>
          <p:cNvSpPr/>
          <p:nvPr/>
        </p:nvSpPr>
        <p:spPr>
          <a:xfrm>
            <a:off x="1136571" y="307543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Würfel Auswahl oben"/>
          <p:cNvSpPr/>
          <p:nvPr/>
        </p:nvSpPr>
        <p:spPr>
          <a:xfrm>
            <a:off x="1218857" y="254057"/>
            <a:ext cx="226286" cy="53486"/>
          </a:xfrm>
          <a:custGeom>
            <a:avLst/>
            <a:gdLst/>
            <a:ahLst/>
            <a:cxnLst/>
            <a:rect l="l" t="t" r="r" b="b"/>
            <a:pathLst>
              <a:path w="226286" h="53486">
                <a:moveTo>
                  <a:pt x="0" y="53486"/>
                </a:moveTo>
                <a:lnTo>
                  <a:pt x="144000" y="53486"/>
                </a:lnTo>
                <a:lnTo>
                  <a:pt x="226286" y="0"/>
                </a:lnTo>
                <a:lnTo>
                  <a:pt x="82286" y="0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Würfel Auswahl rechts"/>
          <p:cNvSpPr/>
          <p:nvPr/>
        </p:nvSpPr>
        <p:spPr>
          <a:xfrm>
            <a:off x="1116000" y="414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Würfel Auswahl rechts"/>
          <p:cNvSpPr/>
          <p:nvPr/>
        </p:nvSpPr>
        <p:spPr>
          <a:xfrm>
            <a:off x="1198286" y="361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Würfel Auswahl rechts"/>
          <p:cNvSpPr/>
          <p:nvPr/>
        </p:nvSpPr>
        <p:spPr>
          <a:xfrm>
            <a:off x="1280571" y="307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Würfel Auswahl rechts"/>
          <p:cNvSpPr/>
          <p:nvPr/>
        </p:nvSpPr>
        <p:spPr>
          <a:xfrm>
            <a:off x="1362857" y="254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Würfel Auswahl rechts"/>
          <p:cNvSpPr/>
          <p:nvPr/>
        </p:nvSpPr>
        <p:spPr>
          <a:xfrm>
            <a:off x="1116000" y="558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Würfel Auswahl rechts"/>
          <p:cNvSpPr/>
          <p:nvPr/>
        </p:nvSpPr>
        <p:spPr>
          <a:xfrm>
            <a:off x="1198286" y="505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Würfel Auswahl rechts"/>
          <p:cNvSpPr/>
          <p:nvPr/>
        </p:nvSpPr>
        <p:spPr>
          <a:xfrm>
            <a:off x="1280571" y="451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Würfel Auswahl rechts"/>
          <p:cNvSpPr/>
          <p:nvPr/>
        </p:nvSpPr>
        <p:spPr>
          <a:xfrm>
            <a:off x="1362857" y="398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Würfel Auswahl rechts"/>
          <p:cNvSpPr/>
          <p:nvPr/>
        </p:nvSpPr>
        <p:spPr>
          <a:xfrm>
            <a:off x="1116000" y="702514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Würfel Auswahl rechts"/>
          <p:cNvSpPr/>
          <p:nvPr/>
        </p:nvSpPr>
        <p:spPr>
          <a:xfrm>
            <a:off x="1198286" y="649029"/>
            <a:ext cx="82285" cy="197485"/>
          </a:xfrm>
          <a:custGeom>
            <a:avLst/>
            <a:gdLst/>
            <a:ahLst/>
            <a:cxnLst/>
            <a:rect l="l" t="t" r="r" b="b"/>
            <a:pathLst>
              <a:path w="82285" h="197485">
                <a:moveTo>
                  <a:pt x="0" y="53485"/>
                </a:moveTo>
                <a:lnTo>
                  <a:pt x="82285" y="0"/>
                </a:lnTo>
                <a:lnTo>
                  <a:pt x="82285" y="144000"/>
                </a:lnTo>
                <a:lnTo>
                  <a:pt x="0" y="197485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Würfel Auswahl rechts"/>
          <p:cNvSpPr/>
          <p:nvPr/>
        </p:nvSpPr>
        <p:spPr>
          <a:xfrm>
            <a:off x="1280571" y="595543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Würfel Auswahl rechts"/>
          <p:cNvSpPr/>
          <p:nvPr/>
        </p:nvSpPr>
        <p:spPr>
          <a:xfrm>
            <a:off x="1362857" y="542057"/>
            <a:ext cx="82286" cy="197486"/>
          </a:xfrm>
          <a:custGeom>
            <a:avLst/>
            <a:gdLst/>
            <a:ahLst/>
            <a:cxnLst/>
            <a:rect l="l" t="t" r="r" b="b"/>
            <a:pathLst>
              <a:path w="82286" h="197486">
                <a:moveTo>
                  <a:pt x="0" y="53486"/>
                </a:moveTo>
                <a:lnTo>
                  <a:pt x="82286" y="0"/>
                </a:lnTo>
                <a:lnTo>
                  <a:pt x="82286" y="144000"/>
                </a:lnTo>
                <a:lnTo>
                  <a:pt x="0" y="197486"/>
                </a:lnTo>
                <a:close/>
              </a:path>
            </a:pathLst>
          </a:custGeom>
          <a:solidFill>
            <a:srgbClr val="C62828"/>
          </a:solidFill>
          <a:ln w="63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Würfel Umriss"/>
          <p:cNvSpPr/>
          <p:nvPr/>
        </p:nvSpPr>
        <p:spPr>
          <a:xfrm>
            <a:off x="540000" y="254057"/>
            <a:ext cx="905143" cy="933943"/>
          </a:xfrm>
          <a:custGeom>
            <a:avLst/>
            <a:gdLst/>
            <a:ahLst/>
            <a:cxnLst/>
            <a:rect l="l" t="t" r="r" b="b"/>
            <a:pathLst>
              <a:path w="905143" h="933943">
                <a:moveTo>
                  <a:pt x="0" y="213943"/>
                </a:moveTo>
                <a:lnTo>
                  <a:pt x="329143" y="0"/>
                </a:lnTo>
                <a:lnTo>
                  <a:pt x="905143" y="0"/>
                </a:lnTo>
                <a:lnTo>
                  <a:pt x="905143" y="720000"/>
                </a:lnTo>
                <a:lnTo>
                  <a:pt x="576000" y="933943"/>
                </a:lnTo>
                <a:lnTo>
                  <a:pt x="0" y="933943"/>
                </a:lnTo>
                <a:close/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Würfel Kante oben"/>
          <p:cNvSpPr/>
          <p:nvPr/>
        </p:nvSpPr>
        <p:spPr>
          <a:xfrm>
            <a:off x="540000" y="254057"/>
            <a:ext cx="905143" cy="213943"/>
          </a:xfrm>
          <a:custGeom>
            <a:avLst/>
            <a:gdLst/>
            <a:ahLst/>
            <a:cxnLst/>
            <a:rect l="l" t="t" r="r" b="b"/>
            <a:pathLst>
              <a:path w="905143" h="213943">
                <a:moveTo>
                  <a:pt x="0" y="213943"/>
                </a:moveTo>
                <a:lnTo>
                  <a:pt x="576000" y="213943"/>
                </a:lnTo>
                <a:lnTo>
                  <a:pt x="905143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Würfel Kante vorn"/>
          <p:cNvSpPr/>
          <p:nvPr/>
        </p:nvSpPr>
        <p:spPr>
          <a:xfrm>
            <a:off x="1116000" y="468000"/>
            <a:ext cx="0" cy="720000"/>
          </a:xfrm>
          <a:custGeom>
            <a:avLst/>
            <a:gdLst/>
            <a:ahLst/>
            <a:cxnLst/>
            <a:rect l="l" t="t" r="r" b="b"/>
            <a:pathLst>
              <a:path w="0" h="720000">
                <a:moveTo>
                  <a:pt x="0" y="0"/>
                </a:moveTo>
                <a:lnTo>
                  <a:pt x="0" y="72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Würfel Kennzahlen"/>
          <p:cNvSpPr/>
          <p:nvPr/>
        </p:nvSpPr>
        <p:spPr>
          <a:xfrm>
            <a:off x="626400" y="922913"/>
            <a:ext cx="403200" cy="2421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7200" rIns="7200" tIns="3600" bIns="3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Kenn-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zahlen</a:t>
            </a:r>
          </a:p>
        </p:txBody>
      </p:sp>
      <p:sp>
        <p:nvSpPr>
          <p:cNvPr id="55" name="Dimension Region"/>
          <p:cNvSpPr/>
          <p:nvPr/>
        </p:nvSpPr>
        <p:spPr>
          <a:xfrm>
            <a:off x="396000" y="468000"/>
            <a:ext cx="720000" cy="0"/>
          </a:xfrm>
          <a:custGeom>
            <a:avLst/>
            <a:gdLst/>
            <a:ahLst/>
            <a:cxnLst/>
            <a:rect l="l" t="t" r="r" b="b"/>
            <a:pathLst>
              <a:path w="720000" h="0">
                <a:moveTo>
                  <a:pt x="720000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Dimension Produkt"/>
          <p:cNvSpPr/>
          <p:nvPr/>
        </p:nvSpPr>
        <p:spPr>
          <a:xfrm>
            <a:off x="1116000" y="179177"/>
            <a:ext cx="444343" cy="288823"/>
          </a:xfrm>
          <a:custGeom>
            <a:avLst/>
            <a:gdLst/>
            <a:ahLst/>
            <a:cxnLst/>
            <a:rect l="l" t="t" r="r" b="b"/>
            <a:pathLst>
              <a:path w="444343" h="288823">
                <a:moveTo>
                  <a:pt x="0" y="288823"/>
                </a:moveTo>
                <a:lnTo>
                  <a:pt x="444343" y="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Dimension Zeit"/>
          <p:cNvSpPr/>
          <p:nvPr/>
        </p:nvSpPr>
        <p:spPr>
          <a:xfrm>
            <a:off x="1116000" y="468000"/>
            <a:ext cx="0" cy="900000"/>
          </a:xfrm>
          <a:custGeom>
            <a:avLst/>
            <a:gdLst/>
            <a:ahLst/>
            <a:cxnLst/>
            <a:rect l="l" t="t" r="r" b="b"/>
            <a:pathLst>
              <a:path w="0" h="900000">
                <a:moveTo>
                  <a:pt x="0" y="0"/>
                </a:moveTo>
                <a:lnTo>
                  <a:pt x="0" y="900000"/>
                </a:lnTo>
              </a:path>
            </a:pathLst>
          </a:custGeom>
          <a:noFill/>
          <a:ln w="12700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Beschriftung Region"/>
          <p:cNvSpPr txBox="1"/>
          <p:nvPr/>
        </p:nvSpPr>
        <p:spPr>
          <a:xfrm>
            <a:off x="6358" y="5040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Region</a:t>
            </a:r>
          </a:p>
        </p:txBody>
      </p:sp>
      <p:sp>
        <p:nvSpPr>
          <p:cNvPr id="59" name="Beschriftung Produkt"/>
          <p:cNvSpPr txBox="1"/>
          <p:nvPr/>
        </p:nvSpPr>
        <p:spPr>
          <a:xfrm>
            <a:off x="1603543" y="6529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60" name="Beschriftung Zeit"/>
          <p:cNvSpPr txBox="1"/>
          <p:nvPr/>
        </p:nvSpPr>
        <p:spPr>
          <a:xfrm>
            <a:off x="867179" y="1389600"/>
            <a:ext cx="497642" cy="227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Zeit</a:t>
            </a:r>
          </a:p>
        </p:txBody>
      </p:sp>
      <p:sp>
        <p:nvSpPr>
          <p:cNvPr id="61" name="Umsatztabelle Linie oben"/>
          <p:cNvSpPr/>
          <p:nvPr/>
        </p:nvSpPr>
        <p:spPr>
          <a:xfrm>
            <a:off x="2376000" y="72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Umsatztabelle Linie Kopf"/>
          <p:cNvSpPr/>
          <p:nvPr/>
        </p:nvSpPr>
        <p:spPr>
          <a:xfrm>
            <a:off x="2376000" y="324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Umsatztabelle Haarlinie"/>
          <p:cNvSpPr/>
          <p:nvPr/>
        </p:nvSpPr>
        <p:spPr>
          <a:xfrm>
            <a:off x="2376000" y="612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Umsatztabelle Haarlinie"/>
          <p:cNvSpPr/>
          <p:nvPr/>
        </p:nvSpPr>
        <p:spPr>
          <a:xfrm>
            <a:off x="2376000" y="900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Umsatztabelle Linie Summe"/>
          <p:cNvSpPr/>
          <p:nvPr/>
        </p:nvSpPr>
        <p:spPr>
          <a:xfrm>
            <a:off x="2376000" y="1188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Umsatztabelle Linie unten"/>
          <p:cNvSpPr/>
          <p:nvPr/>
        </p:nvSpPr>
        <p:spPr>
          <a:xfrm>
            <a:off x="2376000" y="1476000"/>
            <a:ext cx="3204000" cy="0"/>
          </a:xfrm>
          <a:custGeom>
            <a:avLst/>
            <a:gdLst/>
            <a:ahLst/>
            <a:cxnLst/>
            <a:rect l="l" t="t" r="r" b="b"/>
            <a:pathLst>
              <a:path w="3204000" h="0">
                <a:moveTo>
                  <a:pt x="0" y="0"/>
                </a:moveTo>
                <a:lnTo>
                  <a:pt x="320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Umsatztabelle Kopf Umsatz in €"/>
          <p:cNvSpPr txBox="1"/>
          <p:nvPr/>
        </p:nvSpPr>
        <p:spPr>
          <a:xfrm>
            <a:off x="2397600" y="72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Umsatz in €</a:t>
            </a:r>
          </a:p>
        </p:txBody>
      </p:sp>
      <p:sp>
        <p:nvSpPr>
          <p:cNvPr id="68" name="Umsatztabelle Kopf Summe"/>
          <p:cNvSpPr txBox="1"/>
          <p:nvPr/>
        </p:nvSpPr>
        <p:spPr>
          <a:xfrm>
            <a:off x="3117600" y="72000"/>
            <a:ext cx="784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Summe</a:t>
            </a:r>
          </a:p>
        </p:txBody>
      </p:sp>
      <p:sp>
        <p:nvSpPr>
          <p:cNvPr id="69" name="Umsatztabelle Kopf Deutschland"/>
          <p:cNvSpPr txBox="1"/>
          <p:nvPr/>
        </p:nvSpPr>
        <p:spPr>
          <a:xfrm>
            <a:off x="3945600" y="72000"/>
            <a:ext cx="784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Deutschland</a:t>
            </a:r>
          </a:p>
        </p:txBody>
      </p:sp>
      <p:sp>
        <p:nvSpPr>
          <p:cNvPr id="70" name="Umsatztabelle Kopf Frankreich"/>
          <p:cNvSpPr txBox="1"/>
          <p:nvPr/>
        </p:nvSpPr>
        <p:spPr>
          <a:xfrm>
            <a:off x="4773600" y="72000"/>
            <a:ext cx="784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Frankreich</a:t>
            </a:r>
          </a:p>
        </p:txBody>
      </p:sp>
      <p:sp>
        <p:nvSpPr>
          <p:cNvPr id="71" name="Umsatztabelle Januar"/>
          <p:cNvSpPr txBox="1"/>
          <p:nvPr/>
        </p:nvSpPr>
        <p:spPr>
          <a:xfrm>
            <a:off x="2397600" y="324000"/>
            <a:ext cx="676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Januar</a:t>
            </a:r>
          </a:p>
        </p:txBody>
      </p:sp>
      <p:sp>
        <p:nvSpPr>
          <p:cNvPr id="72" name="Umsatztabelle Februar"/>
          <p:cNvSpPr txBox="1"/>
          <p:nvPr/>
        </p:nvSpPr>
        <p:spPr>
          <a:xfrm>
            <a:off x="2397600" y="612000"/>
            <a:ext cx="676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Februar</a:t>
            </a:r>
          </a:p>
        </p:txBody>
      </p:sp>
      <p:sp>
        <p:nvSpPr>
          <p:cNvPr id="73" name="Umsatztabelle März"/>
          <p:cNvSpPr txBox="1"/>
          <p:nvPr/>
        </p:nvSpPr>
        <p:spPr>
          <a:xfrm>
            <a:off x="2397600" y="900000"/>
            <a:ext cx="676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März</a:t>
            </a:r>
          </a:p>
        </p:txBody>
      </p:sp>
      <p:sp>
        <p:nvSpPr>
          <p:cNvPr id="74" name="Umsatztabelle 1. Quartal"/>
          <p:cNvSpPr txBox="1"/>
          <p:nvPr/>
        </p:nvSpPr>
        <p:spPr>
          <a:xfrm>
            <a:off x="2397600" y="1188000"/>
            <a:ext cx="6768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1. Quartal</a:t>
            </a:r>
          </a:p>
        </p:txBody>
      </p:sp>
      <p:sp>
        <p:nvSpPr>
          <p:cNvPr id="75" name="Umsatztabelle Roll-Up Januar"/>
          <p:cNvSpPr/>
          <p:nvPr/>
        </p:nvSpPr>
        <p:spPr>
          <a:xfrm>
            <a:off x="3667555" y="468000"/>
            <a:ext cx="1390332" cy="0"/>
          </a:xfrm>
          <a:custGeom>
            <a:avLst/>
            <a:gdLst/>
            <a:ahLst/>
            <a:cxnLst/>
            <a:rect l="l" t="t" r="r" b="b"/>
            <a:pathLst>
              <a:path w="1390332" h="0">
                <a:moveTo>
                  <a:pt x="1390332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Umsatztabelle Roll-Up Februar"/>
          <p:cNvSpPr/>
          <p:nvPr/>
        </p:nvSpPr>
        <p:spPr>
          <a:xfrm>
            <a:off x="3667555" y="756000"/>
            <a:ext cx="1390332" cy="0"/>
          </a:xfrm>
          <a:custGeom>
            <a:avLst/>
            <a:gdLst/>
            <a:ahLst/>
            <a:cxnLst/>
            <a:rect l="l" t="t" r="r" b="b"/>
            <a:pathLst>
              <a:path w="1390332" h="0">
                <a:moveTo>
                  <a:pt x="1390332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Umsatztabelle Roll-Up März"/>
          <p:cNvSpPr/>
          <p:nvPr/>
        </p:nvSpPr>
        <p:spPr>
          <a:xfrm>
            <a:off x="3667555" y="1044000"/>
            <a:ext cx="1340890" cy="0"/>
          </a:xfrm>
          <a:custGeom>
            <a:avLst/>
            <a:gdLst/>
            <a:ahLst/>
            <a:cxnLst/>
            <a:rect l="l" t="t" r="r" b="b"/>
            <a:pathLst>
              <a:path w="1340890" h="0">
                <a:moveTo>
                  <a:pt x="134089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Umsatztabelle Roll-Up Quartal"/>
          <p:cNvSpPr/>
          <p:nvPr/>
        </p:nvSpPr>
        <p:spPr>
          <a:xfrm>
            <a:off x="3667555" y="1303200"/>
            <a:ext cx="1340890" cy="0"/>
          </a:xfrm>
          <a:custGeom>
            <a:avLst/>
            <a:gdLst/>
            <a:ahLst/>
            <a:cxnLst/>
            <a:rect l="l" t="t" r="r" b="b"/>
            <a:pathLst>
              <a:path w="1340890" h="0">
                <a:moveTo>
                  <a:pt x="134089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Umsatztabelle Drill-Down Quartal"/>
          <p:cNvSpPr/>
          <p:nvPr/>
        </p:nvSpPr>
        <p:spPr>
          <a:xfrm>
            <a:off x="3667555" y="1360800"/>
            <a:ext cx="1340890" cy="0"/>
          </a:xfrm>
          <a:custGeom>
            <a:avLst/>
            <a:gdLst/>
            <a:ahLst/>
            <a:cxnLst/>
            <a:rect l="l" t="t" r="r" b="b"/>
            <a:pathLst>
              <a:path w="1340890" h="0">
                <a:moveTo>
                  <a:pt x="0" y="0"/>
                </a:moveTo>
                <a:lnTo>
                  <a:pt x="134089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Umsatztabelle Roll-Up Deutschland"/>
          <p:cNvSpPr/>
          <p:nvPr/>
        </p:nvSpPr>
        <p:spPr>
          <a:xfrm>
            <a:off x="4338000" y="528543"/>
            <a:ext cx="0" cy="742914"/>
          </a:xfrm>
          <a:custGeom>
            <a:avLst/>
            <a:gdLst/>
            <a:ahLst/>
            <a:cxnLst/>
            <a:rect l="l" t="t" r="r" b="b"/>
            <a:pathLst>
              <a:path w="0" h="742914">
                <a:moveTo>
                  <a:pt x="0" y="0"/>
                </a:moveTo>
                <a:lnTo>
                  <a:pt x="0" y="74291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Umsatztabelle Roll-Up Frankreich"/>
          <p:cNvSpPr/>
          <p:nvPr/>
        </p:nvSpPr>
        <p:spPr>
          <a:xfrm>
            <a:off x="5166000" y="528543"/>
            <a:ext cx="0" cy="742914"/>
          </a:xfrm>
          <a:custGeom>
            <a:avLst/>
            <a:gdLst/>
            <a:ahLst/>
            <a:cxnLst/>
            <a:rect l="l" t="t" r="r" b="b"/>
            <a:pathLst>
              <a:path w="0" h="742914">
                <a:moveTo>
                  <a:pt x="0" y="0"/>
                </a:moveTo>
                <a:lnTo>
                  <a:pt x="0" y="74291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Umsatztabelle Drill-Down Summe"/>
          <p:cNvSpPr/>
          <p:nvPr/>
        </p:nvSpPr>
        <p:spPr>
          <a:xfrm>
            <a:off x="3423600" y="528543"/>
            <a:ext cx="0" cy="742914"/>
          </a:xfrm>
          <a:custGeom>
            <a:avLst/>
            <a:gdLst/>
            <a:ahLst/>
            <a:cxnLst/>
            <a:rect l="l" t="t" r="r" b="b"/>
            <a:pathLst>
              <a:path w="0" h="742914">
                <a:moveTo>
                  <a:pt x="0" y="74291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Umsatztabelle Roll-Up Summe"/>
          <p:cNvSpPr/>
          <p:nvPr/>
        </p:nvSpPr>
        <p:spPr>
          <a:xfrm>
            <a:off x="3596400" y="528543"/>
            <a:ext cx="0" cy="742914"/>
          </a:xfrm>
          <a:custGeom>
            <a:avLst/>
            <a:gdLst/>
            <a:ahLst/>
            <a:cxnLst/>
            <a:rect l="l" t="t" r="r" b="b"/>
            <a:pathLst>
              <a:path w="0" h="742914">
                <a:moveTo>
                  <a:pt x="0" y="0"/>
                </a:moveTo>
                <a:lnTo>
                  <a:pt x="0" y="74291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Umsatztabelle Wert Januar Summe"/>
          <p:cNvSpPr/>
          <p:nvPr/>
        </p:nvSpPr>
        <p:spPr>
          <a:xfrm>
            <a:off x="3352445" y="407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20.000</a:t>
            </a:r>
          </a:p>
        </p:txBody>
      </p:sp>
      <p:sp>
        <p:nvSpPr>
          <p:cNvPr id="85" name="Umsatztabelle Wert Januar Deutschland"/>
          <p:cNvSpPr/>
          <p:nvPr/>
        </p:nvSpPr>
        <p:spPr>
          <a:xfrm>
            <a:off x="4180445" y="407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13.000</a:t>
            </a:r>
          </a:p>
        </p:txBody>
      </p:sp>
      <p:sp>
        <p:nvSpPr>
          <p:cNvPr id="86" name="Umsatztabelle Wert Januar Frankreich"/>
          <p:cNvSpPr/>
          <p:nvPr/>
        </p:nvSpPr>
        <p:spPr>
          <a:xfrm>
            <a:off x="5057887" y="407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7.000</a:t>
            </a:r>
          </a:p>
        </p:txBody>
      </p:sp>
      <p:sp>
        <p:nvSpPr>
          <p:cNvPr id="87" name="Umsatztabelle Wert Februar Summe"/>
          <p:cNvSpPr/>
          <p:nvPr/>
        </p:nvSpPr>
        <p:spPr>
          <a:xfrm>
            <a:off x="3352445" y="695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15.000</a:t>
            </a:r>
          </a:p>
        </p:txBody>
      </p:sp>
      <p:sp>
        <p:nvSpPr>
          <p:cNvPr id="88" name="Umsatztabelle Wert Februar Deutschland"/>
          <p:cNvSpPr/>
          <p:nvPr/>
        </p:nvSpPr>
        <p:spPr>
          <a:xfrm>
            <a:off x="4229887" y="695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7.000</a:t>
            </a:r>
          </a:p>
        </p:txBody>
      </p:sp>
      <p:sp>
        <p:nvSpPr>
          <p:cNvPr id="89" name="Umsatztabelle Wert Februar Frankreich"/>
          <p:cNvSpPr/>
          <p:nvPr/>
        </p:nvSpPr>
        <p:spPr>
          <a:xfrm>
            <a:off x="5057887" y="695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8.000</a:t>
            </a:r>
          </a:p>
        </p:txBody>
      </p:sp>
      <p:sp>
        <p:nvSpPr>
          <p:cNvPr id="90" name="Umsatztabelle Wert März Summe"/>
          <p:cNvSpPr/>
          <p:nvPr/>
        </p:nvSpPr>
        <p:spPr>
          <a:xfrm>
            <a:off x="3352445" y="98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22.000</a:t>
            </a:r>
          </a:p>
        </p:txBody>
      </p:sp>
      <p:sp>
        <p:nvSpPr>
          <p:cNvPr id="91" name="Umsatztabelle Wert März Deutschland"/>
          <p:cNvSpPr/>
          <p:nvPr/>
        </p:nvSpPr>
        <p:spPr>
          <a:xfrm>
            <a:off x="4180445" y="98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12.000</a:t>
            </a:r>
          </a:p>
        </p:txBody>
      </p:sp>
      <p:sp>
        <p:nvSpPr>
          <p:cNvPr id="92" name="Umsatztabelle Wert März Frankreich"/>
          <p:cNvSpPr/>
          <p:nvPr/>
        </p:nvSpPr>
        <p:spPr>
          <a:xfrm>
            <a:off x="5008445" y="98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10.000</a:t>
            </a:r>
          </a:p>
        </p:txBody>
      </p:sp>
      <p:sp>
        <p:nvSpPr>
          <p:cNvPr id="93" name="Umsatztabelle Wert 1. Quartal Summe"/>
          <p:cNvSpPr/>
          <p:nvPr/>
        </p:nvSpPr>
        <p:spPr>
          <a:xfrm>
            <a:off x="3352445" y="1271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57.000</a:t>
            </a:r>
          </a:p>
        </p:txBody>
      </p:sp>
      <p:sp>
        <p:nvSpPr>
          <p:cNvPr id="94" name="Umsatztabelle Wert 1. Quartal Deutschland"/>
          <p:cNvSpPr/>
          <p:nvPr/>
        </p:nvSpPr>
        <p:spPr>
          <a:xfrm>
            <a:off x="4180445" y="1271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32.000</a:t>
            </a:r>
          </a:p>
        </p:txBody>
      </p:sp>
      <p:sp>
        <p:nvSpPr>
          <p:cNvPr id="95" name="Umsatztabelle Wert 1. Quartal Frankreich"/>
          <p:cNvSpPr/>
          <p:nvPr/>
        </p:nvSpPr>
        <p:spPr>
          <a:xfrm>
            <a:off x="5008445" y="1271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25.000</a:t>
            </a:r>
          </a:p>
        </p:txBody>
      </p:sp>
      <p:sp>
        <p:nvSpPr>
          <p:cNvPr id="96" name="Produkttabelle Linie oben"/>
          <p:cNvSpPr/>
          <p:nvPr/>
        </p:nvSpPr>
        <p:spPr>
          <a:xfrm>
            <a:off x="2538000" y="1728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Produkttabelle Linie Kopf"/>
          <p:cNvSpPr/>
          <p:nvPr/>
        </p:nvSpPr>
        <p:spPr>
          <a:xfrm>
            <a:off x="2538000" y="1944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Produkttabelle Haarlinie"/>
          <p:cNvSpPr/>
          <p:nvPr/>
        </p:nvSpPr>
        <p:spPr>
          <a:xfrm>
            <a:off x="2538000" y="2196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Produkttabelle Haarlinie"/>
          <p:cNvSpPr/>
          <p:nvPr/>
        </p:nvSpPr>
        <p:spPr>
          <a:xfrm>
            <a:off x="2538000" y="2448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Produkttabelle Haarlinie"/>
          <p:cNvSpPr/>
          <p:nvPr/>
        </p:nvSpPr>
        <p:spPr>
          <a:xfrm>
            <a:off x="2538000" y="2700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BDBDB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Produkttabelle Linie Summe"/>
          <p:cNvSpPr/>
          <p:nvPr/>
        </p:nvSpPr>
        <p:spPr>
          <a:xfrm>
            <a:off x="2538000" y="2952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Produkttabelle Linie unten"/>
          <p:cNvSpPr/>
          <p:nvPr/>
        </p:nvSpPr>
        <p:spPr>
          <a:xfrm>
            <a:off x="2538000" y="3204000"/>
            <a:ext cx="1224000" cy="0"/>
          </a:xfrm>
          <a:custGeom>
            <a:avLst/>
            <a:gdLst/>
            <a:ahLst/>
            <a:cxnLst/>
            <a:rect l="l" t="t" r="r" b="b"/>
            <a:pathLst>
              <a:path w="1224000" h="0">
                <a:moveTo>
                  <a:pt x="0" y="0"/>
                </a:moveTo>
                <a:lnTo>
                  <a:pt x="122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Produkttabelle Kopf"/>
          <p:cNvSpPr txBox="1"/>
          <p:nvPr/>
        </p:nvSpPr>
        <p:spPr>
          <a:xfrm>
            <a:off x="2559600" y="1728000"/>
            <a:ext cx="6768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104" name="Produkttabelle City Bike"/>
          <p:cNvSpPr txBox="1"/>
          <p:nvPr/>
        </p:nvSpPr>
        <p:spPr>
          <a:xfrm>
            <a:off x="2559600" y="1944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City Bike</a:t>
            </a:r>
          </a:p>
        </p:txBody>
      </p:sp>
      <p:sp>
        <p:nvSpPr>
          <p:cNvPr id="105" name="Produkttabelle Mountain Bike"/>
          <p:cNvSpPr txBox="1"/>
          <p:nvPr/>
        </p:nvSpPr>
        <p:spPr>
          <a:xfrm>
            <a:off x="2559600" y="2196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Mountain Bike</a:t>
            </a:r>
          </a:p>
        </p:txBody>
      </p:sp>
      <p:sp>
        <p:nvSpPr>
          <p:cNvPr id="106" name="Produkttabelle Racing Bike"/>
          <p:cNvSpPr txBox="1"/>
          <p:nvPr/>
        </p:nvSpPr>
        <p:spPr>
          <a:xfrm>
            <a:off x="2559600" y="2448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Racing Bike</a:t>
            </a:r>
          </a:p>
        </p:txBody>
      </p:sp>
      <p:sp>
        <p:nvSpPr>
          <p:cNvPr id="107" name="Produkttabelle Trekking Bike"/>
          <p:cNvSpPr txBox="1"/>
          <p:nvPr/>
        </p:nvSpPr>
        <p:spPr>
          <a:xfrm>
            <a:off x="2559600" y="2700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Trekking Bike</a:t>
            </a:r>
          </a:p>
        </p:txBody>
      </p:sp>
      <p:sp>
        <p:nvSpPr>
          <p:cNvPr id="108" name="Produkttabelle Summe"/>
          <p:cNvSpPr txBox="1"/>
          <p:nvPr/>
        </p:nvSpPr>
        <p:spPr>
          <a:xfrm>
            <a:off x="2559600" y="2952000"/>
            <a:ext cx="6768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Summe</a:t>
            </a:r>
          </a:p>
        </p:txBody>
      </p:sp>
      <p:sp>
        <p:nvSpPr>
          <p:cNvPr id="109" name="Produkttabelle Drill-Down Produkt"/>
          <p:cNvSpPr/>
          <p:nvPr/>
        </p:nvSpPr>
        <p:spPr>
          <a:xfrm>
            <a:off x="3510000" y="1392543"/>
            <a:ext cx="0" cy="616914"/>
          </a:xfrm>
          <a:custGeom>
            <a:avLst/>
            <a:gdLst/>
            <a:ahLst/>
            <a:cxnLst/>
            <a:rect l="l" t="t" r="r" b="b"/>
            <a:pathLst>
              <a:path w="0" h="616914">
                <a:moveTo>
                  <a:pt x="0" y="0"/>
                </a:moveTo>
                <a:lnTo>
                  <a:pt x="0" y="616914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Produkttabelle Roll-Up Produkt"/>
          <p:cNvSpPr/>
          <p:nvPr/>
        </p:nvSpPr>
        <p:spPr>
          <a:xfrm>
            <a:off x="3510000" y="2130543"/>
            <a:ext cx="0" cy="886914"/>
          </a:xfrm>
          <a:custGeom>
            <a:avLst/>
            <a:gdLst/>
            <a:ahLst/>
            <a:cxnLst/>
            <a:rect l="l" t="t" r="r" b="b"/>
            <a:pathLst>
              <a:path w="0" h="886914">
                <a:moveTo>
                  <a:pt x="0" y="0"/>
                </a:moveTo>
                <a:lnTo>
                  <a:pt x="0" y="88691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Produkttabelle Wert 20.000"/>
          <p:cNvSpPr/>
          <p:nvPr/>
        </p:nvSpPr>
        <p:spPr>
          <a:xfrm>
            <a:off x="3352445" y="2009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20.000</a:t>
            </a:r>
          </a:p>
        </p:txBody>
      </p:sp>
      <p:sp>
        <p:nvSpPr>
          <p:cNvPr id="112" name="Produkttabelle Wert 7.000"/>
          <p:cNvSpPr/>
          <p:nvPr/>
        </p:nvSpPr>
        <p:spPr>
          <a:xfrm>
            <a:off x="3401887" y="2261457"/>
            <a:ext cx="265668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7.000</a:t>
            </a:r>
          </a:p>
        </p:txBody>
      </p:sp>
      <p:sp>
        <p:nvSpPr>
          <p:cNvPr id="113" name="Produkttabelle Wert 17.000"/>
          <p:cNvSpPr/>
          <p:nvPr/>
        </p:nvSpPr>
        <p:spPr>
          <a:xfrm>
            <a:off x="3352445" y="2513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17.000</a:t>
            </a:r>
          </a:p>
        </p:txBody>
      </p:sp>
      <p:sp>
        <p:nvSpPr>
          <p:cNvPr id="114" name="Produkttabelle Wert 13.000"/>
          <p:cNvSpPr/>
          <p:nvPr/>
        </p:nvSpPr>
        <p:spPr>
          <a:xfrm>
            <a:off x="3352445" y="2765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13.000</a:t>
            </a:r>
          </a:p>
        </p:txBody>
      </p:sp>
      <p:sp>
        <p:nvSpPr>
          <p:cNvPr id="115" name="Produkttabelle Wert 57.000"/>
          <p:cNvSpPr/>
          <p:nvPr/>
        </p:nvSpPr>
        <p:spPr>
          <a:xfrm>
            <a:off x="3352445" y="3017457"/>
            <a:ext cx="315110" cy="1210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57.000</a:t>
            </a:r>
          </a:p>
        </p:txBody>
      </p:sp>
      <p:sp>
        <p:nvSpPr>
          <p:cNvPr id="116" name="Legende Pfeil 1"/>
          <p:cNvSpPr/>
          <p:nvPr/>
        </p:nvSpPr>
        <p:spPr>
          <a:xfrm>
            <a:off x="4104000" y="2250000"/>
            <a:ext cx="252000" cy="0"/>
          </a:xfrm>
          <a:custGeom>
            <a:avLst/>
            <a:gdLst/>
            <a:ahLst/>
            <a:cxnLst/>
            <a:rect l="l" t="t" r="r" b="b"/>
            <a:pathLst>
              <a:path w="252000" h="0">
                <a:moveTo>
                  <a:pt x="0" y="0"/>
                </a:moveTo>
                <a:lnTo>
                  <a:pt x="252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e Aggregation (Roll-Up)"/>
          <p:cNvSpPr txBox="1"/>
          <p:nvPr/>
        </p:nvSpPr>
        <p:spPr>
          <a:xfrm>
            <a:off x="4410000" y="2160000"/>
            <a:ext cx="117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Aggregation (Roll-Up)</a:t>
            </a:r>
          </a:p>
        </p:txBody>
      </p:sp>
      <p:sp>
        <p:nvSpPr>
          <p:cNvPr id="118" name="Legende Pfeil 2"/>
          <p:cNvSpPr/>
          <p:nvPr/>
        </p:nvSpPr>
        <p:spPr>
          <a:xfrm>
            <a:off x="4104000" y="2430000"/>
            <a:ext cx="252000" cy="0"/>
          </a:xfrm>
          <a:custGeom>
            <a:avLst/>
            <a:gdLst/>
            <a:ahLst/>
            <a:cxnLst/>
            <a:rect l="l" t="t" r="r" b="b"/>
            <a:pathLst>
              <a:path w="252000" h="0">
                <a:moveTo>
                  <a:pt x="0" y="0"/>
                </a:moveTo>
                <a:lnTo>
                  <a:pt x="25200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Legende Disaggregation (Drill-Down)"/>
          <p:cNvSpPr txBox="1"/>
          <p:nvPr/>
        </p:nvSpPr>
        <p:spPr>
          <a:xfrm>
            <a:off x="4410000" y="2340000"/>
            <a:ext cx="117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Disaggregation (Drill-Down)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