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200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 Startcockpit"/>
          <p:cNvSpPr/>
          <p:nvPr/>
        </p:nvSpPr>
        <p:spPr>
          <a:xfrm>
            <a:off x="198000" y="10800"/>
            <a:ext cx="3492000" cy="288000"/>
          </a:xfrm>
          <a:prstGeom prst="roundRect">
            <a:avLst>
              <a:gd name="adj" fmla="val 10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Navigation gemäß Startcockpit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(z. B. nach Bereichen und Spitzenkennzahlen)</a:t>
            </a:r>
          </a:p>
        </p:txBody>
      </p:sp>
      <p:sp>
        <p:nvSpPr>
          <p:cNvPr id="3" name="Detailanalyse Bereichsstruktur"/>
          <p:cNvSpPr/>
          <p:nvPr/>
        </p:nvSpPr>
        <p:spPr>
          <a:xfrm>
            <a:off x="198000" y="464400"/>
            <a:ext cx="3492000" cy="288000"/>
          </a:xfrm>
          <a:prstGeom prst="roundRect">
            <a:avLst>
              <a:gd name="adj" fmla="val 10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Detailanalyse: Bereichsstruktur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z. B. Management, Vertrieb und Produktion</a:t>
            </a:r>
          </a:p>
        </p:txBody>
      </p:sp>
      <p:sp>
        <p:nvSpPr>
          <p:cNvPr id="4" name="Detailanalyse Kostenträgerstruktur"/>
          <p:cNvSpPr/>
          <p:nvPr/>
        </p:nvSpPr>
        <p:spPr>
          <a:xfrm>
            <a:off x="198000" y="1335600"/>
            <a:ext cx="3492000" cy="288000"/>
          </a:xfrm>
          <a:prstGeom prst="roundRect">
            <a:avLst>
              <a:gd name="adj" fmla="val 10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Detailanalyse: Kostenträgerstruktur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z. B. dezidiert für Key-Account-Manager</a:t>
            </a:r>
          </a:p>
        </p:txBody>
      </p:sp>
      <p:sp>
        <p:nvSpPr>
          <p:cNvPr id="5" name="Kennzahlen 1"/>
          <p:cNvSpPr/>
          <p:nvPr/>
        </p:nvSpPr>
        <p:spPr>
          <a:xfrm>
            <a:off x="648000" y="918000"/>
            <a:ext cx="1008000" cy="2016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Kennzahlen</a:t>
            </a:r>
          </a:p>
        </p:txBody>
      </p:sp>
      <p:sp>
        <p:nvSpPr>
          <p:cNvPr id="6" name="Berichte 1"/>
          <p:cNvSpPr/>
          <p:nvPr/>
        </p:nvSpPr>
        <p:spPr>
          <a:xfrm>
            <a:off x="2232000" y="918000"/>
            <a:ext cx="1008000" cy="2016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Berichte</a:t>
            </a:r>
          </a:p>
        </p:txBody>
      </p:sp>
      <p:sp>
        <p:nvSpPr>
          <p:cNvPr id="7" name="Kennzahlen–Berichte 1"/>
          <p:cNvSpPr/>
          <p:nvPr/>
        </p:nvSpPr>
        <p:spPr>
          <a:xfrm>
            <a:off x="1656000" y="1018800"/>
            <a:ext cx="576000" cy="0"/>
          </a:xfrm>
          <a:custGeom>
            <a:avLst/>
            <a:gdLst/>
            <a:ahLst/>
            <a:cxnLst/>
            <a:rect l="l" t="t" r="r" b="b"/>
            <a:pathLst>
              <a:path w="576000" h="0">
                <a:moveTo>
                  <a:pt x="0" y="0"/>
                </a:moveTo>
                <a:lnTo>
                  <a:pt x="576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Kennzahlen 2"/>
          <p:cNvSpPr/>
          <p:nvPr/>
        </p:nvSpPr>
        <p:spPr>
          <a:xfrm>
            <a:off x="648000" y="1789200"/>
            <a:ext cx="1008000" cy="2016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Kennzahlen</a:t>
            </a:r>
          </a:p>
        </p:txBody>
      </p:sp>
      <p:sp>
        <p:nvSpPr>
          <p:cNvPr id="9" name="Berichte 2"/>
          <p:cNvSpPr/>
          <p:nvPr/>
        </p:nvSpPr>
        <p:spPr>
          <a:xfrm>
            <a:off x="2232000" y="1789200"/>
            <a:ext cx="1008000" cy="2016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Berichte</a:t>
            </a:r>
          </a:p>
        </p:txBody>
      </p:sp>
      <p:sp>
        <p:nvSpPr>
          <p:cNvPr id="10" name="Kennzahlen–Berichte 2"/>
          <p:cNvSpPr/>
          <p:nvPr/>
        </p:nvSpPr>
        <p:spPr>
          <a:xfrm>
            <a:off x="1656000" y="1890000"/>
            <a:ext cx="576000" cy="0"/>
          </a:xfrm>
          <a:custGeom>
            <a:avLst/>
            <a:gdLst/>
            <a:ahLst/>
            <a:cxnLst/>
            <a:rect l="l" t="t" r="r" b="b"/>
            <a:pathLst>
              <a:path w="576000" h="0">
                <a:moveTo>
                  <a:pt x="0" y="0"/>
                </a:moveTo>
                <a:lnTo>
                  <a:pt x="576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ammelleitung"/>
          <p:cNvSpPr/>
          <p:nvPr/>
        </p:nvSpPr>
        <p:spPr>
          <a:xfrm>
            <a:off x="86400" y="154800"/>
            <a:ext cx="111600" cy="1324800"/>
          </a:xfrm>
          <a:custGeom>
            <a:avLst/>
            <a:gdLst/>
            <a:ahLst/>
            <a:cxnLst/>
            <a:rect l="l" t="t" r="r" b="b"/>
            <a:pathLst>
              <a:path w="111600" h="1324800">
                <a:moveTo>
                  <a:pt x="111600" y="0"/>
                </a:moveTo>
                <a:lnTo>
                  <a:pt x="0" y="0"/>
                </a:lnTo>
                <a:lnTo>
                  <a:pt x="0" y="1324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Navigation–Bereichsstruktur"/>
          <p:cNvSpPr/>
          <p:nvPr/>
        </p:nvSpPr>
        <p:spPr>
          <a:xfrm>
            <a:off x="86400" y="608400"/>
            <a:ext cx="111600" cy="0"/>
          </a:xfrm>
          <a:custGeom>
            <a:avLst/>
            <a:gdLst/>
            <a:ahLst/>
            <a:cxnLst/>
            <a:rect l="l" t="t" r="r" b="b"/>
            <a:pathLst>
              <a:path w="111600" h="0">
                <a:moveTo>
                  <a:pt x="0" y="0"/>
                </a:moveTo>
                <a:lnTo>
                  <a:pt x="1116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Navigation–Kostenträgerstruktur"/>
          <p:cNvSpPr/>
          <p:nvPr/>
        </p:nvSpPr>
        <p:spPr>
          <a:xfrm>
            <a:off x="86400" y="1479600"/>
            <a:ext cx="111600" cy="0"/>
          </a:xfrm>
          <a:custGeom>
            <a:avLst/>
            <a:gdLst/>
            <a:ahLst/>
            <a:cxnLst/>
            <a:rect l="l" t="t" r="r" b="b"/>
            <a:pathLst>
              <a:path w="111600" h="0">
                <a:moveTo>
                  <a:pt x="0" y="0"/>
                </a:moveTo>
                <a:lnTo>
                  <a:pt x="1116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Knoten"/>
          <p:cNvSpPr/>
          <p:nvPr/>
        </p:nvSpPr>
        <p:spPr>
          <a:xfrm>
            <a:off x="70200" y="592200"/>
            <a:ext cx="32400" cy="32400"/>
          </a:xfrm>
          <a:prstGeom prst="ellipse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Abzweig 1"/>
          <p:cNvSpPr/>
          <p:nvPr/>
        </p:nvSpPr>
        <p:spPr>
          <a:xfrm>
            <a:off x="1944000" y="752400"/>
            <a:ext cx="0" cy="82800"/>
          </a:xfrm>
          <a:custGeom>
            <a:avLst/>
            <a:gdLst/>
            <a:ahLst/>
            <a:cxnLst/>
            <a:rect l="l" t="t" r="r" b="b"/>
            <a:pathLst>
              <a:path w="0" h="82800">
                <a:moveTo>
                  <a:pt x="0" y="0"/>
                </a:moveTo>
                <a:lnTo>
                  <a:pt x="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Detail–Kennzahlen 1"/>
          <p:cNvSpPr/>
          <p:nvPr/>
        </p:nvSpPr>
        <p:spPr>
          <a:xfrm>
            <a:off x="1152000" y="835200"/>
            <a:ext cx="792000" cy="82800"/>
          </a:xfrm>
          <a:custGeom>
            <a:avLst/>
            <a:gdLst/>
            <a:ahLst/>
            <a:cxnLst/>
            <a:rect l="l" t="t" r="r" b="b"/>
            <a:pathLst>
              <a:path w="792000" h="82800">
                <a:moveTo>
                  <a:pt x="792000" y="0"/>
                </a:moveTo>
                <a:lnTo>
                  <a:pt x="0" y="0"/>
                </a:lnTo>
                <a:lnTo>
                  <a:pt x="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Detail–Berichte 1"/>
          <p:cNvSpPr/>
          <p:nvPr/>
        </p:nvSpPr>
        <p:spPr>
          <a:xfrm>
            <a:off x="1944000" y="835200"/>
            <a:ext cx="792000" cy="82800"/>
          </a:xfrm>
          <a:custGeom>
            <a:avLst/>
            <a:gdLst/>
            <a:ahLst/>
            <a:cxnLst/>
            <a:rect l="l" t="t" r="r" b="b"/>
            <a:pathLst>
              <a:path w="792000" h="82800">
                <a:moveTo>
                  <a:pt x="0" y="0"/>
                </a:moveTo>
                <a:lnTo>
                  <a:pt x="792000" y="0"/>
                </a:lnTo>
                <a:lnTo>
                  <a:pt x="79200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Knoten"/>
          <p:cNvSpPr/>
          <p:nvPr/>
        </p:nvSpPr>
        <p:spPr>
          <a:xfrm>
            <a:off x="1927800" y="819000"/>
            <a:ext cx="32400" cy="32400"/>
          </a:xfrm>
          <a:prstGeom prst="ellipse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bzweig 2"/>
          <p:cNvSpPr/>
          <p:nvPr/>
        </p:nvSpPr>
        <p:spPr>
          <a:xfrm>
            <a:off x="1944000" y="1623600"/>
            <a:ext cx="0" cy="82800"/>
          </a:xfrm>
          <a:custGeom>
            <a:avLst/>
            <a:gdLst/>
            <a:ahLst/>
            <a:cxnLst/>
            <a:rect l="l" t="t" r="r" b="b"/>
            <a:pathLst>
              <a:path w="0" h="82800">
                <a:moveTo>
                  <a:pt x="0" y="0"/>
                </a:moveTo>
                <a:lnTo>
                  <a:pt x="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Detail–Kennzahlen 2"/>
          <p:cNvSpPr/>
          <p:nvPr/>
        </p:nvSpPr>
        <p:spPr>
          <a:xfrm>
            <a:off x="1152000" y="1706400"/>
            <a:ext cx="792000" cy="82800"/>
          </a:xfrm>
          <a:custGeom>
            <a:avLst/>
            <a:gdLst/>
            <a:ahLst/>
            <a:cxnLst/>
            <a:rect l="l" t="t" r="r" b="b"/>
            <a:pathLst>
              <a:path w="792000" h="82800">
                <a:moveTo>
                  <a:pt x="792000" y="0"/>
                </a:moveTo>
                <a:lnTo>
                  <a:pt x="0" y="0"/>
                </a:lnTo>
                <a:lnTo>
                  <a:pt x="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Detail–Berichte 2"/>
          <p:cNvSpPr/>
          <p:nvPr/>
        </p:nvSpPr>
        <p:spPr>
          <a:xfrm>
            <a:off x="1944000" y="1706400"/>
            <a:ext cx="792000" cy="82800"/>
          </a:xfrm>
          <a:custGeom>
            <a:avLst/>
            <a:gdLst/>
            <a:ahLst/>
            <a:cxnLst/>
            <a:rect l="l" t="t" r="r" b="b"/>
            <a:pathLst>
              <a:path w="792000" h="82800">
                <a:moveTo>
                  <a:pt x="0" y="0"/>
                </a:moveTo>
                <a:lnTo>
                  <a:pt x="792000" y="0"/>
                </a:lnTo>
                <a:lnTo>
                  <a:pt x="79200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Knoten"/>
          <p:cNvSpPr/>
          <p:nvPr/>
        </p:nvSpPr>
        <p:spPr>
          <a:xfrm>
            <a:off x="1927800" y="1690200"/>
            <a:ext cx="32400" cy="32400"/>
          </a:xfrm>
          <a:prstGeom prst="ellipse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Wechsel Detailanalysen"/>
          <p:cNvSpPr/>
          <p:nvPr/>
        </p:nvSpPr>
        <p:spPr>
          <a:xfrm>
            <a:off x="3690000" y="608400"/>
            <a:ext cx="144000" cy="871200"/>
          </a:xfrm>
          <a:custGeom>
            <a:avLst/>
            <a:gdLst/>
            <a:ahLst/>
            <a:cxnLst/>
            <a:rect l="l" t="t" r="r" b="b"/>
            <a:pathLst>
              <a:path w="144000" h="871200">
                <a:moveTo>
                  <a:pt x="0" y="0"/>
                </a:moveTo>
                <a:lnTo>
                  <a:pt x="144000" y="0"/>
                </a:lnTo>
                <a:lnTo>
                  <a:pt x="144000" y="871200"/>
                </a:lnTo>
                <a:lnTo>
                  <a:pt x="0" y="871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