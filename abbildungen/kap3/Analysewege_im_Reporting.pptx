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228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pitzenkennzahlen"/>
          <p:cNvSpPr/>
          <p:nvPr/>
        </p:nvSpPr>
        <p:spPr>
          <a:xfrm>
            <a:off x="198000" y="10800"/>
            <a:ext cx="2178000" cy="216000"/>
          </a:xfrm>
          <a:prstGeom prst="roundRect">
            <a:avLst>
              <a:gd name="adj" fmla="val 1333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Spitzenkennzahlen</a:t>
            </a:r>
          </a:p>
        </p:txBody>
      </p:sp>
      <p:sp>
        <p:nvSpPr>
          <p:cNvPr id="3" name="Reporting-Navigation"/>
          <p:cNvSpPr/>
          <p:nvPr/>
        </p:nvSpPr>
        <p:spPr>
          <a:xfrm>
            <a:off x="378000" y="378000"/>
            <a:ext cx="18180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Reporting-Navigation gemäß Organigramm</a:t>
            </a:r>
          </a:p>
        </p:txBody>
      </p:sp>
      <p:sp>
        <p:nvSpPr>
          <p:cNvPr id="4" name="Detailanalyse Bereichsstruktur"/>
          <p:cNvSpPr/>
          <p:nvPr/>
        </p:nvSpPr>
        <p:spPr>
          <a:xfrm>
            <a:off x="198000" y="745200"/>
            <a:ext cx="2178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Detailanalyse: Bereichsstruktur</a:t>
            </a:r>
          </a:p>
          <a:p>
            <a:pPr algn="ctr">
              <a:lnSpc>
                <a:spcPts val="767"/>
              </a:lnSpc>
              <a:buNone/>
            </a:pPr>
            <a:r>
              <a:rPr lang="de-DE" sz="650" b="0" i="0">
                <a:solidFill>
                  <a:srgbClr val="1A1A1A"/>
                </a:solidFill>
                <a:latin typeface="Arial"/>
              </a:rPr>
              <a:t>z. B. Produktentwicklung</a:t>
            </a:r>
          </a:p>
        </p:txBody>
      </p:sp>
      <p:sp>
        <p:nvSpPr>
          <p:cNvPr id="5" name="Detailanalyse Kostenträgerstruktur"/>
          <p:cNvSpPr/>
          <p:nvPr/>
        </p:nvSpPr>
        <p:spPr>
          <a:xfrm>
            <a:off x="198000" y="1616400"/>
            <a:ext cx="2178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Detailanalyse: Kostenträgerstruktur</a:t>
            </a:r>
          </a:p>
          <a:p>
            <a:pPr algn="ctr">
              <a:lnSpc>
                <a:spcPts val="767"/>
              </a:lnSpc>
              <a:buNone/>
            </a:pPr>
            <a:r>
              <a:rPr lang="de-DE" sz="650" b="0" i="0">
                <a:solidFill>
                  <a:srgbClr val="1A1A1A"/>
                </a:solidFill>
                <a:latin typeface="Arial"/>
              </a:rPr>
              <a:t>z. B. für Key-Account-Manager</a:t>
            </a:r>
          </a:p>
        </p:txBody>
      </p:sp>
      <p:sp>
        <p:nvSpPr>
          <p:cNvPr id="6" name="Kennzahlen 1"/>
          <p:cNvSpPr/>
          <p:nvPr/>
        </p:nvSpPr>
        <p:spPr>
          <a:xfrm>
            <a:off x="360000" y="1198800"/>
            <a:ext cx="720000" cy="2016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Kennzahlen</a:t>
            </a:r>
          </a:p>
        </p:txBody>
      </p:sp>
      <p:sp>
        <p:nvSpPr>
          <p:cNvPr id="7" name="Berichte 1"/>
          <p:cNvSpPr/>
          <p:nvPr/>
        </p:nvSpPr>
        <p:spPr>
          <a:xfrm>
            <a:off x="1494000" y="1198800"/>
            <a:ext cx="720000" cy="2016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Berichte</a:t>
            </a:r>
          </a:p>
        </p:txBody>
      </p:sp>
      <p:sp>
        <p:nvSpPr>
          <p:cNvPr id="8" name="Kennzahlen–Berichte 1"/>
          <p:cNvSpPr/>
          <p:nvPr/>
        </p:nvSpPr>
        <p:spPr>
          <a:xfrm>
            <a:off x="1080000" y="1299600"/>
            <a:ext cx="414000" cy="0"/>
          </a:xfrm>
          <a:custGeom>
            <a:avLst/>
            <a:gdLst/>
            <a:ahLst/>
            <a:cxnLst/>
            <a:rect l="l" t="t" r="r" b="b"/>
            <a:pathLst>
              <a:path w="414000" h="0">
                <a:moveTo>
                  <a:pt x="0" y="0"/>
                </a:moveTo>
                <a:lnTo>
                  <a:pt x="41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ennzahlen 2"/>
          <p:cNvSpPr/>
          <p:nvPr/>
        </p:nvSpPr>
        <p:spPr>
          <a:xfrm>
            <a:off x="360000" y="2070000"/>
            <a:ext cx="720000" cy="2016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Kennzahlen</a:t>
            </a:r>
          </a:p>
        </p:txBody>
      </p:sp>
      <p:sp>
        <p:nvSpPr>
          <p:cNvPr id="10" name="Berichte 2"/>
          <p:cNvSpPr/>
          <p:nvPr/>
        </p:nvSpPr>
        <p:spPr>
          <a:xfrm>
            <a:off x="1494000" y="2070000"/>
            <a:ext cx="720000" cy="2016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Berichte</a:t>
            </a:r>
          </a:p>
        </p:txBody>
      </p:sp>
      <p:sp>
        <p:nvSpPr>
          <p:cNvPr id="11" name="Kennzahlen–Berichte 2"/>
          <p:cNvSpPr/>
          <p:nvPr/>
        </p:nvSpPr>
        <p:spPr>
          <a:xfrm>
            <a:off x="1080000" y="2170800"/>
            <a:ext cx="414000" cy="0"/>
          </a:xfrm>
          <a:custGeom>
            <a:avLst/>
            <a:gdLst/>
            <a:ahLst/>
            <a:cxnLst/>
            <a:rect l="l" t="t" r="r" b="b"/>
            <a:pathLst>
              <a:path w="414000" h="0">
                <a:moveTo>
                  <a:pt x="0" y="0"/>
                </a:moveTo>
                <a:lnTo>
                  <a:pt x="41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pitzenkennzahlen–Navigation"/>
          <p:cNvSpPr/>
          <p:nvPr/>
        </p:nvSpPr>
        <p:spPr>
          <a:xfrm>
            <a:off x="1287000" y="226800"/>
            <a:ext cx="0" cy="151200"/>
          </a:xfrm>
          <a:custGeom>
            <a:avLst/>
            <a:gdLst/>
            <a:ahLst/>
            <a:cxnLst/>
            <a:rect l="l" t="t" r="r" b="b"/>
            <a:pathLst>
              <a:path w="0" h="151200">
                <a:moveTo>
                  <a:pt x="0" y="0"/>
                </a:moveTo>
                <a:lnTo>
                  <a:pt x="0" y="1512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ammelleitung"/>
          <p:cNvSpPr/>
          <p:nvPr/>
        </p:nvSpPr>
        <p:spPr>
          <a:xfrm>
            <a:off x="86400" y="478800"/>
            <a:ext cx="291600" cy="1281600"/>
          </a:xfrm>
          <a:custGeom>
            <a:avLst/>
            <a:gdLst/>
            <a:ahLst/>
            <a:cxnLst/>
            <a:rect l="l" t="t" r="r" b="b"/>
            <a:pathLst>
              <a:path w="291600" h="1281600">
                <a:moveTo>
                  <a:pt x="291600" y="0"/>
                </a:moveTo>
                <a:lnTo>
                  <a:pt x="0" y="0"/>
                </a:lnTo>
                <a:lnTo>
                  <a:pt x="0" y="12816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avigation–Bereichsstruktur"/>
          <p:cNvSpPr/>
          <p:nvPr/>
        </p:nvSpPr>
        <p:spPr>
          <a:xfrm>
            <a:off x="86400" y="889200"/>
            <a:ext cx="111600" cy="0"/>
          </a:xfrm>
          <a:custGeom>
            <a:avLst/>
            <a:gdLst/>
            <a:ahLst/>
            <a:cxnLst/>
            <a:rect l="l" t="t" r="r" b="b"/>
            <a:pathLst>
              <a:path w="111600" h="0">
                <a:moveTo>
                  <a:pt x="0" y="0"/>
                </a:moveTo>
                <a:lnTo>
                  <a:pt x="1116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avigation–Kostenträgerstruktur"/>
          <p:cNvSpPr/>
          <p:nvPr/>
        </p:nvSpPr>
        <p:spPr>
          <a:xfrm>
            <a:off x="86400" y="1760400"/>
            <a:ext cx="111600" cy="0"/>
          </a:xfrm>
          <a:custGeom>
            <a:avLst/>
            <a:gdLst/>
            <a:ahLst/>
            <a:cxnLst/>
            <a:rect l="l" t="t" r="r" b="b"/>
            <a:pathLst>
              <a:path w="111600" h="0">
                <a:moveTo>
                  <a:pt x="0" y="0"/>
                </a:moveTo>
                <a:lnTo>
                  <a:pt x="1116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Knoten"/>
          <p:cNvSpPr/>
          <p:nvPr/>
        </p:nvSpPr>
        <p:spPr>
          <a:xfrm>
            <a:off x="70200" y="8730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bzweig 1"/>
          <p:cNvSpPr/>
          <p:nvPr/>
        </p:nvSpPr>
        <p:spPr>
          <a:xfrm>
            <a:off x="1287000" y="1033200"/>
            <a:ext cx="0" cy="82800"/>
          </a:xfrm>
          <a:custGeom>
            <a:avLst/>
            <a:gdLst/>
            <a:ahLst/>
            <a:cxnLst/>
            <a:rect l="l" t="t" r="r" b="b"/>
            <a:pathLst>
              <a:path w="0" h="82800">
                <a:moveTo>
                  <a:pt x="0" y="0"/>
                </a:moveTo>
                <a:lnTo>
                  <a:pt x="0" y="828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Detail–Kennzahlen 1"/>
          <p:cNvSpPr/>
          <p:nvPr/>
        </p:nvSpPr>
        <p:spPr>
          <a:xfrm>
            <a:off x="720000" y="1116000"/>
            <a:ext cx="567000" cy="82800"/>
          </a:xfrm>
          <a:custGeom>
            <a:avLst/>
            <a:gdLst/>
            <a:ahLst/>
            <a:cxnLst/>
            <a:rect l="l" t="t" r="r" b="b"/>
            <a:pathLst>
              <a:path w="567000" h="82800">
                <a:moveTo>
                  <a:pt x="567000" y="0"/>
                </a:moveTo>
                <a:lnTo>
                  <a:pt x="0" y="0"/>
                </a:lnTo>
                <a:lnTo>
                  <a:pt x="0" y="828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Detail–Berichte 1"/>
          <p:cNvSpPr/>
          <p:nvPr/>
        </p:nvSpPr>
        <p:spPr>
          <a:xfrm>
            <a:off x="1287000" y="1116000"/>
            <a:ext cx="567000" cy="82800"/>
          </a:xfrm>
          <a:custGeom>
            <a:avLst/>
            <a:gdLst/>
            <a:ahLst/>
            <a:cxnLst/>
            <a:rect l="l" t="t" r="r" b="b"/>
            <a:pathLst>
              <a:path w="567000" h="82800">
                <a:moveTo>
                  <a:pt x="0" y="0"/>
                </a:moveTo>
                <a:lnTo>
                  <a:pt x="567000" y="0"/>
                </a:lnTo>
                <a:lnTo>
                  <a:pt x="567000" y="828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Knoten"/>
          <p:cNvSpPr/>
          <p:nvPr/>
        </p:nvSpPr>
        <p:spPr>
          <a:xfrm>
            <a:off x="1270800" y="10998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bzweig 2"/>
          <p:cNvSpPr/>
          <p:nvPr/>
        </p:nvSpPr>
        <p:spPr>
          <a:xfrm>
            <a:off x="1287000" y="1904400"/>
            <a:ext cx="0" cy="82800"/>
          </a:xfrm>
          <a:custGeom>
            <a:avLst/>
            <a:gdLst/>
            <a:ahLst/>
            <a:cxnLst/>
            <a:rect l="l" t="t" r="r" b="b"/>
            <a:pathLst>
              <a:path w="0" h="82800">
                <a:moveTo>
                  <a:pt x="0" y="0"/>
                </a:moveTo>
                <a:lnTo>
                  <a:pt x="0" y="828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Detail–Kennzahlen 2"/>
          <p:cNvSpPr/>
          <p:nvPr/>
        </p:nvSpPr>
        <p:spPr>
          <a:xfrm>
            <a:off x="720000" y="1987200"/>
            <a:ext cx="567000" cy="82800"/>
          </a:xfrm>
          <a:custGeom>
            <a:avLst/>
            <a:gdLst/>
            <a:ahLst/>
            <a:cxnLst/>
            <a:rect l="l" t="t" r="r" b="b"/>
            <a:pathLst>
              <a:path w="567000" h="82800">
                <a:moveTo>
                  <a:pt x="567000" y="0"/>
                </a:moveTo>
                <a:lnTo>
                  <a:pt x="0" y="0"/>
                </a:lnTo>
                <a:lnTo>
                  <a:pt x="0" y="828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Detail–Berichte 2"/>
          <p:cNvSpPr/>
          <p:nvPr/>
        </p:nvSpPr>
        <p:spPr>
          <a:xfrm>
            <a:off x="1287000" y="1987200"/>
            <a:ext cx="567000" cy="82800"/>
          </a:xfrm>
          <a:custGeom>
            <a:avLst/>
            <a:gdLst/>
            <a:ahLst/>
            <a:cxnLst/>
            <a:rect l="l" t="t" r="r" b="b"/>
            <a:pathLst>
              <a:path w="567000" h="82800">
                <a:moveTo>
                  <a:pt x="0" y="0"/>
                </a:moveTo>
                <a:lnTo>
                  <a:pt x="567000" y="0"/>
                </a:lnTo>
                <a:lnTo>
                  <a:pt x="567000" y="828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Knoten"/>
          <p:cNvSpPr/>
          <p:nvPr/>
        </p:nvSpPr>
        <p:spPr>
          <a:xfrm>
            <a:off x="1270800" y="19710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Wechsel Detailanalysen"/>
          <p:cNvSpPr/>
          <p:nvPr/>
        </p:nvSpPr>
        <p:spPr>
          <a:xfrm>
            <a:off x="2376000" y="889200"/>
            <a:ext cx="144000" cy="871200"/>
          </a:xfrm>
          <a:custGeom>
            <a:avLst/>
            <a:gdLst/>
            <a:ahLst/>
            <a:cxnLst/>
            <a:rect l="l" t="t" r="r" b="b"/>
            <a:pathLst>
              <a:path w="144000" h="871200">
                <a:moveTo>
                  <a:pt x="0" y="0"/>
                </a:moveTo>
                <a:lnTo>
                  <a:pt x="144000" y="0"/>
                </a:lnTo>
                <a:lnTo>
                  <a:pt x="144000" y="871200"/>
                </a:lnTo>
                <a:lnTo>
                  <a:pt x="0" y="8712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eispiel Management-Cockpit"/>
          <p:cNvSpPr/>
          <p:nvPr/>
        </p:nvSpPr>
        <p:spPr>
          <a:xfrm>
            <a:off x="2682000" y="10800"/>
            <a:ext cx="1267200" cy="216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9A9A9A"/>
            </a:solidFill>
            <a:prstDash val="sysDash"/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767"/>
              </a:lnSpc>
              <a:buNone/>
            </a:pPr>
            <a:r>
              <a:rPr lang="de-DE" sz="650" b="0" i="0">
                <a:solidFill>
                  <a:srgbClr val="4D4D4D"/>
                </a:solidFill>
                <a:latin typeface="Arial"/>
              </a:rPr>
              <a:t>z. B. Management-Cockpit</a:t>
            </a:r>
          </a:p>
        </p:txBody>
      </p:sp>
      <p:sp>
        <p:nvSpPr>
          <p:cNvPr id="27" name="Beispiel Umsatzanalyse je Bereich"/>
          <p:cNvSpPr/>
          <p:nvPr/>
        </p:nvSpPr>
        <p:spPr>
          <a:xfrm>
            <a:off x="2682000" y="745200"/>
            <a:ext cx="1267200" cy="2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9A9A9A"/>
            </a:solidFill>
            <a:prstDash val="sysDash"/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767"/>
              </a:lnSpc>
              <a:buNone/>
            </a:pPr>
            <a:r>
              <a:rPr lang="de-DE" sz="650" b="0" i="0">
                <a:solidFill>
                  <a:srgbClr val="4D4D4D"/>
                </a:solidFill>
                <a:latin typeface="Arial"/>
              </a:rPr>
              <a:t>z. B. Umsatzanalyse je Bereich</a:t>
            </a:r>
          </a:p>
        </p:txBody>
      </p:sp>
      <p:sp>
        <p:nvSpPr>
          <p:cNvPr id="28" name="Beispiel Deckungsbeitragsanalyse"/>
          <p:cNvSpPr/>
          <p:nvPr/>
        </p:nvSpPr>
        <p:spPr>
          <a:xfrm>
            <a:off x="2682000" y="1616400"/>
            <a:ext cx="1267200" cy="2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9A9A9A"/>
            </a:solidFill>
            <a:prstDash val="sysDash"/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767"/>
              </a:lnSpc>
              <a:buNone/>
            </a:pPr>
            <a:r>
              <a:rPr lang="de-DE" sz="650" b="0" i="0">
                <a:solidFill>
                  <a:srgbClr val="4D4D4D"/>
                </a:solidFill>
                <a:latin typeface="Arial"/>
              </a:rPr>
              <a:t>z. B. Deckungsbeitragsanalyse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