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960000" cy="3954553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raemissen"/>
          <p:cNvSpPr/>
          <p:nvPr/>
        </p:nvSpPr>
        <p:spPr>
          <a:xfrm>
            <a:off x="2724" y="2724"/>
            <a:ext cx="3954553" cy="3949106"/>
          </a:xfrm>
          <a:prstGeom prst="rect">
            <a:avLst/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kopf"/>
          <p:cNvSpPr/>
          <p:nvPr/>
        </p:nvSpPr>
        <p:spPr>
          <a:xfrm>
            <a:off x="5447" y="5447"/>
            <a:ext cx="3949106" cy="163411"/>
          </a:xfrm>
          <a:prstGeom prst="rect">
            <a:avLst/>
          </a:pr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 SPAN"/>
          <p:cNvSpPr txBox="1"/>
          <p:nvPr/>
        </p:nvSpPr>
        <p:spPr>
          <a:xfrm>
            <a:off x="87153" y="33554"/>
            <a:ext cx="613814" cy="92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86" b="1" i="0" u="none" lang="de-DE">
                <a:solidFill>
                  <a:srgbClr val="FFFFFF"/>
                </a:solidFill>
                <a:latin typeface="Arial"/>
              </a:rPr>
              <a:t>Planungsbrief</a:t>
            </a:r>
          </a:p>
        </p:txBody>
      </p:sp>
      <p:sp>
        <p:nvSpPr>
          <p:cNvPr id="5" name="band-allgemein"/>
          <p:cNvSpPr/>
          <p:nvPr/>
        </p:nvSpPr>
        <p:spPr>
          <a:xfrm>
            <a:off x="87153" y="245117"/>
            <a:ext cx="3785695" cy="141623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 band-allgemein"/>
          <p:cNvSpPr txBox="1"/>
          <p:nvPr/>
        </p:nvSpPr>
        <p:spPr>
          <a:xfrm>
            <a:off x="130729" y="267777"/>
            <a:ext cx="1477851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 spc="12">
                <a:solidFill>
                  <a:srgbClr val="3A3F44"/>
                </a:solidFill>
                <a:latin typeface="Arial"/>
              </a:rPr>
              <a:t>ALLGEMEINE PLANUNGSPRÄMISSEN</a:t>
            </a:r>
          </a:p>
        </p:txBody>
      </p:sp>
      <p:sp>
        <p:nvSpPr>
          <p:cNvPr id="7" name="Text mk-label"/>
          <p:cNvSpPr txBox="1"/>
          <p:nvPr/>
        </p:nvSpPr>
        <p:spPr>
          <a:xfrm>
            <a:off x="87153" y="463870"/>
            <a:ext cx="732202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Aktuelles Budgetjahr</a:t>
            </a:r>
          </a:p>
        </p:txBody>
      </p:sp>
      <p:sp>
        <p:nvSpPr>
          <p:cNvPr id="8" name="f-budgetjahr"/>
          <p:cNvSpPr/>
          <p:nvPr/>
        </p:nvSpPr>
        <p:spPr>
          <a:xfrm>
            <a:off x="1004979" y="443934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 SPAN"/>
          <p:cNvSpPr txBox="1"/>
          <p:nvPr/>
        </p:nvSpPr>
        <p:spPr>
          <a:xfrm>
            <a:off x="1045832" y="463870"/>
            <a:ext cx="465211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Budget 2027</a:t>
            </a:r>
          </a:p>
        </p:txBody>
      </p:sp>
      <p:sp>
        <p:nvSpPr>
          <p:cNvPr id="10" name="Form"/>
          <p:cNvSpPr/>
          <p:nvPr/>
        </p:nvSpPr>
        <p:spPr>
          <a:xfrm>
            <a:off x="1950041" y="501128"/>
            <a:ext cx="43577" cy="27235"/>
          </a:xfrm>
          <a:custGeom>
            <a:avLst/>
            <a:gdLst/>
            <a:ahLst/>
            <a:cxnLst/>
            <a:rect l="l" t="t" r="r" b="b"/>
            <a:pathLst>
              <a:path w="43577" h="27235">
                <a:moveTo>
                  <a:pt x="0" y="0"/>
                </a:moveTo>
                <a:lnTo>
                  <a:pt x="43577" y="0"/>
                </a:lnTo>
                <a:lnTo>
                  <a:pt x="21788" y="27235"/>
                </a:lnTo>
                <a:close/>
              </a:path>
            </a:pathLst>
          </a:cu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 einheit"/>
          <p:cNvSpPr txBox="1"/>
          <p:nvPr/>
        </p:nvSpPr>
        <p:spPr>
          <a:xfrm>
            <a:off x="87153" y="681752"/>
            <a:ext cx="520022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4D4D4D"/>
                </a:solidFill>
                <a:latin typeface="Arial"/>
              </a:rPr>
              <a:t>Prämisse in %</a:t>
            </a:r>
          </a:p>
        </p:txBody>
      </p:sp>
      <p:sp>
        <p:nvSpPr>
          <p:cNvPr id="12" name="sp-1"/>
          <p:cNvSpPr/>
          <p:nvPr/>
        </p:nvSpPr>
        <p:spPr>
          <a:xfrm>
            <a:off x="1004979" y="661816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 SPAN"/>
          <p:cNvSpPr txBox="1"/>
          <p:nvPr/>
        </p:nvSpPr>
        <p:spPr>
          <a:xfrm>
            <a:off x="1045832" y="681752"/>
            <a:ext cx="342227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Standard</a:t>
            </a:r>
          </a:p>
        </p:txBody>
      </p:sp>
      <p:sp>
        <p:nvSpPr>
          <p:cNvPr id="14" name="Form"/>
          <p:cNvSpPr/>
          <p:nvPr/>
        </p:nvSpPr>
        <p:spPr>
          <a:xfrm>
            <a:off x="1950041" y="719010"/>
            <a:ext cx="43577" cy="27235"/>
          </a:xfrm>
          <a:custGeom>
            <a:avLst/>
            <a:gdLst/>
            <a:ahLst/>
            <a:cxnLst/>
            <a:rect l="l" t="t" r="r" b="b"/>
            <a:pathLst>
              <a:path w="43577" h="27235">
                <a:moveTo>
                  <a:pt x="0" y="0"/>
                </a:moveTo>
                <a:lnTo>
                  <a:pt x="43577" y="0"/>
                </a:lnTo>
                <a:lnTo>
                  <a:pt x="21788" y="27235"/>
                </a:lnTo>
                <a:close/>
              </a:path>
            </a:pathLst>
          </a:cu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p-2"/>
          <p:cNvSpPr/>
          <p:nvPr/>
        </p:nvSpPr>
        <p:spPr>
          <a:xfrm>
            <a:off x="2159752" y="661816"/>
            <a:ext cx="833398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 SPAN"/>
          <p:cNvSpPr txBox="1"/>
          <p:nvPr/>
        </p:nvSpPr>
        <p:spPr>
          <a:xfrm>
            <a:off x="2200605" y="681752"/>
            <a:ext cx="37465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Variante 1</a:t>
            </a:r>
          </a:p>
        </p:txBody>
      </p:sp>
      <p:sp>
        <p:nvSpPr>
          <p:cNvPr id="17" name="Form"/>
          <p:cNvSpPr/>
          <p:nvPr/>
        </p:nvSpPr>
        <p:spPr>
          <a:xfrm>
            <a:off x="2897827" y="719010"/>
            <a:ext cx="43576" cy="27235"/>
          </a:xfrm>
          <a:custGeom>
            <a:avLst/>
            <a:gdLst/>
            <a:ahLst/>
            <a:cxnLst/>
            <a:rect l="l" t="t" r="r" b="b"/>
            <a:pathLst>
              <a:path w="43576" h="27235">
                <a:moveTo>
                  <a:pt x="0" y="0"/>
                </a:moveTo>
                <a:lnTo>
                  <a:pt x="43576" y="0"/>
                </a:lnTo>
                <a:lnTo>
                  <a:pt x="21788" y="27235"/>
                </a:lnTo>
                <a:close/>
              </a:path>
            </a:pathLst>
          </a:cu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p-3"/>
          <p:cNvSpPr/>
          <p:nvPr/>
        </p:nvSpPr>
        <p:spPr>
          <a:xfrm>
            <a:off x="3036726" y="661816"/>
            <a:ext cx="833398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 SPAN"/>
          <p:cNvSpPr txBox="1"/>
          <p:nvPr/>
        </p:nvSpPr>
        <p:spPr>
          <a:xfrm>
            <a:off x="3077579" y="681752"/>
            <a:ext cx="37465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Variante 2</a:t>
            </a:r>
          </a:p>
        </p:txBody>
      </p:sp>
      <p:sp>
        <p:nvSpPr>
          <p:cNvPr id="20" name="Form"/>
          <p:cNvSpPr/>
          <p:nvPr/>
        </p:nvSpPr>
        <p:spPr>
          <a:xfrm>
            <a:off x="3774801" y="719010"/>
            <a:ext cx="43576" cy="27235"/>
          </a:xfrm>
          <a:custGeom>
            <a:avLst/>
            <a:gdLst/>
            <a:ahLst/>
            <a:cxnLst/>
            <a:rect l="l" t="t" r="r" b="b"/>
            <a:pathLst>
              <a:path w="43576" h="27235">
                <a:moveTo>
                  <a:pt x="0" y="0"/>
                </a:moveTo>
                <a:lnTo>
                  <a:pt x="43576" y="0"/>
                </a:lnTo>
                <a:lnTo>
                  <a:pt x="21788" y="27235"/>
                </a:lnTo>
                <a:close/>
              </a:path>
            </a:pathLst>
          </a:cu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 l-p0"/>
          <p:cNvSpPr txBox="1"/>
          <p:nvPr/>
        </p:nvSpPr>
        <p:spPr>
          <a:xfrm>
            <a:off x="87153" y="845163"/>
            <a:ext cx="469382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Inflationsrate</a:t>
            </a:r>
          </a:p>
        </p:txBody>
      </p:sp>
      <p:sp>
        <p:nvSpPr>
          <p:cNvPr id="22" name="p0-0"/>
          <p:cNvSpPr/>
          <p:nvPr/>
        </p:nvSpPr>
        <p:spPr>
          <a:xfrm>
            <a:off x="1004979" y="825227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 p0-0"/>
          <p:cNvSpPr txBox="1"/>
          <p:nvPr/>
        </p:nvSpPr>
        <p:spPr>
          <a:xfrm>
            <a:off x="1865782" y="845163"/>
            <a:ext cx="138729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1,2</a:t>
            </a:r>
          </a:p>
        </p:txBody>
      </p:sp>
      <p:sp>
        <p:nvSpPr>
          <p:cNvPr id="24" name="p0-1"/>
          <p:cNvSpPr/>
          <p:nvPr/>
        </p:nvSpPr>
        <p:spPr>
          <a:xfrm>
            <a:off x="2159752" y="825227"/>
            <a:ext cx="833398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p0-2"/>
          <p:cNvSpPr/>
          <p:nvPr/>
        </p:nvSpPr>
        <p:spPr>
          <a:xfrm>
            <a:off x="3036726" y="825227"/>
            <a:ext cx="833398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 l-p1"/>
          <p:cNvSpPr txBox="1"/>
          <p:nvPr/>
        </p:nvSpPr>
        <p:spPr>
          <a:xfrm>
            <a:off x="87153" y="1008574"/>
            <a:ext cx="75305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Wirtschaftswachstum</a:t>
            </a:r>
          </a:p>
        </p:txBody>
      </p:sp>
      <p:sp>
        <p:nvSpPr>
          <p:cNvPr id="27" name="p1-0"/>
          <p:cNvSpPr/>
          <p:nvPr/>
        </p:nvSpPr>
        <p:spPr>
          <a:xfrm>
            <a:off x="1004979" y="988638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 p1-0"/>
          <p:cNvSpPr txBox="1"/>
          <p:nvPr/>
        </p:nvSpPr>
        <p:spPr>
          <a:xfrm>
            <a:off x="1865782" y="1008574"/>
            <a:ext cx="138729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2,5</a:t>
            </a:r>
          </a:p>
        </p:txBody>
      </p:sp>
      <p:sp>
        <p:nvSpPr>
          <p:cNvPr id="29" name="p1-1"/>
          <p:cNvSpPr/>
          <p:nvPr/>
        </p:nvSpPr>
        <p:spPr>
          <a:xfrm>
            <a:off x="2159752" y="988638"/>
            <a:ext cx="833398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p1-2"/>
          <p:cNvSpPr/>
          <p:nvPr/>
        </p:nvSpPr>
        <p:spPr>
          <a:xfrm>
            <a:off x="3036726" y="988638"/>
            <a:ext cx="833398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 l-p2"/>
          <p:cNvSpPr txBox="1"/>
          <p:nvPr/>
        </p:nvSpPr>
        <p:spPr>
          <a:xfrm>
            <a:off x="87153" y="1171986"/>
            <a:ext cx="859356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Personalsteigerungsrate</a:t>
            </a:r>
          </a:p>
        </p:txBody>
      </p:sp>
      <p:sp>
        <p:nvSpPr>
          <p:cNvPr id="32" name="p2-0"/>
          <p:cNvSpPr/>
          <p:nvPr/>
        </p:nvSpPr>
        <p:spPr>
          <a:xfrm>
            <a:off x="1004979" y="1152050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 p2-0"/>
          <p:cNvSpPr txBox="1"/>
          <p:nvPr/>
        </p:nvSpPr>
        <p:spPr>
          <a:xfrm>
            <a:off x="1865782" y="1171986"/>
            <a:ext cx="138729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3,5</a:t>
            </a:r>
          </a:p>
        </p:txBody>
      </p:sp>
      <p:sp>
        <p:nvSpPr>
          <p:cNvPr id="34" name="p2-1"/>
          <p:cNvSpPr/>
          <p:nvPr/>
        </p:nvSpPr>
        <p:spPr>
          <a:xfrm>
            <a:off x="2159752" y="1152050"/>
            <a:ext cx="833398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p2-2"/>
          <p:cNvSpPr/>
          <p:nvPr/>
        </p:nvSpPr>
        <p:spPr>
          <a:xfrm>
            <a:off x="3036726" y="1152050"/>
            <a:ext cx="833398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 l-p3"/>
          <p:cNvSpPr txBox="1"/>
          <p:nvPr/>
        </p:nvSpPr>
        <p:spPr>
          <a:xfrm>
            <a:off x="87153" y="1335397"/>
            <a:ext cx="634410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Umsatzwachstum</a:t>
            </a:r>
          </a:p>
        </p:txBody>
      </p:sp>
      <p:sp>
        <p:nvSpPr>
          <p:cNvPr id="37" name="p3-0"/>
          <p:cNvSpPr/>
          <p:nvPr/>
        </p:nvSpPr>
        <p:spPr>
          <a:xfrm>
            <a:off x="1004979" y="1315461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 p3-0"/>
          <p:cNvSpPr txBox="1"/>
          <p:nvPr/>
        </p:nvSpPr>
        <p:spPr>
          <a:xfrm>
            <a:off x="1865782" y="1335397"/>
            <a:ext cx="138729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4,5</a:t>
            </a:r>
          </a:p>
        </p:txBody>
      </p:sp>
      <p:sp>
        <p:nvSpPr>
          <p:cNvPr id="39" name="p3-1"/>
          <p:cNvSpPr/>
          <p:nvPr/>
        </p:nvSpPr>
        <p:spPr>
          <a:xfrm>
            <a:off x="2159752" y="1315461"/>
            <a:ext cx="833398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p3-2"/>
          <p:cNvSpPr/>
          <p:nvPr/>
        </p:nvSpPr>
        <p:spPr>
          <a:xfrm>
            <a:off x="3036726" y="1315461"/>
            <a:ext cx="833398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band-teilplaene"/>
          <p:cNvSpPr/>
          <p:nvPr/>
        </p:nvSpPr>
        <p:spPr>
          <a:xfrm>
            <a:off x="87153" y="1552407"/>
            <a:ext cx="3785695" cy="141623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 band-teilplaene"/>
          <p:cNvSpPr txBox="1"/>
          <p:nvPr/>
        </p:nvSpPr>
        <p:spPr>
          <a:xfrm>
            <a:off x="130729" y="1575067"/>
            <a:ext cx="1584068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 spc="12">
                <a:solidFill>
                  <a:srgbClr val="3A3F44"/>
                </a:solidFill>
                <a:latin typeface="Arial"/>
              </a:rPr>
              <a:t>PLANUNGSPRÄMISSEN FÜR TEILPLÄNE</a:t>
            </a:r>
          </a:p>
        </p:txBody>
      </p:sp>
      <p:sp>
        <p:nvSpPr>
          <p:cNvPr id="43" name="Text mk-label"/>
          <p:cNvSpPr txBox="1"/>
          <p:nvPr/>
        </p:nvSpPr>
        <p:spPr>
          <a:xfrm>
            <a:off x="87153" y="1771160"/>
            <a:ext cx="291332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Teilplan</a:t>
            </a:r>
          </a:p>
        </p:txBody>
      </p:sp>
      <p:sp>
        <p:nvSpPr>
          <p:cNvPr id="44" name="f-teilplan"/>
          <p:cNvSpPr/>
          <p:nvPr/>
        </p:nvSpPr>
        <p:spPr>
          <a:xfrm>
            <a:off x="1004979" y="1751224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 SPAN"/>
          <p:cNvSpPr txBox="1"/>
          <p:nvPr/>
        </p:nvSpPr>
        <p:spPr>
          <a:xfrm>
            <a:off x="1045832" y="1771160"/>
            <a:ext cx="537300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Absatzplanung</a:t>
            </a:r>
          </a:p>
        </p:txBody>
      </p:sp>
      <p:sp>
        <p:nvSpPr>
          <p:cNvPr id="46" name="Form"/>
          <p:cNvSpPr/>
          <p:nvPr/>
        </p:nvSpPr>
        <p:spPr>
          <a:xfrm>
            <a:off x="1950041" y="1808418"/>
            <a:ext cx="43577" cy="27235"/>
          </a:xfrm>
          <a:custGeom>
            <a:avLst/>
            <a:gdLst/>
            <a:ahLst/>
            <a:cxnLst/>
            <a:rect l="l" t="t" r="r" b="b"/>
            <a:pathLst>
              <a:path w="43577" h="27235">
                <a:moveTo>
                  <a:pt x="0" y="0"/>
                </a:moveTo>
                <a:lnTo>
                  <a:pt x="43577" y="0"/>
                </a:lnTo>
                <a:lnTo>
                  <a:pt x="21788" y="27235"/>
                </a:lnTo>
                <a:close/>
              </a:path>
            </a:pathLst>
          </a:cu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 mk-label"/>
          <p:cNvSpPr txBox="1"/>
          <p:nvPr/>
        </p:nvSpPr>
        <p:spPr>
          <a:xfrm>
            <a:off x="87153" y="1934572"/>
            <a:ext cx="643091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Planungszeitraum</a:t>
            </a:r>
          </a:p>
        </p:txBody>
      </p:sp>
      <p:sp>
        <p:nvSpPr>
          <p:cNvPr id="48" name="f-von"/>
          <p:cNvSpPr/>
          <p:nvPr/>
        </p:nvSpPr>
        <p:spPr>
          <a:xfrm>
            <a:off x="1004979" y="1914635"/>
            <a:ext cx="436019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 f-von"/>
          <p:cNvSpPr txBox="1"/>
          <p:nvPr/>
        </p:nvSpPr>
        <p:spPr>
          <a:xfrm>
            <a:off x="1015788" y="1934572"/>
            <a:ext cx="414401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600" b="0" i="0" u="none" lang="de-DE">
                <a:solidFill>
                  <a:srgbClr val="1A1A1A"/>
                </a:solidFill>
                <a:latin typeface="Arial"/>
              </a:rPr>
              <a:t>14.09.2026</a:t>
            </a:r>
          </a:p>
        </p:txBody>
      </p:sp>
      <p:sp>
        <p:nvSpPr>
          <p:cNvPr id="50" name="Text mk-zwischen"/>
          <p:cNvSpPr txBox="1"/>
          <p:nvPr/>
        </p:nvSpPr>
        <p:spPr>
          <a:xfrm>
            <a:off x="1476404" y="1934572"/>
            <a:ext cx="130218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4D4D4D"/>
                </a:solidFill>
                <a:latin typeface="Arial"/>
              </a:rPr>
              <a:t>bis</a:t>
            </a:r>
          </a:p>
        </p:txBody>
      </p:sp>
      <p:sp>
        <p:nvSpPr>
          <p:cNvPr id="51" name="f-bis"/>
          <p:cNvSpPr/>
          <p:nvPr/>
        </p:nvSpPr>
        <p:spPr>
          <a:xfrm>
            <a:off x="1609346" y="1914635"/>
            <a:ext cx="436019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 f-bis"/>
          <p:cNvSpPr txBox="1"/>
          <p:nvPr/>
        </p:nvSpPr>
        <p:spPr>
          <a:xfrm>
            <a:off x="1620155" y="1934572"/>
            <a:ext cx="414401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600" b="0" i="0" u="none" lang="de-DE">
                <a:solidFill>
                  <a:srgbClr val="1A1A1A"/>
                </a:solidFill>
                <a:latin typeface="Arial"/>
              </a:rPr>
              <a:t>25.09.2026</a:t>
            </a:r>
          </a:p>
        </p:txBody>
      </p:sp>
      <p:sp>
        <p:nvSpPr>
          <p:cNvPr id="53" name="Text mk-label"/>
          <p:cNvSpPr txBox="1"/>
          <p:nvPr/>
        </p:nvSpPr>
        <p:spPr>
          <a:xfrm>
            <a:off x="87153" y="2097983"/>
            <a:ext cx="311077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Variante</a:t>
            </a:r>
          </a:p>
        </p:txBody>
      </p:sp>
      <p:sp>
        <p:nvSpPr>
          <p:cNvPr id="54" name="f-variante"/>
          <p:cNvSpPr/>
          <p:nvPr/>
        </p:nvSpPr>
        <p:spPr>
          <a:xfrm>
            <a:off x="1004979" y="2078047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 SPAN"/>
          <p:cNvSpPr txBox="1"/>
          <p:nvPr/>
        </p:nvSpPr>
        <p:spPr>
          <a:xfrm>
            <a:off x="1045832" y="2097983"/>
            <a:ext cx="342227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Standard</a:t>
            </a:r>
          </a:p>
        </p:txBody>
      </p:sp>
      <p:sp>
        <p:nvSpPr>
          <p:cNvPr id="56" name="Form"/>
          <p:cNvSpPr/>
          <p:nvPr/>
        </p:nvSpPr>
        <p:spPr>
          <a:xfrm>
            <a:off x="1950041" y="2135241"/>
            <a:ext cx="43577" cy="27235"/>
          </a:xfrm>
          <a:custGeom>
            <a:avLst/>
            <a:gdLst/>
            <a:ahLst/>
            <a:cxnLst/>
            <a:rect l="l" t="t" r="r" b="b"/>
            <a:pathLst>
              <a:path w="43577" h="27235">
                <a:moveTo>
                  <a:pt x="0" y="0"/>
                </a:moveTo>
                <a:lnTo>
                  <a:pt x="43577" y="0"/>
                </a:lnTo>
                <a:lnTo>
                  <a:pt x="21788" y="27235"/>
                </a:lnTo>
                <a:close/>
              </a:path>
            </a:pathLst>
          </a:cu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Linie"/>
          <p:cNvCxnSpPr/>
          <p:nvPr/>
        </p:nvCxnSpPr>
        <p:spPr>
          <a:xfrm>
            <a:off x="87153" y="2410316"/>
            <a:ext cx="1960935" cy="0"/>
          </a:xfrm>
          <a:prstGeom prst="line">
            <a:avLst/>
          </a:prstGeom>
          <a:ln w="5447">
            <a:solidFill>
              <a:srgbClr val="9A9A9A"/>
            </a:solidFill>
          </a:ln>
        </p:spPr>
      </p:cxnSp>
      <p:sp>
        <p:nvSpPr>
          <p:cNvPr id="58" name="Text mk-gruppenkopf"/>
          <p:cNvSpPr txBox="1"/>
          <p:nvPr/>
        </p:nvSpPr>
        <p:spPr>
          <a:xfrm>
            <a:off x="87153" y="2283182"/>
            <a:ext cx="1435211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>
                <a:solidFill>
                  <a:srgbClr val="1A1A1A"/>
                </a:solidFill>
                <a:latin typeface="Arial"/>
              </a:rPr>
              <a:t>Ansprechpartner Zentrales Controlling</a:t>
            </a:r>
          </a:p>
        </p:txBody>
      </p:sp>
      <p:sp>
        <p:nvSpPr>
          <p:cNvPr id="59" name="Text mk-label"/>
          <p:cNvSpPr txBox="1"/>
          <p:nvPr/>
        </p:nvSpPr>
        <p:spPr>
          <a:xfrm>
            <a:off x="87153" y="2468382"/>
            <a:ext cx="236180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Name</a:t>
            </a:r>
          </a:p>
        </p:txBody>
      </p:sp>
      <p:sp>
        <p:nvSpPr>
          <p:cNvPr id="60" name="f-name"/>
          <p:cNvSpPr/>
          <p:nvPr/>
        </p:nvSpPr>
        <p:spPr>
          <a:xfrm>
            <a:off x="1004979" y="2448446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 SPAN"/>
          <p:cNvSpPr txBox="1"/>
          <p:nvPr/>
        </p:nvSpPr>
        <p:spPr>
          <a:xfrm>
            <a:off x="1045832" y="2468382"/>
            <a:ext cx="429721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Frau Wendt</a:t>
            </a:r>
          </a:p>
        </p:txBody>
      </p:sp>
      <p:sp>
        <p:nvSpPr>
          <p:cNvPr id="62" name="Form"/>
          <p:cNvSpPr/>
          <p:nvPr/>
        </p:nvSpPr>
        <p:spPr>
          <a:xfrm>
            <a:off x="1950041" y="2505640"/>
            <a:ext cx="43577" cy="27235"/>
          </a:xfrm>
          <a:custGeom>
            <a:avLst/>
            <a:gdLst/>
            <a:ahLst/>
            <a:cxnLst/>
            <a:rect l="l" t="t" r="r" b="b"/>
            <a:pathLst>
              <a:path w="43577" h="27235">
                <a:moveTo>
                  <a:pt x="0" y="0"/>
                </a:moveTo>
                <a:lnTo>
                  <a:pt x="43577" y="0"/>
                </a:lnTo>
                <a:lnTo>
                  <a:pt x="21788" y="27235"/>
                </a:lnTo>
                <a:close/>
              </a:path>
            </a:pathLst>
          </a:cu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 mk-label"/>
          <p:cNvSpPr txBox="1"/>
          <p:nvPr/>
        </p:nvSpPr>
        <p:spPr>
          <a:xfrm>
            <a:off x="87153" y="2631793"/>
            <a:ext cx="553981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E-Mail-Adresse</a:t>
            </a:r>
          </a:p>
        </p:txBody>
      </p:sp>
      <p:sp>
        <p:nvSpPr>
          <p:cNvPr id="64" name="f-email"/>
          <p:cNvSpPr/>
          <p:nvPr/>
        </p:nvSpPr>
        <p:spPr>
          <a:xfrm>
            <a:off x="1004979" y="2611857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 w="5447">
            <a:solidFill>
              <a:srgbClr val="EFEF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 f-email"/>
          <p:cNvSpPr txBox="1"/>
          <p:nvPr/>
        </p:nvSpPr>
        <p:spPr>
          <a:xfrm>
            <a:off x="1045832" y="2631793"/>
            <a:ext cx="911188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controlling@example.com</a:t>
            </a:r>
          </a:p>
        </p:txBody>
      </p:sp>
      <p:sp>
        <p:nvSpPr>
          <p:cNvPr id="66" name="Text mk-label"/>
          <p:cNvSpPr txBox="1"/>
          <p:nvPr/>
        </p:nvSpPr>
        <p:spPr>
          <a:xfrm>
            <a:off x="87153" y="2795204"/>
            <a:ext cx="278650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Telefon</a:t>
            </a:r>
          </a:p>
        </p:txBody>
      </p:sp>
      <p:sp>
        <p:nvSpPr>
          <p:cNvPr id="67" name="f-telefon"/>
          <p:cNvSpPr/>
          <p:nvPr/>
        </p:nvSpPr>
        <p:spPr>
          <a:xfrm>
            <a:off x="1004979" y="2775268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 w="5447">
            <a:solidFill>
              <a:srgbClr val="EFEF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 f-telefon"/>
          <p:cNvSpPr txBox="1"/>
          <p:nvPr/>
        </p:nvSpPr>
        <p:spPr>
          <a:xfrm>
            <a:off x="1045832" y="2795204"/>
            <a:ext cx="653986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+49 30 23125-254</a:t>
            </a:r>
          </a:p>
        </p:txBody>
      </p:sp>
      <p:cxnSp>
        <p:nvCxnSpPr>
          <p:cNvPr id="69" name="Linie"/>
          <p:cNvCxnSpPr/>
          <p:nvPr/>
        </p:nvCxnSpPr>
        <p:spPr>
          <a:xfrm>
            <a:off x="87153" y="3107538"/>
            <a:ext cx="1960935" cy="0"/>
          </a:xfrm>
          <a:prstGeom prst="line">
            <a:avLst/>
          </a:prstGeom>
          <a:ln w="5447">
            <a:solidFill>
              <a:srgbClr val="9A9A9A"/>
            </a:solidFill>
          </a:ln>
        </p:spPr>
      </p:cxnSp>
      <p:sp>
        <p:nvSpPr>
          <p:cNvPr id="70" name="Text mk-gruppenkopf"/>
          <p:cNvSpPr txBox="1"/>
          <p:nvPr/>
        </p:nvSpPr>
        <p:spPr>
          <a:xfrm>
            <a:off x="87153" y="2980404"/>
            <a:ext cx="44793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>
                <a:solidFill>
                  <a:srgbClr val="1A1A1A"/>
                </a:solidFill>
                <a:latin typeface="Arial"/>
              </a:rPr>
              <a:t>Dokumente</a:t>
            </a:r>
          </a:p>
        </p:txBody>
      </p:sp>
      <p:sp>
        <p:nvSpPr>
          <p:cNvPr id="71" name="Text mk-label"/>
          <p:cNvSpPr txBox="1"/>
          <p:nvPr/>
        </p:nvSpPr>
        <p:spPr>
          <a:xfrm>
            <a:off x="87153" y="3165603"/>
            <a:ext cx="630410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Planungsformular</a:t>
            </a:r>
          </a:p>
        </p:txBody>
      </p:sp>
      <p:sp>
        <p:nvSpPr>
          <p:cNvPr id="72" name="f-formular"/>
          <p:cNvSpPr/>
          <p:nvPr/>
        </p:nvSpPr>
        <p:spPr>
          <a:xfrm>
            <a:off x="1004979" y="3145667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 w="5447">
            <a:solidFill>
              <a:srgbClr val="EFEF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 mk-link"/>
          <p:cNvSpPr txBox="1"/>
          <p:nvPr/>
        </p:nvSpPr>
        <p:spPr>
          <a:xfrm>
            <a:off x="1045832" y="3165603"/>
            <a:ext cx="67577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sng" lang="de-DE">
                <a:solidFill>
                  <a:srgbClr val="3A3F44"/>
                </a:solidFill>
                <a:latin typeface="Arial"/>
              </a:rPr>
              <a:t>Zugangslink öffnen</a:t>
            </a:r>
          </a:p>
        </p:txBody>
      </p:sp>
      <p:sp>
        <p:nvSpPr>
          <p:cNvPr id="74" name="Text mk-label"/>
          <p:cNvSpPr txBox="1"/>
          <p:nvPr/>
        </p:nvSpPr>
        <p:spPr>
          <a:xfrm>
            <a:off x="87153" y="3329015"/>
            <a:ext cx="685732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Planungshandbuch</a:t>
            </a:r>
          </a:p>
        </p:txBody>
      </p:sp>
      <p:sp>
        <p:nvSpPr>
          <p:cNvPr id="75" name="f-handbuch"/>
          <p:cNvSpPr/>
          <p:nvPr/>
        </p:nvSpPr>
        <p:spPr>
          <a:xfrm>
            <a:off x="1004979" y="3309078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 w="5447">
            <a:solidFill>
              <a:srgbClr val="EFEF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Text mk-label"/>
          <p:cNvSpPr txBox="1"/>
          <p:nvPr/>
        </p:nvSpPr>
        <p:spPr>
          <a:xfrm>
            <a:off x="87153" y="3492426"/>
            <a:ext cx="66445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Anwenderleitfaden</a:t>
            </a:r>
          </a:p>
        </p:txBody>
      </p:sp>
      <p:sp>
        <p:nvSpPr>
          <p:cNvPr id="77" name="f-leitfaden"/>
          <p:cNvSpPr/>
          <p:nvPr/>
        </p:nvSpPr>
        <p:spPr>
          <a:xfrm>
            <a:off x="1004979" y="3472490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 w="5447">
            <a:solidFill>
              <a:srgbClr val="EFEF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 mk-link"/>
          <p:cNvSpPr txBox="1"/>
          <p:nvPr/>
        </p:nvSpPr>
        <p:spPr>
          <a:xfrm>
            <a:off x="1045832" y="3492426"/>
            <a:ext cx="612111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sng" lang="de-DE">
                <a:solidFill>
                  <a:srgbClr val="3A3F44"/>
                </a:solidFill>
                <a:latin typeface="Arial"/>
              </a:rPr>
              <a:t>Dokument öffnen</a:t>
            </a:r>
          </a:p>
        </p:txBody>
      </p:sp>
      <p:cxnSp>
        <p:nvCxnSpPr>
          <p:cNvPr id="79" name="Linie"/>
          <p:cNvCxnSpPr/>
          <p:nvPr/>
        </p:nvCxnSpPr>
        <p:spPr>
          <a:xfrm>
            <a:off x="2157029" y="1876506"/>
            <a:ext cx="1715818" cy="0"/>
          </a:xfrm>
          <a:prstGeom prst="line">
            <a:avLst/>
          </a:prstGeom>
          <a:ln w="5447">
            <a:solidFill>
              <a:srgbClr val="9A9A9A"/>
            </a:solidFill>
          </a:ln>
        </p:spPr>
      </p:cxnSp>
      <p:sp>
        <p:nvSpPr>
          <p:cNvPr id="80" name="Text brief-kopf"/>
          <p:cNvSpPr txBox="1"/>
          <p:nvPr/>
        </p:nvSpPr>
        <p:spPr>
          <a:xfrm>
            <a:off x="2157029" y="1749372"/>
            <a:ext cx="1494532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>
                <a:solidFill>
                  <a:srgbClr val="1A1A1A"/>
                </a:solidFill>
                <a:latin typeface="Arial"/>
              </a:rPr>
              <a:t>Planungsbrief für Key-Account-Manager</a:t>
            </a:r>
          </a:p>
        </p:txBody>
      </p:sp>
      <p:sp>
        <p:nvSpPr>
          <p:cNvPr id="81" name="brief"/>
          <p:cNvSpPr/>
          <p:nvPr/>
        </p:nvSpPr>
        <p:spPr>
          <a:xfrm>
            <a:off x="2159752" y="1914635"/>
            <a:ext cx="1710371" cy="1694030"/>
          </a:xfrm>
          <a:prstGeom prst="roundRect">
            <a:avLst>
              <a:gd name="adj" fmla="val 643"/>
            </a:avLst>
          </a:prstGeom>
          <a:solidFill>
            <a:srgbClr val="EFEFEF"/>
          </a:solidFill>
          <a:ln w="5447">
            <a:solidFill>
              <a:srgbClr val="EFEF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Text P"/>
          <p:cNvSpPr txBox="1"/>
          <p:nvPr/>
        </p:nvSpPr>
        <p:spPr>
          <a:xfrm>
            <a:off x="2216946" y="1961807"/>
            <a:ext cx="146108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Sehr geehrte(r) Key-Account-Manager(in),</a:t>
            </a:r>
          </a:p>
        </p:txBody>
      </p:sp>
      <p:sp>
        <p:nvSpPr>
          <p:cNvPr id="83" name="Text P"/>
          <p:cNvSpPr txBox="1"/>
          <p:nvPr/>
        </p:nvSpPr>
        <p:spPr>
          <a:xfrm>
            <a:off x="2216946" y="2102793"/>
            <a:ext cx="1579898" cy="3921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72"/>
              </a:lnSpc>
            </a:pPr>
            <a:r>
              <a:rPr sz="600" b="0" i="0" u="none" lang="de-DE">
                <a:solidFill>
                  <a:srgbClr val="1A1A1A"/>
                </a:solidFill>
                <a:latin typeface="Arial"/>
              </a:rPr>
              <a:t>Sie werden gebeten, die Absatzplanung für</a:t>
            </a:r>
          </a:p>
          <a:p>
            <a:pPr algn="l">
              <a:lnSpc>
                <a:spcPts val="772"/>
              </a:lnSpc>
            </a:pPr>
            <a:r>
              <a:rPr sz="600" b="0" i="0" u="none" lang="de-DE">
                <a:solidFill>
                  <a:srgbClr val="1A1A1A"/>
                </a:solidFill>
                <a:latin typeface="Arial"/>
              </a:rPr>
              <a:t>das Budget 2027 vorzunehmen. Der Zeitraum</a:t>
            </a:r>
          </a:p>
          <a:p>
            <a:pPr algn="l">
              <a:lnSpc>
                <a:spcPts val="772"/>
              </a:lnSpc>
            </a:pPr>
            <a:r>
              <a:rPr sz="600" b="0" i="0" u="none" lang="de-DE">
                <a:solidFill>
                  <a:srgbClr val="1A1A1A"/>
                </a:solidFill>
                <a:latin typeface="Arial"/>
              </a:rPr>
              <a:t>für die Planung ist vom 14.09.2026 bis zum</a:t>
            </a:r>
          </a:p>
          <a:p>
            <a:pPr algn="l">
              <a:lnSpc>
                <a:spcPts val="772"/>
              </a:lnSpc>
            </a:pPr>
            <a:r>
              <a:rPr sz="600" b="0" i="0" u="none" lang="de-DE">
                <a:solidFill>
                  <a:srgbClr val="1A1A1A"/>
                </a:solidFill>
                <a:latin typeface="Arial"/>
              </a:rPr>
              <a:t>25.09.2026 vorgesehen.</a:t>
            </a:r>
          </a:p>
        </p:txBody>
      </p:sp>
      <p:sp>
        <p:nvSpPr>
          <p:cNvPr id="84" name="Text P"/>
          <p:cNvSpPr txBox="1"/>
          <p:nvPr/>
        </p:nvSpPr>
        <p:spPr>
          <a:xfrm>
            <a:off x="2216946" y="2538556"/>
            <a:ext cx="1457169" cy="1960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72"/>
              </a:lnSpc>
            </a:pPr>
            <a:r>
              <a:rPr sz="600" b="0" i="0" u="none" lang="de-DE">
                <a:solidFill>
                  <a:srgbClr val="1A1A1A"/>
                </a:solidFill>
                <a:latin typeface="Arial"/>
              </a:rPr>
              <a:t>Für das Planjahr 2027 gehen Sie bitte von</a:t>
            </a:r>
          </a:p>
          <a:p>
            <a:pPr algn="l">
              <a:lnSpc>
                <a:spcPts val="772"/>
              </a:lnSpc>
            </a:pPr>
            <a:r>
              <a:rPr sz="600" b="0" i="0" u="none" lang="de-DE">
                <a:solidFill>
                  <a:srgbClr val="1A1A1A"/>
                </a:solidFill>
                <a:latin typeface="Arial"/>
              </a:rPr>
              <a:t>folgenden Rahmenbedingungen aus:</a:t>
            </a:r>
          </a:p>
        </p:txBody>
      </p:sp>
      <p:sp>
        <p:nvSpPr>
          <p:cNvPr id="85" name="Text SPAN"/>
          <p:cNvSpPr txBox="1"/>
          <p:nvPr/>
        </p:nvSpPr>
        <p:spPr>
          <a:xfrm>
            <a:off x="2216946" y="2778863"/>
            <a:ext cx="49057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Inflationsrate:</a:t>
            </a:r>
          </a:p>
        </p:txBody>
      </p:sp>
      <p:sp>
        <p:nvSpPr>
          <p:cNvPr id="86" name="Text SPAN"/>
          <p:cNvSpPr txBox="1"/>
          <p:nvPr/>
        </p:nvSpPr>
        <p:spPr>
          <a:xfrm>
            <a:off x="3187541" y="2778863"/>
            <a:ext cx="22775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1,2 %</a:t>
            </a:r>
          </a:p>
        </p:txBody>
      </p:sp>
      <p:sp>
        <p:nvSpPr>
          <p:cNvPr id="87" name="Text SPAN"/>
          <p:cNvSpPr txBox="1"/>
          <p:nvPr/>
        </p:nvSpPr>
        <p:spPr>
          <a:xfrm>
            <a:off x="2216946" y="2876910"/>
            <a:ext cx="774246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Wirtschaftswachstum:</a:t>
            </a:r>
          </a:p>
        </p:txBody>
      </p:sp>
      <p:sp>
        <p:nvSpPr>
          <p:cNvPr id="88" name="Text SPAN"/>
          <p:cNvSpPr txBox="1"/>
          <p:nvPr/>
        </p:nvSpPr>
        <p:spPr>
          <a:xfrm>
            <a:off x="3187541" y="2876910"/>
            <a:ext cx="22775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2,5 %</a:t>
            </a:r>
          </a:p>
        </p:txBody>
      </p:sp>
      <p:sp>
        <p:nvSpPr>
          <p:cNvPr id="89" name="Text SPAN"/>
          <p:cNvSpPr txBox="1"/>
          <p:nvPr/>
        </p:nvSpPr>
        <p:spPr>
          <a:xfrm>
            <a:off x="2216946" y="2974957"/>
            <a:ext cx="880548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Personalsteigerungsrate:</a:t>
            </a:r>
          </a:p>
        </p:txBody>
      </p:sp>
      <p:sp>
        <p:nvSpPr>
          <p:cNvPr id="90" name="Text SPAN"/>
          <p:cNvSpPr txBox="1"/>
          <p:nvPr/>
        </p:nvSpPr>
        <p:spPr>
          <a:xfrm>
            <a:off x="3187541" y="2974957"/>
            <a:ext cx="22775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3,5 %</a:t>
            </a:r>
          </a:p>
        </p:txBody>
      </p:sp>
      <p:sp>
        <p:nvSpPr>
          <p:cNvPr id="91" name="Text SPAN"/>
          <p:cNvSpPr txBox="1"/>
          <p:nvPr/>
        </p:nvSpPr>
        <p:spPr>
          <a:xfrm>
            <a:off x="2216946" y="3073004"/>
            <a:ext cx="655603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Umsatzwachstum:</a:t>
            </a:r>
          </a:p>
        </p:txBody>
      </p:sp>
      <p:sp>
        <p:nvSpPr>
          <p:cNvPr id="92" name="Text SPAN"/>
          <p:cNvSpPr txBox="1"/>
          <p:nvPr/>
        </p:nvSpPr>
        <p:spPr>
          <a:xfrm>
            <a:off x="3187541" y="3073004"/>
            <a:ext cx="22775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4,5 %</a:t>
            </a:r>
          </a:p>
        </p:txBody>
      </p:sp>
      <p:sp>
        <p:nvSpPr>
          <p:cNvPr id="93" name="Text P"/>
          <p:cNvSpPr txBox="1"/>
          <p:nvPr/>
        </p:nvSpPr>
        <p:spPr>
          <a:xfrm>
            <a:off x="2216946" y="3213989"/>
            <a:ext cx="1495128" cy="1960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72"/>
              </a:lnSpc>
            </a:pPr>
            <a:r>
              <a:rPr sz="600" b="0" i="0" u="none" lang="de-DE">
                <a:solidFill>
                  <a:srgbClr val="1A1A1A"/>
                </a:solidFill>
                <a:latin typeface="Arial"/>
              </a:rPr>
              <a:t>Nutzen Sie den unten stehenden Link, um</a:t>
            </a:r>
          </a:p>
          <a:p>
            <a:pPr algn="l">
              <a:lnSpc>
                <a:spcPts val="772"/>
              </a:lnSpc>
            </a:pPr>
            <a:r>
              <a:rPr sz="600" b="0" i="0" u="none" lang="de-DE">
                <a:solidFill>
                  <a:srgbClr val="1A1A1A"/>
                </a:solidFill>
                <a:latin typeface="Arial"/>
              </a:rPr>
              <a:t>Zugang zum Planungsformular zu erhalten.</a:t>
            </a:r>
          </a:p>
        </p:txBody>
      </p:sp>
      <p:sp>
        <p:nvSpPr>
          <p:cNvPr id="94" name="Text mk-link"/>
          <p:cNvSpPr txBox="1"/>
          <p:nvPr/>
        </p:nvSpPr>
        <p:spPr>
          <a:xfrm>
            <a:off x="2216946" y="3454297"/>
            <a:ext cx="1151879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sng" lang="de-DE">
                <a:solidFill>
                  <a:srgbClr val="3A3F44"/>
                </a:solidFill>
                <a:latin typeface="Arial"/>
              </a:rPr>
              <a:t>Planungsformular Absatzplanung</a:t>
            </a:r>
          </a:p>
        </p:txBody>
      </p:sp>
      <p:sp>
        <p:nvSpPr>
          <p:cNvPr id="95" name="k-veroeffentlichen"/>
          <p:cNvSpPr/>
          <p:nvPr/>
        </p:nvSpPr>
        <p:spPr>
          <a:xfrm>
            <a:off x="89876" y="3701265"/>
            <a:ext cx="1246266" cy="157964"/>
          </a:xfrm>
          <a:prstGeom prst="roundRect">
            <a:avLst>
              <a:gd name="adj" fmla="val 10344"/>
            </a:avLst>
          </a:prstGeom>
          <a:solidFill>
            <a:srgbClr val="3A3F44"/>
          </a:solidFill>
          <a:ln w="5447">
            <a:solidFill>
              <a:srgbClr val="3A3F4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 k-veroeffentlichen"/>
          <p:cNvSpPr txBox="1"/>
          <p:nvPr/>
        </p:nvSpPr>
        <p:spPr>
          <a:xfrm>
            <a:off x="179752" y="3732096"/>
            <a:ext cx="1099196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>
                <a:solidFill>
                  <a:srgbClr val="FFFFFF"/>
                </a:solidFill>
                <a:latin typeface="Arial"/>
              </a:rPr>
              <a:t>Vorgabewerte veröffentlichen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