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417243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aemissen"/>
          <p:cNvSpPr/>
          <p:nvPr/>
        </p:nvSpPr>
        <p:spPr>
          <a:xfrm>
            <a:off x="2724" y="2724"/>
            <a:ext cx="3954553" cy="4166988"/>
          </a:xfrm>
          <a:prstGeom prst="rect">
            <a:avLst/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ie"/>
          <p:cNvCxnSpPr/>
          <p:nvPr/>
        </p:nvCxnSpPr>
        <p:spPr>
          <a:xfrm>
            <a:off x="87153" y="384017"/>
            <a:ext cx="3785694" cy="0"/>
          </a:xfrm>
          <a:prstGeom prst="line">
            <a:avLst/>
          </a:prstGeom>
          <a:ln w="5447">
            <a:solidFill>
              <a:srgbClr val="D9D9D9"/>
            </a:solidFill>
          </a:ln>
        </p:spPr>
      </p:cxnSp>
      <p:sp>
        <p:nvSpPr>
          <p:cNvPr id="4" name="Text kopf-titel"/>
          <p:cNvSpPr txBox="1"/>
          <p:nvPr/>
        </p:nvSpPr>
        <p:spPr>
          <a:xfrm>
            <a:off x="87153" y="66236"/>
            <a:ext cx="1111452" cy="136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44" b="1" i="0" u="none" lang="de-DE">
                <a:solidFill>
                  <a:srgbClr val="1A1A1A"/>
                </a:solidFill>
                <a:latin typeface="Arial"/>
              </a:rPr>
              <a:t>Planungsvorgaben</a:t>
            </a:r>
          </a:p>
        </p:txBody>
      </p:sp>
      <p:sp>
        <p:nvSpPr>
          <p:cNvPr id="5" name="Text kopf-unter"/>
          <p:cNvSpPr txBox="1"/>
          <p:nvPr/>
        </p:nvSpPr>
        <p:spPr>
          <a:xfrm>
            <a:off x="87153" y="229647"/>
            <a:ext cx="113519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Budget 2028 · Stand 30.06.2027</a:t>
            </a:r>
          </a:p>
        </p:txBody>
      </p:sp>
      <p:sp>
        <p:nvSpPr>
          <p:cNvPr id="6" name="band-allgemein"/>
          <p:cNvSpPr/>
          <p:nvPr/>
        </p:nvSpPr>
        <p:spPr>
          <a:xfrm>
            <a:off x="87153" y="462999"/>
            <a:ext cx="3785695" cy="14162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band-allgemein"/>
          <p:cNvSpPr txBox="1"/>
          <p:nvPr/>
        </p:nvSpPr>
        <p:spPr>
          <a:xfrm>
            <a:off x="130729" y="485658"/>
            <a:ext cx="147785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 spc="12">
                <a:solidFill>
                  <a:srgbClr val="3A3F44"/>
                </a:solidFill>
                <a:latin typeface="Arial"/>
              </a:rPr>
              <a:t>ALLGEMEINE PLANUNGSPRÄMISSEN</a:t>
            </a:r>
          </a:p>
        </p:txBody>
      </p:sp>
      <p:sp>
        <p:nvSpPr>
          <p:cNvPr id="8" name="Text mk-label"/>
          <p:cNvSpPr txBox="1"/>
          <p:nvPr/>
        </p:nvSpPr>
        <p:spPr>
          <a:xfrm>
            <a:off x="87153" y="681752"/>
            <a:ext cx="73220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Aktuelles Budgetjahr</a:t>
            </a:r>
          </a:p>
        </p:txBody>
      </p:sp>
      <p:sp>
        <p:nvSpPr>
          <p:cNvPr id="9" name="f-budgetjahr"/>
          <p:cNvSpPr/>
          <p:nvPr/>
        </p:nvSpPr>
        <p:spPr>
          <a:xfrm>
            <a:off x="1004979" y="661816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SPAN"/>
          <p:cNvSpPr txBox="1"/>
          <p:nvPr/>
        </p:nvSpPr>
        <p:spPr>
          <a:xfrm>
            <a:off x="1045832" y="681752"/>
            <a:ext cx="46521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Budget 2028</a:t>
            </a:r>
          </a:p>
        </p:txBody>
      </p:sp>
      <p:sp>
        <p:nvSpPr>
          <p:cNvPr id="11" name="Form"/>
          <p:cNvSpPr/>
          <p:nvPr/>
        </p:nvSpPr>
        <p:spPr>
          <a:xfrm>
            <a:off x="1950041" y="719010"/>
            <a:ext cx="43577" cy="27235"/>
          </a:xfrm>
          <a:custGeom>
            <a:avLst/>
            <a:gdLst/>
            <a:ahLst/>
            <a:cxnLst/>
            <a:rect l="l" t="t" r="r" b="b"/>
            <a:pathLst>
              <a:path w="43577" h="27235">
                <a:moveTo>
                  <a:pt x="0" y="0"/>
                </a:moveTo>
                <a:lnTo>
                  <a:pt x="43577" y="0"/>
                </a:lnTo>
                <a:lnTo>
                  <a:pt x="21788" y="27235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einheit"/>
          <p:cNvSpPr txBox="1"/>
          <p:nvPr/>
        </p:nvSpPr>
        <p:spPr>
          <a:xfrm>
            <a:off x="87153" y="899634"/>
            <a:ext cx="52002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Prämisse in %</a:t>
            </a:r>
          </a:p>
        </p:txBody>
      </p:sp>
      <p:sp>
        <p:nvSpPr>
          <p:cNvPr id="13" name="sp-1"/>
          <p:cNvSpPr/>
          <p:nvPr/>
        </p:nvSpPr>
        <p:spPr>
          <a:xfrm>
            <a:off x="1004979" y="879697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SPAN"/>
          <p:cNvSpPr txBox="1"/>
          <p:nvPr/>
        </p:nvSpPr>
        <p:spPr>
          <a:xfrm>
            <a:off x="1045832" y="899634"/>
            <a:ext cx="34222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Standard</a:t>
            </a:r>
          </a:p>
        </p:txBody>
      </p:sp>
      <p:sp>
        <p:nvSpPr>
          <p:cNvPr id="15" name="Form"/>
          <p:cNvSpPr/>
          <p:nvPr/>
        </p:nvSpPr>
        <p:spPr>
          <a:xfrm>
            <a:off x="1950041" y="936891"/>
            <a:ext cx="43577" cy="27236"/>
          </a:xfrm>
          <a:custGeom>
            <a:avLst/>
            <a:gdLst/>
            <a:ahLst/>
            <a:cxnLst/>
            <a:rect l="l" t="t" r="r" b="b"/>
            <a:pathLst>
              <a:path w="43577" h="27236">
                <a:moveTo>
                  <a:pt x="0" y="0"/>
                </a:moveTo>
                <a:lnTo>
                  <a:pt x="43577" y="0"/>
                </a:lnTo>
                <a:lnTo>
                  <a:pt x="21788" y="27236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p-2"/>
          <p:cNvSpPr/>
          <p:nvPr/>
        </p:nvSpPr>
        <p:spPr>
          <a:xfrm>
            <a:off x="2159752" y="879697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SPAN"/>
          <p:cNvSpPr txBox="1"/>
          <p:nvPr/>
        </p:nvSpPr>
        <p:spPr>
          <a:xfrm>
            <a:off x="2200605" y="899634"/>
            <a:ext cx="38452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Best Case</a:t>
            </a:r>
          </a:p>
        </p:txBody>
      </p:sp>
      <p:sp>
        <p:nvSpPr>
          <p:cNvPr id="18" name="Form"/>
          <p:cNvSpPr/>
          <p:nvPr/>
        </p:nvSpPr>
        <p:spPr>
          <a:xfrm>
            <a:off x="2897827" y="936891"/>
            <a:ext cx="43576" cy="27236"/>
          </a:xfrm>
          <a:custGeom>
            <a:avLst/>
            <a:gdLst/>
            <a:ahLst/>
            <a:cxnLst/>
            <a:rect l="l" t="t" r="r" b="b"/>
            <a:pathLst>
              <a:path w="43576" h="27236">
                <a:moveTo>
                  <a:pt x="0" y="0"/>
                </a:moveTo>
                <a:lnTo>
                  <a:pt x="43576" y="0"/>
                </a:lnTo>
                <a:lnTo>
                  <a:pt x="21788" y="27236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p-3"/>
          <p:cNvSpPr/>
          <p:nvPr/>
        </p:nvSpPr>
        <p:spPr>
          <a:xfrm>
            <a:off x="3036726" y="879697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SPAN"/>
          <p:cNvSpPr txBox="1"/>
          <p:nvPr/>
        </p:nvSpPr>
        <p:spPr>
          <a:xfrm>
            <a:off x="3077579" y="899634"/>
            <a:ext cx="429635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Worst Case</a:t>
            </a:r>
          </a:p>
        </p:txBody>
      </p:sp>
      <p:sp>
        <p:nvSpPr>
          <p:cNvPr id="21" name="Form"/>
          <p:cNvSpPr/>
          <p:nvPr/>
        </p:nvSpPr>
        <p:spPr>
          <a:xfrm>
            <a:off x="3774801" y="936891"/>
            <a:ext cx="43576" cy="27236"/>
          </a:xfrm>
          <a:custGeom>
            <a:avLst/>
            <a:gdLst/>
            <a:ahLst/>
            <a:cxnLst/>
            <a:rect l="l" t="t" r="r" b="b"/>
            <a:pathLst>
              <a:path w="43576" h="27236">
                <a:moveTo>
                  <a:pt x="0" y="0"/>
                </a:moveTo>
                <a:lnTo>
                  <a:pt x="43576" y="0"/>
                </a:lnTo>
                <a:lnTo>
                  <a:pt x="21788" y="27236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l-p0"/>
          <p:cNvSpPr txBox="1"/>
          <p:nvPr/>
        </p:nvSpPr>
        <p:spPr>
          <a:xfrm>
            <a:off x="87153" y="1063045"/>
            <a:ext cx="46938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Inflationsrate</a:t>
            </a:r>
          </a:p>
        </p:txBody>
      </p:sp>
      <p:sp>
        <p:nvSpPr>
          <p:cNvPr id="23" name="p0-0"/>
          <p:cNvSpPr/>
          <p:nvPr/>
        </p:nvSpPr>
        <p:spPr>
          <a:xfrm>
            <a:off x="1004979" y="1043109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p0-0"/>
          <p:cNvSpPr txBox="1"/>
          <p:nvPr/>
        </p:nvSpPr>
        <p:spPr>
          <a:xfrm>
            <a:off x="1865782" y="1063045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1,2</a:t>
            </a:r>
          </a:p>
        </p:txBody>
      </p:sp>
      <p:sp>
        <p:nvSpPr>
          <p:cNvPr id="25" name="p0-1"/>
          <p:cNvSpPr/>
          <p:nvPr/>
        </p:nvSpPr>
        <p:spPr>
          <a:xfrm>
            <a:off x="2159752" y="1043109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0-2"/>
          <p:cNvSpPr/>
          <p:nvPr/>
        </p:nvSpPr>
        <p:spPr>
          <a:xfrm>
            <a:off x="3036726" y="1043109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 l-p1"/>
          <p:cNvSpPr txBox="1"/>
          <p:nvPr/>
        </p:nvSpPr>
        <p:spPr>
          <a:xfrm>
            <a:off x="87153" y="1226456"/>
            <a:ext cx="75305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Wirtschaftswachstum</a:t>
            </a:r>
          </a:p>
        </p:txBody>
      </p:sp>
      <p:sp>
        <p:nvSpPr>
          <p:cNvPr id="28" name="p1-0"/>
          <p:cNvSpPr/>
          <p:nvPr/>
        </p:nvSpPr>
        <p:spPr>
          <a:xfrm>
            <a:off x="1004979" y="1206520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 p1-0"/>
          <p:cNvSpPr txBox="1"/>
          <p:nvPr/>
        </p:nvSpPr>
        <p:spPr>
          <a:xfrm>
            <a:off x="1865782" y="1226456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2,5</a:t>
            </a:r>
          </a:p>
        </p:txBody>
      </p:sp>
      <p:sp>
        <p:nvSpPr>
          <p:cNvPr id="30" name="p1-1"/>
          <p:cNvSpPr/>
          <p:nvPr/>
        </p:nvSpPr>
        <p:spPr>
          <a:xfrm>
            <a:off x="2159752" y="1206520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1-2"/>
          <p:cNvSpPr/>
          <p:nvPr/>
        </p:nvSpPr>
        <p:spPr>
          <a:xfrm>
            <a:off x="3036726" y="1206520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 l-p2"/>
          <p:cNvSpPr txBox="1"/>
          <p:nvPr/>
        </p:nvSpPr>
        <p:spPr>
          <a:xfrm>
            <a:off x="87153" y="1389867"/>
            <a:ext cx="859356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Personalsteigerungsrate</a:t>
            </a:r>
          </a:p>
        </p:txBody>
      </p:sp>
      <p:sp>
        <p:nvSpPr>
          <p:cNvPr id="33" name="p2-0"/>
          <p:cNvSpPr/>
          <p:nvPr/>
        </p:nvSpPr>
        <p:spPr>
          <a:xfrm>
            <a:off x="1004979" y="1369931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 p2-0"/>
          <p:cNvSpPr txBox="1"/>
          <p:nvPr/>
        </p:nvSpPr>
        <p:spPr>
          <a:xfrm>
            <a:off x="1865782" y="1389867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3,5</a:t>
            </a:r>
          </a:p>
        </p:txBody>
      </p:sp>
      <p:sp>
        <p:nvSpPr>
          <p:cNvPr id="35" name="p2-1"/>
          <p:cNvSpPr/>
          <p:nvPr/>
        </p:nvSpPr>
        <p:spPr>
          <a:xfrm>
            <a:off x="2159752" y="1369931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2-2"/>
          <p:cNvSpPr/>
          <p:nvPr/>
        </p:nvSpPr>
        <p:spPr>
          <a:xfrm>
            <a:off x="3036726" y="1369931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 l-p3"/>
          <p:cNvSpPr txBox="1"/>
          <p:nvPr/>
        </p:nvSpPr>
        <p:spPr>
          <a:xfrm>
            <a:off x="87153" y="1553279"/>
            <a:ext cx="634410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Umsatzwachstum</a:t>
            </a:r>
          </a:p>
        </p:txBody>
      </p:sp>
      <p:sp>
        <p:nvSpPr>
          <p:cNvPr id="38" name="p3-0"/>
          <p:cNvSpPr/>
          <p:nvPr/>
        </p:nvSpPr>
        <p:spPr>
          <a:xfrm>
            <a:off x="1004979" y="1533343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 p3-0"/>
          <p:cNvSpPr txBox="1"/>
          <p:nvPr/>
        </p:nvSpPr>
        <p:spPr>
          <a:xfrm>
            <a:off x="1865782" y="1553279"/>
            <a:ext cx="13872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4,5</a:t>
            </a:r>
          </a:p>
        </p:txBody>
      </p:sp>
      <p:sp>
        <p:nvSpPr>
          <p:cNvPr id="40" name="p3-1"/>
          <p:cNvSpPr/>
          <p:nvPr/>
        </p:nvSpPr>
        <p:spPr>
          <a:xfrm>
            <a:off x="2159752" y="1533343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3-2"/>
          <p:cNvSpPr/>
          <p:nvPr/>
        </p:nvSpPr>
        <p:spPr>
          <a:xfrm>
            <a:off x="3036726" y="1533343"/>
            <a:ext cx="833398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and-teilplaene"/>
          <p:cNvSpPr/>
          <p:nvPr/>
        </p:nvSpPr>
        <p:spPr>
          <a:xfrm>
            <a:off x="87153" y="1770289"/>
            <a:ext cx="3785695" cy="14162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 band-teilplaene"/>
          <p:cNvSpPr txBox="1"/>
          <p:nvPr/>
        </p:nvSpPr>
        <p:spPr>
          <a:xfrm>
            <a:off x="130729" y="1792949"/>
            <a:ext cx="158406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 spc="12">
                <a:solidFill>
                  <a:srgbClr val="3A3F44"/>
                </a:solidFill>
                <a:latin typeface="Arial"/>
              </a:rPr>
              <a:t>PLANUNGSPRÄMISSEN FÜR TEILPLÄNE</a:t>
            </a:r>
          </a:p>
        </p:txBody>
      </p:sp>
      <p:sp>
        <p:nvSpPr>
          <p:cNvPr id="44" name="Text mk-label"/>
          <p:cNvSpPr txBox="1"/>
          <p:nvPr/>
        </p:nvSpPr>
        <p:spPr>
          <a:xfrm>
            <a:off x="87153" y="1989042"/>
            <a:ext cx="29133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Teilplan</a:t>
            </a:r>
          </a:p>
        </p:txBody>
      </p:sp>
      <p:sp>
        <p:nvSpPr>
          <p:cNvPr id="45" name="f-teilplan"/>
          <p:cNvSpPr/>
          <p:nvPr/>
        </p:nvSpPr>
        <p:spPr>
          <a:xfrm>
            <a:off x="1004979" y="1969106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 SPAN"/>
          <p:cNvSpPr txBox="1"/>
          <p:nvPr/>
        </p:nvSpPr>
        <p:spPr>
          <a:xfrm>
            <a:off x="1045832" y="1989042"/>
            <a:ext cx="537300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Absatzplanung</a:t>
            </a:r>
          </a:p>
        </p:txBody>
      </p:sp>
      <p:sp>
        <p:nvSpPr>
          <p:cNvPr id="47" name="Form"/>
          <p:cNvSpPr/>
          <p:nvPr/>
        </p:nvSpPr>
        <p:spPr>
          <a:xfrm>
            <a:off x="1950041" y="2026300"/>
            <a:ext cx="43577" cy="27235"/>
          </a:xfrm>
          <a:custGeom>
            <a:avLst/>
            <a:gdLst/>
            <a:ahLst/>
            <a:cxnLst/>
            <a:rect l="l" t="t" r="r" b="b"/>
            <a:pathLst>
              <a:path w="43577" h="27235">
                <a:moveTo>
                  <a:pt x="0" y="0"/>
                </a:moveTo>
                <a:lnTo>
                  <a:pt x="43577" y="0"/>
                </a:lnTo>
                <a:lnTo>
                  <a:pt x="21788" y="27235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 mk-label"/>
          <p:cNvSpPr txBox="1"/>
          <p:nvPr/>
        </p:nvSpPr>
        <p:spPr>
          <a:xfrm>
            <a:off x="87153" y="2152453"/>
            <a:ext cx="64309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Planungszeitraum</a:t>
            </a:r>
          </a:p>
        </p:txBody>
      </p:sp>
      <p:sp>
        <p:nvSpPr>
          <p:cNvPr id="49" name="f-von"/>
          <p:cNvSpPr/>
          <p:nvPr/>
        </p:nvSpPr>
        <p:spPr>
          <a:xfrm>
            <a:off x="1004979" y="2132517"/>
            <a:ext cx="436019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 f-von"/>
          <p:cNvSpPr txBox="1"/>
          <p:nvPr/>
        </p:nvSpPr>
        <p:spPr>
          <a:xfrm>
            <a:off x="1015788" y="2152453"/>
            <a:ext cx="41440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14.09.2027</a:t>
            </a:r>
          </a:p>
        </p:txBody>
      </p:sp>
      <p:sp>
        <p:nvSpPr>
          <p:cNvPr id="51" name="Text mk-zwischen"/>
          <p:cNvSpPr txBox="1"/>
          <p:nvPr/>
        </p:nvSpPr>
        <p:spPr>
          <a:xfrm>
            <a:off x="1476404" y="2152453"/>
            <a:ext cx="13021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4D4D4D"/>
                </a:solidFill>
                <a:latin typeface="Arial"/>
              </a:rPr>
              <a:t>bis</a:t>
            </a:r>
          </a:p>
        </p:txBody>
      </p:sp>
      <p:sp>
        <p:nvSpPr>
          <p:cNvPr id="52" name="f-bis"/>
          <p:cNvSpPr/>
          <p:nvPr/>
        </p:nvSpPr>
        <p:spPr>
          <a:xfrm>
            <a:off x="1609346" y="2132517"/>
            <a:ext cx="436019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 f-bis"/>
          <p:cNvSpPr txBox="1"/>
          <p:nvPr/>
        </p:nvSpPr>
        <p:spPr>
          <a:xfrm>
            <a:off x="1620155" y="2152453"/>
            <a:ext cx="41440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 u="none" lang="de-DE">
                <a:solidFill>
                  <a:srgbClr val="1A1A1A"/>
                </a:solidFill>
                <a:latin typeface="Arial"/>
              </a:rPr>
              <a:t>25.09.2027</a:t>
            </a:r>
          </a:p>
        </p:txBody>
      </p:sp>
      <p:sp>
        <p:nvSpPr>
          <p:cNvPr id="54" name="Text mk-label"/>
          <p:cNvSpPr txBox="1"/>
          <p:nvPr/>
        </p:nvSpPr>
        <p:spPr>
          <a:xfrm>
            <a:off x="87153" y="2315865"/>
            <a:ext cx="31107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Variante</a:t>
            </a:r>
          </a:p>
        </p:txBody>
      </p:sp>
      <p:sp>
        <p:nvSpPr>
          <p:cNvPr id="55" name="f-variante"/>
          <p:cNvSpPr/>
          <p:nvPr/>
        </p:nvSpPr>
        <p:spPr>
          <a:xfrm>
            <a:off x="1004979" y="2295928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 SPAN"/>
          <p:cNvSpPr txBox="1"/>
          <p:nvPr/>
        </p:nvSpPr>
        <p:spPr>
          <a:xfrm>
            <a:off x="1045832" y="2315865"/>
            <a:ext cx="342227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Standard</a:t>
            </a:r>
          </a:p>
        </p:txBody>
      </p:sp>
      <p:sp>
        <p:nvSpPr>
          <p:cNvPr id="57" name="Form"/>
          <p:cNvSpPr/>
          <p:nvPr/>
        </p:nvSpPr>
        <p:spPr>
          <a:xfrm>
            <a:off x="1950041" y="2353122"/>
            <a:ext cx="43577" cy="27236"/>
          </a:xfrm>
          <a:custGeom>
            <a:avLst/>
            <a:gdLst/>
            <a:ahLst/>
            <a:cxnLst/>
            <a:rect l="l" t="t" r="r" b="b"/>
            <a:pathLst>
              <a:path w="43577" h="27236">
                <a:moveTo>
                  <a:pt x="0" y="0"/>
                </a:moveTo>
                <a:lnTo>
                  <a:pt x="43577" y="0"/>
                </a:lnTo>
                <a:lnTo>
                  <a:pt x="21788" y="27236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8" name="Linie"/>
          <p:cNvCxnSpPr/>
          <p:nvPr/>
        </p:nvCxnSpPr>
        <p:spPr>
          <a:xfrm>
            <a:off x="87153" y="2628198"/>
            <a:ext cx="1960935" cy="0"/>
          </a:xfrm>
          <a:prstGeom prst="line">
            <a:avLst/>
          </a:prstGeom>
          <a:ln w="5447">
            <a:solidFill>
              <a:srgbClr val="9A9A9A"/>
            </a:solidFill>
          </a:ln>
        </p:spPr>
      </p:cxnSp>
      <p:sp>
        <p:nvSpPr>
          <p:cNvPr id="59" name="Text mk-gruppenkopf"/>
          <p:cNvSpPr txBox="1"/>
          <p:nvPr/>
        </p:nvSpPr>
        <p:spPr>
          <a:xfrm>
            <a:off x="87153" y="2501064"/>
            <a:ext cx="143521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Ansprechpartner Zentrales Controlling</a:t>
            </a:r>
          </a:p>
        </p:txBody>
      </p:sp>
      <p:sp>
        <p:nvSpPr>
          <p:cNvPr id="60" name="Text mk-label"/>
          <p:cNvSpPr txBox="1"/>
          <p:nvPr/>
        </p:nvSpPr>
        <p:spPr>
          <a:xfrm>
            <a:off x="87153" y="2686264"/>
            <a:ext cx="236180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Name</a:t>
            </a:r>
          </a:p>
        </p:txBody>
      </p:sp>
      <p:sp>
        <p:nvSpPr>
          <p:cNvPr id="61" name="f-name"/>
          <p:cNvSpPr/>
          <p:nvPr/>
        </p:nvSpPr>
        <p:spPr>
          <a:xfrm>
            <a:off x="1004979" y="2666327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447">
            <a:solidFill>
              <a:srgbClr val="9A9A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 SPAN"/>
          <p:cNvSpPr txBox="1"/>
          <p:nvPr/>
        </p:nvSpPr>
        <p:spPr>
          <a:xfrm>
            <a:off x="1045832" y="2686264"/>
            <a:ext cx="42972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Frau Wendt</a:t>
            </a:r>
          </a:p>
        </p:txBody>
      </p:sp>
      <p:sp>
        <p:nvSpPr>
          <p:cNvPr id="63" name="Form"/>
          <p:cNvSpPr/>
          <p:nvPr/>
        </p:nvSpPr>
        <p:spPr>
          <a:xfrm>
            <a:off x="1950041" y="2723521"/>
            <a:ext cx="43577" cy="27236"/>
          </a:xfrm>
          <a:custGeom>
            <a:avLst/>
            <a:gdLst/>
            <a:ahLst/>
            <a:cxnLst/>
            <a:rect l="l" t="t" r="r" b="b"/>
            <a:pathLst>
              <a:path w="43577" h="27236">
                <a:moveTo>
                  <a:pt x="0" y="0"/>
                </a:moveTo>
                <a:lnTo>
                  <a:pt x="43577" y="0"/>
                </a:lnTo>
                <a:lnTo>
                  <a:pt x="21788" y="27236"/>
                </a:lnTo>
                <a:close/>
              </a:path>
            </a:pathLst>
          </a:cu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 mk-label"/>
          <p:cNvSpPr txBox="1"/>
          <p:nvPr/>
        </p:nvSpPr>
        <p:spPr>
          <a:xfrm>
            <a:off x="87153" y="2849675"/>
            <a:ext cx="55398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E-Mail-Adresse</a:t>
            </a:r>
          </a:p>
        </p:txBody>
      </p:sp>
      <p:sp>
        <p:nvSpPr>
          <p:cNvPr id="65" name="f-email"/>
          <p:cNvSpPr/>
          <p:nvPr/>
        </p:nvSpPr>
        <p:spPr>
          <a:xfrm>
            <a:off x="1004979" y="2829739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 f-email"/>
          <p:cNvSpPr txBox="1"/>
          <p:nvPr/>
        </p:nvSpPr>
        <p:spPr>
          <a:xfrm>
            <a:off x="1045832" y="2849675"/>
            <a:ext cx="91118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controlling@example.com</a:t>
            </a:r>
          </a:p>
        </p:txBody>
      </p:sp>
      <p:sp>
        <p:nvSpPr>
          <p:cNvPr id="67" name="Text mk-label"/>
          <p:cNvSpPr txBox="1"/>
          <p:nvPr/>
        </p:nvSpPr>
        <p:spPr>
          <a:xfrm>
            <a:off x="87153" y="3013086"/>
            <a:ext cx="278650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Telefon</a:t>
            </a:r>
          </a:p>
        </p:txBody>
      </p:sp>
      <p:sp>
        <p:nvSpPr>
          <p:cNvPr id="68" name="f-telefon"/>
          <p:cNvSpPr/>
          <p:nvPr/>
        </p:nvSpPr>
        <p:spPr>
          <a:xfrm>
            <a:off x="1004979" y="2993150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 f-telefon"/>
          <p:cNvSpPr txBox="1"/>
          <p:nvPr/>
        </p:nvSpPr>
        <p:spPr>
          <a:xfrm>
            <a:off x="1045832" y="3013086"/>
            <a:ext cx="653986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+49 30 23125-254</a:t>
            </a:r>
          </a:p>
        </p:txBody>
      </p:sp>
      <p:cxnSp>
        <p:nvCxnSpPr>
          <p:cNvPr id="70" name="Linie"/>
          <p:cNvCxnSpPr/>
          <p:nvPr/>
        </p:nvCxnSpPr>
        <p:spPr>
          <a:xfrm>
            <a:off x="87153" y="3325420"/>
            <a:ext cx="1960935" cy="0"/>
          </a:xfrm>
          <a:prstGeom prst="line">
            <a:avLst/>
          </a:prstGeom>
          <a:ln w="5447">
            <a:solidFill>
              <a:srgbClr val="9A9A9A"/>
            </a:solidFill>
          </a:ln>
        </p:spPr>
      </p:cxnSp>
      <p:sp>
        <p:nvSpPr>
          <p:cNvPr id="71" name="Text mk-gruppenkopf"/>
          <p:cNvSpPr txBox="1"/>
          <p:nvPr/>
        </p:nvSpPr>
        <p:spPr>
          <a:xfrm>
            <a:off x="87153" y="3198286"/>
            <a:ext cx="44793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Dokumente</a:t>
            </a:r>
          </a:p>
        </p:txBody>
      </p:sp>
      <p:sp>
        <p:nvSpPr>
          <p:cNvPr id="72" name="Text mk-label"/>
          <p:cNvSpPr txBox="1"/>
          <p:nvPr/>
        </p:nvSpPr>
        <p:spPr>
          <a:xfrm>
            <a:off x="87153" y="3383485"/>
            <a:ext cx="630410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Planungsformular</a:t>
            </a:r>
          </a:p>
        </p:txBody>
      </p:sp>
      <p:sp>
        <p:nvSpPr>
          <p:cNvPr id="73" name="f-formular"/>
          <p:cNvSpPr/>
          <p:nvPr/>
        </p:nvSpPr>
        <p:spPr>
          <a:xfrm>
            <a:off x="1004979" y="3363549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 mk-link"/>
          <p:cNvSpPr txBox="1"/>
          <p:nvPr/>
        </p:nvSpPr>
        <p:spPr>
          <a:xfrm>
            <a:off x="1045832" y="3383485"/>
            <a:ext cx="67577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sng" lang="de-DE">
                <a:solidFill>
                  <a:srgbClr val="3A3F44"/>
                </a:solidFill>
                <a:latin typeface="Arial"/>
              </a:rPr>
              <a:t>Zugangslink öffnen</a:t>
            </a:r>
          </a:p>
        </p:txBody>
      </p:sp>
      <p:sp>
        <p:nvSpPr>
          <p:cNvPr id="75" name="Text mk-label"/>
          <p:cNvSpPr txBox="1"/>
          <p:nvPr/>
        </p:nvSpPr>
        <p:spPr>
          <a:xfrm>
            <a:off x="87153" y="3546896"/>
            <a:ext cx="68573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Planungshandbuch</a:t>
            </a:r>
          </a:p>
        </p:txBody>
      </p:sp>
      <p:sp>
        <p:nvSpPr>
          <p:cNvPr id="76" name="f-handbuch"/>
          <p:cNvSpPr/>
          <p:nvPr/>
        </p:nvSpPr>
        <p:spPr>
          <a:xfrm>
            <a:off x="1004979" y="3526960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 mk-link"/>
          <p:cNvSpPr txBox="1"/>
          <p:nvPr/>
        </p:nvSpPr>
        <p:spPr>
          <a:xfrm>
            <a:off x="1045832" y="3546896"/>
            <a:ext cx="67577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sng" lang="de-DE">
                <a:solidFill>
                  <a:srgbClr val="3A3F44"/>
                </a:solidFill>
                <a:latin typeface="Arial"/>
              </a:rPr>
              <a:t>Zugangslink öffnen</a:t>
            </a:r>
          </a:p>
        </p:txBody>
      </p:sp>
      <p:sp>
        <p:nvSpPr>
          <p:cNvPr id="78" name="Text mk-label"/>
          <p:cNvSpPr txBox="1"/>
          <p:nvPr/>
        </p:nvSpPr>
        <p:spPr>
          <a:xfrm>
            <a:off x="87153" y="3710308"/>
            <a:ext cx="66445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Anwenderleitfaden</a:t>
            </a:r>
          </a:p>
        </p:txBody>
      </p:sp>
      <p:sp>
        <p:nvSpPr>
          <p:cNvPr id="79" name="f-leitfaden"/>
          <p:cNvSpPr/>
          <p:nvPr/>
        </p:nvSpPr>
        <p:spPr>
          <a:xfrm>
            <a:off x="1004979" y="3690371"/>
            <a:ext cx="1040385" cy="136176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 mk-link"/>
          <p:cNvSpPr txBox="1"/>
          <p:nvPr/>
        </p:nvSpPr>
        <p:spPr>
          <a:xfrm>
            <a:off x="1045832" y="3710308"/>
            <a:ext cx="612111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sng" lang="de-DE">
                <a:solidFill>
                  <a:srgbClr val="3A3F44"/>
                </a:solidFill>
                <a:latin typeface="Arial"/>
              </a:rPr>
              <a:t>Dokument öffnen</a:t>
            </a:r>
          </a:p>
        </p:txBody>
      </p:sp>
      <p:cxnSp>
        <p:nvCxnSpPr>
          <p:cNvPr id="81" name="Linie"/>
          <p:cNvCxnSpPr/>
          <p:nvPr/>
        </p:nvCxnSpPr>
        <p:spPr>
          <a:xfrm>
            <a:off x="2157029" y="2094388"/>
            <a:ext cx="1715818" cy="0"/>
          </a:xfrm>
          <a:prstGeom prst="line">
            <a:avLst/>
          </a:prstGeom>
          <a:ln w="5447">
            <a:solidFill>
              <a:srgbClr val="9A9A9A"/>
            </a:solidFill>
          </a:ln>
        </p:spPr>
      </p:cxnSp>
      <p:sp>
        <p:nvSpPr>
          <p:cNvPr id="82" name="Text brief-kopf"/>
          <p:cNvSpPr txBox="1"/>
          <p:nvPr/>
        </p:nvSpPr>
        <p:spPr>
          <a:xfrm>
            <a:off x="2157029" y="1967254"/>
            <a:ext cx="1494532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1A1A1A"/>
                </a:solidFill>
                <a:latin typeface="Arial"/>
              </a:rPr>
              <a:t>Planungsbrief für Key-Account-Manager</a:t>
            </a:r>
          </a:p>
        </p:txBody>
      </p:sp>
      <p:sp>
        <p:nvSpPr>
          <p:cNvPr id="83" name="brief"/>
          <p:cNvSpPr/>
          <p:nvPr/>
        </p:nvSpPr>
        <p:spPr>
          <a:xfrm>
            <a:off x="2159752" y="2132517"/>
            <a:ext cx="1710371" cy="1694030"/>
          </a:xfrm>
          <a:prstGeom prst="roundRect">
            <a:avLst>
              <a:gd name="adj" fmla="val 643"/>
            </a:avLst>
          </a:prstGeom>
          <a:solidFill>
            <a:srgbClr val="EFEFEF"/>
          </a:solidFill>
          <a:ln w="5447">
            <a:solidFill>
              <a:srgbClr val="EFEF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 P"/>
          <p:cNvSpPr txBox="1"/>
          <p:nvPr/>
        </p:nvSpPr>
        <p:spPr>
          <a:xfrm>
            <a:off x="2216946" y="2179689"/>
            <a:ext cx="146108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Sehr geehrte(r) Key-Account-Manager(in),</a:t>
            </a:r>
          </a:p>
        </p:txBody>
      </p:sp>
      <p:sp>
        <p:nvSpPr>
          <p:cNvPr id="85" name="Text P"/>
          <p:cNvSpPr txBox="1"/>
          <p:nvPr/>
        </p:nvSpPr>
        <p:spPr>
          <a:xfrm>
            <a:off x="2216946" y="2320674"/>
            <a:ext cx="1579898" cy="392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Sie werden gebeten, die Absatzplanung für</a:t>
            </a:r>
          </a:p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das Budget 2028 vorzunehmen. Der Zeitraum</a:t>
            </a:r>
          </a:p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für die Planung ist vom 14.09.2027 bis zum</a:t>
            </a:r>
          </a:p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25.09.2027 vorgesehen.</a:t>
            </a:r>
          </a:p>
        </p:txBody>
      </p:sp>
      <p:sp>
        <p:nvSpPr>
          <p:cNvPr id="86" name="Text P"/>
          <p:cNvSpPr txBox="1"/>
          <p:nvPr/>
        </p:nvSpPr>
        <p:spPr>
          <a:xfrm>
            <a:off x="2216946" y="2756438"/>
            <a:ext cx="1457169" cy="1960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Für das Planjahr 2028 gehen Sie bitte von</a:t>
            </a:r>
          </a:p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folgenden Rahmenbedingungen aus:</a:t>
            </a:r>
          </a:p>
        </p:txBody>
      </p:sp>
      <p:sp>
        <p:nvSpPr>
          <p:cNvPr id="87" name="Text SPAN"/>
          <p:cNvSpPr txBox="1"/>
          <p:nvPr/>
        </p:nvSpPr>
        <p:spPr>
          <a:xfrm>
            <a:off x="2216946" y="2996745"/>
            <a:ext cx="49057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Inflationsrate:</a:t>
            </a:r>
          </a:p>
        </p:txBody>
      </p:sp>
      <p:sp>
        <p:nvSpPr>
          <p:cNvPr id="88" name="Text SPAN"/>
          <p:cNvSpPr txBox="1"/>
          <p:nvPr/>
        </p:nvSpPr>
        <p:spPr>
          <a:xfrm>
            <a:off x="3187541" y="2996745"/>
            <a:ext cx="22775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1,2 %</a:t>
            </a:r>
          </a:p>
        </p:txBody>
      </p:sp>
      <p:sp>
        <p:nvSpPr>
          <p:cNvPr id="89" name="Text SPAN"/>
          <p:cNvSpPr txBox="1"/>
          <p:nvPr/>
        </p:nvSpPr>
        <p:spPr>
          <a:xfrm>
            <a:off x="2216946" y="3094792"/>
            <a:ext cx="774246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Wirtschaftswachstum:</a:t>
            </a:r>
          </a:p>
        </p:txBody>
      </p:sp>
      <p:sp>
        <p:nvSpPr>
          <p:cNvPr id="90" name="Text SPAN"/>
          <p:cNvSpPr txBox="1"/>
          <p:nvPr/>
        </p:nvSpPr>
        <p:spPr>
          <a:xfrm>
            <a:off x="3187541" y="3094792"/>
            <a:ext cx="22775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2,5 %</a:t>
            </a:r>
          </a:p>
        </p:txBody>
      </p:sp>
      <p:sp>
        <p:nvSpPr>
          <p:cNvPr id="91" name="Text SPAN"/>
          <p:cNvSpPr txBox="1"/>
          <p:nvPr/>
        </p:nvSpPr>
        <p:spPr>
          <a:xfrm>
            <a:off x="2216946" y="3192839"/>
            <a:ext cx="880548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Personalsteigerungsrate:</a:t>
            </a:r>
          </a:p>
        </p:txBody>
      </p:sp>
      <p:sp>
        <p:nvSpPr>
          <p:cNvPr id="92" name="Text SPAN"/>
          <p:cNvSpPr txBox="1"/>
          <p:nvPr/>
        </p:nvSpPr>
        <p:spPr>
          <a:xfrm>
            <a:off x="3187541" y="3192839"/>
            <a:ext cx="22775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3,5 %</a:t>
            </a:r>
          </a:p>
        </p:txBody>
      </p:sp>
      <p:sp>
        <p:nvSpPr>
          <p:cNvPr id="93" name="Text SPAN"/>
          <p:cNvSpPr txBox="1"/>
          <p:nvPr/>
        </p:nvSpPr>
        <p:spPr>
          <a:xfrm>
            <a:off x="2216946" y="3290885"/>
            <a:ext cx="655603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none" lang="de-DE">
                <a:solidFill>
                  <a:srgbClr val="1A1A1A"/>
                </a:solidFill>
                <a:latin typeface="Arial"/>
              </a:rPr>
              <a:t>Umsatzwachstum:</a:t>
            </a:r>
          </a:p>
        </p:txBody>
      </p:sp>
      <p:sp>
        <p:nvSpPr>
          <p:cNvPr id="94" name="Text SPAN"/>
          <p:cNvSpPr txBox="1"/>
          <p:nvPr/>
        </p:nvSpPr>
        <p:spPr>
          <a:xfrm>
            <a:off x="3187541" y="3290885"/>
            <a:ext cx="227754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 u="none" lang="de-DE">
                <a:solidFill>
                  <a:srgbClr val="1A1A1A"/>
                </a:solidFill>
                <a:latin typeface="Arial"/>
              </a:rPr>
              <a:t>4,5 %</a:t>
            </a:r>
          </a:p>
        </p:txBody>
      </p:sp>
      <p:sp>
        <p:nvSpPr>
          <p:cNvPr id="95" name="Text P"/>
          <p:cNvSpPr txBox="1"/>
          <p:nvPr/>
        </p:nvSpPr>
        <p:spPr>
          <a:xfrm>
            <a:off x="2216946" y="3431871"/>
            <a:ext cx="1495128" cy="1960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Nutzen Sie den unten stehenden Link, um</a:t>
            </a:r>
          </a:p>
          <a:p>
            <a:pPr algn="l">
              <a:lnSpc>
                <a:spcPts val="772"/>
              </a:lnSpc>
            </a:pPr>
            <a:r>
              <a:rPr sz="600" b="0" i="0" u="none" lang="de-DE">
                <a:solidFill>
                  <a:srgbClr val="1A1A1A"/>
                </a:solidFill>
                <a:latin typeface="Arial"/>
              </a:rPr>
              <a:t>Zugang zum Planungsformular zu erhalten.</a:t>
            </a:r>
          </a:p>
        </p:txBody>
      </p:sp>
      <p:sp>
        <p:nvSpPr>
          <p:cNvPr id="96" name="Text mk-link"/>
          <p:cNvSpPr txBox="1"/>
          <p:nvPr/>
        </p:nvSpPr>
        <p:spPr>
          <a:xfrm>
            <a:off x="2216946" y="3672178"/>
            <a:ext cx="1151879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 u="sng" lang="de-DE">
                <a:solidFill>
                  <a:srgbClr val="3A3F44"/>
                </a:solidFill>
                <a:latin typeface="Arial"/>
              </a:rPr>
              <a:t>Planungsformular Absatzplanung</a:t>
            </a:r>
          </a:p>
        </p:txBody>
      </p:sp>
      <p:sp>
        <p:nvSpPr>
          <p:cNvPr id="97" name="k-veroeffentlichen"/>
          <p:cNvSpPr/>
          <p:nvPr/>
        </p:nvSpPr>
        <p:spPr>
          <a:xfrm>
            <a:off x="89876" y="3919147"/>
            <a:ext cx="1246266" cy="157964"/>
          </a:xfrm>
          <a:prstGeom prst="roundRect">
            <a:avLst>
              <a:gd name="adj" fmla="val 10344"/>
            </a:avLst>
          </a:prstGeom>
          <a:solidFill>
            <a:srgbClr val="3A3F44"/>
          </a:solidFill>
          <a:ln w="5447">
            <a:solidFill>
              <a:srgbClr val="3A3F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 k-veroeffentlichen"/>
          <p:cNvSpPr txBox="1"/>
          <p:nvPr/>
        </p:nvSpPr>
        <p:spPr>
          <a:xfrm>
            <a:off x="179752" y="3949977"/>
            <a:ext cx="1099196" cy="871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 i="0" u="none" lang="de-DE">
                <a:solidFill>
                  <a:srgbClr val="FFFFFF"/>
                </a:solidFill>
                <a:latin typeface="Arial"/>
              </a:rPr>
              <a:t>Vorgabewerte veröffentlichen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