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79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rategischer Plan"/>
          <p:cNvSpPr/>
          <p:nvPr/>
        </p:nvSpPr>
        <p:spPr>
          <a:xfrm>
            <a:off x="234000" y="10800"/>
            <a:ext cx="3528000" cy="21600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Strategischer Plan</a:t>
            </a:r>
          </a:p>
        </p:txBody>
      </p:sp>
      <p:sp>
        <p:nvSpPr>
          <p:cNvPr id="3" name="Absatzplanung"/>
          <p:cNvSpPr/>
          <p:nvPr/>
        </p:nvSpPr>
        <p:spPr>
          <a:xfrm>
            <a:off x="234000" y="406800"/>
            <a:ext cx="801000" cy="259200"/>
          </a:xfrm>
          <a:prstGeom prst="roundRect">
            <a:avLst>
              <a:gd name="adj" fmla="val 1111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Absatzplanung</a:t>
            </a:r>
          </a:p>
        </p:txBody>
      </p:sp>
      <p:sp>
        <p:nvSpPr>
          <p:cNvPr id="4" name="Produktionsplanung"/>
          <p:cNvSpPr/>
          <p:nvPr/>
        </p:nvSpPr>
        <p:spPr>
          <a:xfrm>
            <a:off x="1597500" y="406800"/>
            <a:ext cx="801000" cy="259200"/>
          </a:xfrm>
          <a:prstGeom prst="roundRect">
            <a:avLst>
              <a:gd name="adj" fmla="val 1111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Produktions-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5" name="Investitionsplanung"/>
          <p:cNvSpPr/>
          <p:nvPr/>
        </p:nvSpPr>
        <p:spPr>
          <a:xfrm>
            <a:off x="2961000" y="406800"/>
            <a:ext cx="801000" cy="259200"/>
          </a:xfrm>
          <a:prstGeom prst="roundRect">
            <a:avLst>
              <a:gd name="adj" fmla="val 1111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Investitions-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6" name="Umsatzplanung"/>
          <p:cNvSpPr/>
          <p:nvPr/>
        </p:nvSpPr>
        <p:spPr>
          <a:xfrm>
            <a:off x="234000" y="846000"/>
            <a:ext cx="801000" cy="259200"/>
          </a:xfrm>
          <a:prstGeom prst="roundRect">
            <a:avLst>
              <a:gd name="adj" fmla="val 1111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Umsatzplanung</a:t>
            </a:r>
          </a:p>
        </p:txBody>
      </p:sp>
      <p:sp>
        <p:nvSpPr>
          <p:cNvPr id="7" name="Einkaufsplanung"/>
          <p:cNvSpPr/>
          <p:nvPr/>
        </p:nvSpPr>
        <p:spPr>
          <a:xfrm>
            <a:off x="1143000" y="846000"/>
            <a:ext cx="801000" cy="259200"/>
          </a:xfrm>
          <a:prstGeom prst="roundRect">
            <a:avLst>
              <a:gd name="adj" fmla="val 1111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Einkaufsplanung</a:t>
            </a:r>
          </a:p>
        </p:txBody>
      </p:sp>
      <p:sp>
        <p:nvSpPr>
          <p:cNvPr id="8" name="Personalplanung"/>
          <p:cNvSpPr/>
          <p:nvPr/>
        </p:nvSpPr>
        <p:spPr>
          <a:xfrm>
            <a:off x="2052000" y="846000"/>
            <a:ext cx="801000" cy="259200"/>
          </a:xfrm>
          <a:prstGeom prst="roundRect">
            <a:avLst>
              <a:gd name="adj" fmla="val 1111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Personalplanung</a:t>
            </a:r>
          </a:p>
        </p:txBody>
      </p:sp>
      <p:sp>
        <p:nvSpPr>
          <p:cNvPr id="9" name="Anlagenplanung"/>
          <p:cNvSpPr/>
          <p:nvPr/>
        </p:nvSpPr>
        <p:spPr>
          <a:xfrm>
            <a:off x="2961000" y="846000"/>
            <a:ext cx="801000" cy="259200"/>
          </a:xfrm>
          <a:prstGeom prst="roundRect">
            <a:avLst>
              <a:gd name="adj" fmla="val 1111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Anlagenplanung</a:t>
            </a:r>
          </a:p>
        </p:txBody>
      </p:sp>
      <p:sp>
        <p:nvSpPr>
          <p:cNvPr id="10" name="Herstellkostenplanung"/>
          <p:cNvSpPr/>
          <p:nvPr/>
        </p:nvSpPr>
        <p:spPr>
          <a:xfrm>
            <a:off x="1143000" y="1285200"/>
            <a:ext cx="801000" cy="57600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Herstellkosten-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11" name="Kapazitätsabgleich"/>
          <p:cNvSpPr/>
          <p:nvPr/>
        </p:nvSpPr>
        <p:spPr>
          <a:xfrm>
            <a:off x="2052000" y="1285200"/>
            <a:ext cx="1710000" cy="21600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Kapazitätsabgleich</a:t>
            </a:r>
          </a:p>
        </p:txBody>
      </p:sp>
      <p:sp>
        <p:nvSpPr>
          <p:cNvPr id="12" name="Kostenstellenplanung"/>
          <p:cNvSpPr/>
          <p:nvPr/>
        </p:nvSpPr>
        <p:spPr>
          <a:xfrm>
            <a:off x="2052000" y="1645200"/>
            <a:ext cx="1710000" cy="21600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Kostenstellenplanung</a:t>
            </a:r>
          </a:p>
        </p:txBody>
      </p:sp>
      <p:sp>
        <p:nvSpPr>
          <p:cNvPr id="13" name="Produktergebnisplanung/Betriebsergebnisplanung"/>
          <p:cNvSpPr/>
          <p:nvPr/>
        </p:nvSpPr>
        <p:spPr>
          <a:xfrm>
            <a:off x="234000" y="2041200"/>
            <a:ext cx="3528000" cy="21600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Produktergebnisplanung/Betriebsergebnisplanung</a:t>
            </a:r>
          </a:p>
        </p:txBody>
      </p:sp>
      <p:sp>
        <p:nvSpPr>
          <p:cNvPr id="14" name="Bilanz- und GuV-Planung"/>
          <p:cNvSpPr/>
          <p:nvPr/>
        </p:nvSpPr>
        <p:spPr>
          <a:xfrm>
            <a:off x="234000" y="2437200"/>
            <a:ext cx="1710000" cy="21600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Bilanz- und GuV-Planung</a:t>
            </a:r>
          </a:p>
        </p:txBody>
      </p:sp>
      <p:sp>
        <p:nvSpPr>
          <p:cNvPr id="15" name="Finanzplanung"/>
          <p:cNvSpPr/>
          <p:nvPr/>
        </p:nvSpPr>
        <p:spPr>
          <a:xfrm>
            <a:off x="2052000" y="2437200"/>
            <a:ext cx="1710000" cy="21600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Finanzplanung</a:t>
            </a:r>
          </a:p>
        </p:txBody>
      </p:sp>
      <p:sp>
        <p:nvSpPr>
          <p:cNvPr id="16" name="Strategischer Plan Abgang"/>
          <p:cNvSpPr/>
          <p:nvPr/>
        </p:nvSpPr>
        <p:spPr>
          <a:xfrm>
            <a:off x="1998000" y="226800"/>
            <a:ext cx="0" cy="90000"/>
          </a:xfrm>
          <a:custGeom>
            <a:avLst/>
            <a:gdLst/>
            <a:ahLst/>
            <a:cxnLst/>
            <a:rect l="l" t="t" r="r" b="b"/>
            <a:pathLst>
              <a:path w="0" h="90000">
                <a:moveTo>
                  <a:pt x="0" y="0"/>
                </a:moveTo>
                <a:lnTo>
                  <a:pt x="0" y="9000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trategischer Plan–18"/>
          <p:cNvSpPr/>
          <p:nvPr/>
        </p:nvSpPr>
        <p:spPr>
          <a:xfrm>
            <a:off x="634500" y="316800"/>
            <a:ext cx="1363500" cy="90000"/>
          </a:xfrm>
          <a:custGeom>
            <a:avLst/>
            <a:gdLst/>
            <a:ahLst/>
            <a:cxnLst/>
            <a:rect l="l" t="t" r="r" b="b"/>
            <a:pathLst>
              <a:path w="1363500" h="90000">
                <a:moveTo>
                  <a:pt x="1363500" y="0"/>
                </a:moveTo>
                <a:lnTo>
                  <a:pt x="0" y="0"/>
                </a:lnTo>
                <a:lnTo>
                  <a:pt x="0" y="9000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trategischer Plan–93"/>
          <p:cNvSpPr/>
          <p:nvPr/>
        </p:nvSpPr>
        <p:spPr>
          <a:xfrm>
            <a:off x="1998000" y="316800"/>
            <a:ext cx="1363500" cy="90000"/>
          </a:xfrm>
          <a:custGeom>
            <a:avLst/>
            <a:gdLst/>
            <a:ahLst/>
            <a:cxnLst/>
            <a:rect l="l" t="t" r="r" b="b"/>
            <a:pathLst>
              <a:path w="1363500" h="90000">
                <a:moveTo>
                  <a:pt x="0" y="0"/>
                </a:moveTo>
                <a:lnTo>
                  <a:pt x="1363500" y="0"/>
                </a:lnTo>
                <a:lnTo>
                  <a:pt x="1363500" y="9000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Knoten"/>
          <p:cNvSpPr/>
          <p:nvPr/>
        </p:nvSpPr>
        <p:spPr>
          <a:xfrm>
            <a:off x="1981800" y="3006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bsatz–Produktion"/>
          <p:cNvSpPr/>
          <p:nvPr/>
        </p:nvSpPr>
        <p:spPr>
          <a:xfrm>
            <a:off x="1035000" y="536400"/>
            <a:ext cx="562500" cy="0"/>
          </a:xfrm>
          <a:custGeom>
            <a:avLst/>
            <a:gdLst/>
            <a:ahLst/>
            <a:cxnLst/>
            <a:rect l="l" t="t" r="r" b="b"/>
            <a:pathLst>
              <a:path w="562500" h="0">
                <a:moveTo>
                  <a:pt x="0" y="0"/>
                </a:moveTo>
                <a:lnTo>
                  <a:pt x="5625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bsatz–Umsatz"/>
          <p:cNvSpPr/>
          <p:nvPr/>
        </p:nvSpPr>
        <p:spPr>
          <a:xfrm>
            <a:off x="634500" y="666000"/>
            <a:ext cx="0" cy="180000"/>
          </a:xfrm>
          <a:custGeom>
            <a:avLst/>
            <a:gdLst/>
            <a:ahLst/>
            <a:cxnLst/>
            <a:rect l="l" t="t" r="r" b="b"/>
            <a:pathLst>
              <a:path w="0" h="180000">
                <a:moveTo>
                  <a:pt x="0" y="0"/>
                </a:moveTo>
                <a:lnTo>
                  <a:pt x="0" y="18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roduktion Abgang"/>
          <p:cNvSpPr/>
          <p:nvPr/>
        </p:nvSpPr>
        <p:spPr>
          <a:xfrm>
            <a:off x="1998000" y="666000"/>
            <a:ext cx="0" cy="90000"/>
          </a:xfrm>
          <a:custGeom>
            <a:avLst/>
            <a:gdLst/>
            <a:ahLst/>
            <a:cxnLst/>
            <a:rect l="l" t="t" r="r" b="b"/>
            <a:pathLst>
              <a:path w="0" h="90000">
                <a:moveTo>
                  <a:pt x="0" y="0"/>
                </a:moveTo>
                <a:lnTo>
                  <a:pt x="0" y="9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roduktion–43"/>
          <p:cNvSpPr/>
          <p:nvPr/>
        </p:nvSpPr>
        <p:spPr>
          <a:xfrm>
            <a:off x="1543500" y="756000"/>
            <a:ext cx="454500" cy="90000"/>
          </a:xfrm>
          <a:custGeom>
            <a:avLst/>
            <a:gdLst/>
            <a:ahLst/>
            <a:cxnLst/>
            <a:rect l="l" t="t" r="r" b="b"/>
            <a:pathLst>
              <a:path w="454500" h="90000">
                <a:moveTo>
                  <a:pt x="454500" y="0"/>
                </a:moveTo>
                <a:lnTo>
                  <a:pt x="0" y="0"/>
                </a:lnTo>
                <a:lnTo>
                  <a:pt x="0" y="9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roduktion–68"/>
          <p:cNvSpPr/>
          <p:nvPr/>
        </p:nvSpPr>
        <p:spPr>
          <a:xfrm>
            <a:off x="1998000" y="756000"/>
            <a:ext cx="454500" cy="90000"/>
          </a:xfrm>
          <a:custGeom>
            <a:avLst/>
            <a:gdLst/>
            <a:ahLst/>
            <a:cxnLst/>
            <a:rect l="l" t="t" r="r" b="b"/>
            <a:pathLst>
              <a:path w="454500" h="90000">
                <a:moveTo>
                  <a:pt x="0" y="0"/>
                </a:moveTo>
                <a:lnTo>
                  <a:pt x="454500" y="0"/>
                </a:lnTo>
                <a:lnTo>
                  <a:pt x="454500" y="9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roduktion–93"/>
          <p:cNvSpPr/>
          <p:nvPr/>
        </p:nvSpPr>
        <p:spPr>
          <a:xfrm>
            <a:off x="1998000" y="756000"/>
            <a:ext cx="1363500" cy="90000"/>
          </a:xfrm>
          <a:custGeom>
            <a:avLst/>
            <a:gdLst/>
            <a:ahLst/>
            <a:cxnLst/>
            <a:rect l="l" t="t" r="r" b="b"/>
            <a:pathLst>
              <a:path w="1363500" h="90000">
                <a:moveTo>
                  <a:pt x="0" y="0"/>
                </a:moveTo>
                <a:lnTo>
                  <a:pt x="1363500" y="0"/>
                </a:lnTo>
                <a:lnTo>
                  <a:pt x="1363500" y="9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Knoten"/>
          <p:cNvSpPr/>
          <p:nvPr/>
        </p:nvSpPr>
        <p:spPr>
          <a:xfrm>
            <a:off x="1981800" y="7398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Einkauf–Herstellkosten"/>
          <p:cNvSpPr/>
          <p:nvPr/>
        </p:nvSpPr>
        <p:spPr>
          <a:xfrm>
            <a:off x="1543500" y="1105200"/>
            <a:ext cx="0" cy="180000"/>
          </a:xfrm>
          <a:custGeom>
            <a:avLst/>
            <a:gdLst/>
            <a:ahLst/>
            <a:cxnLst/>
            <a:rect l="l" t="t" r="r" b="b"/>
            <a:pathLst>
              <a:path w="0" h="180000">
                <a:moveTo>
                  <a:pt x="0" y="0"/>
                </a:moveTo>
                <a:lnTo>
                  <a:pt x="0" y="18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Personal/Anlagen"/>
          <p:cNvSpPr/>
          <p:nvPr/>
        </p:nvSpPr>
        <p:spPr>
          <a:xfrm>
            <a:off x="2452500" y="1105200"/>
            <a:ext cx="909000" cy="90000"/>
          </a:xfrm>
          <a:custGeom>
            <a:avLst/>
            <a:gdLst/>
            <a:ahLst/>
            <a:cxnLst/>
            <a:rect l="l" t="t" r="r" b="b"/>
            <a:pathLst>
              <a:path w="909000" h="90000">
                <a:moveTo>
                  <a:pt x="0" y="0"/>
                </a:moveTo>
                <a:lnTo>
                  <a:pt x="0" y="90000"/>
                </a:lnTo>
                <a:lnTo>
                  <a:pt x="909000" y="90000"/>
                </a:lnTo>
                <a:lnTo>
                  <a:pt x="909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Personal/Anlagen–Kapazität"/>
          <p:cNvSpPr/>
          <p:nvPr/>
        </p:nvSpPr>
        <p:spPr>
          <a:xfrm>
            <a:off x="2907000" y="1195200"/>
            <a:ext cx="0" cy="90000"/>
          </a:xfrm>
          <a:custGeom>
            <a:avLst/>
            <a:gdLst/>
            <a:ahLst/>
            <a:cxnLst/>
            <a:rect l="l" t="t" r="r" b="b"/>
            <a:pathLst>
              <a:path w="0" h="90000">
                <a:moveTo>
                  <a:pt x="0" y="0"/>
                </a:moveTo>
                <a:lnTo>
                  <a:pt x="0" y="9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Knoten"/>
          <p:cNvSpPr/>
          <p:nvPr/>
        </p:nvSpPr>
        <p:spPr>
          <a:xfrm>
            <a:off x="2890800" y="11790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Kapazität–Kostenstellen"/>
          <p:cNvSpPr/>
          <p:nvPr/>
        </p:nvSpPr>
        <p:spPr>
          <a:xfrm>
            <a:off x="2907000" y="1501200"/>
            <a:ext cx="0" cy="144000"/>
          </a:xfrm>
          <a:custGeom>
            <a:avLst/>
            <a:gdLst/>
            <a:ahLst/>
            <a:cxnLst/>
            <a:rect l="l" t="t" r="r" b="b"/>
            <a:pathLst>
              <a:path w="0" h="144000">
                <a:moveTo>
                  <a:pt x="0" y="0"/>
                </a:moveTo>
                <a:lnTo>
                  <a:pt x="0" y="144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Kostenstellen–Herstellkosten"/>
          <p:cNvSpPr/>
          <p:nvPr/>
        </p:nvSpPr>
        <p:spPr>
          <a:xfrm>
            <a:off x="1944000" y="1753200"/>
            <a:ext cx="108000" cy="0"/>
          </a:xfrm>
          <a:custGeom>
            <a:avLst/>
            <a:gdLst/>
            <a:ahLst/>
            <a:cxnLst/>
            <a:rect l="l" t="t" r="r" b="b"/>
            <a:pathLst>
              <a:path w="108000" h="0">
                <a:moveTo>
                  <a:pt x="1080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Herstellkosten/Kostenstellen"/>
          <p:cNvSpPr/>
          <p:nvPr/>
        </p:nvSpPr>
        <p:spPr>
          <a:xfrm>
            <a:off x="1543500" y="1861200"/>
            <a:ext cx="1363500" cy="90000"/>
          </a:xfrm>
          <a:custGeom>
            <a:avLst/>
            <a:gdLst/>
            <a:ahLst/>
            <a:cxnLst/>
            <a:rect l="l" t="t" r="r" b="b"/>
            <a:pathLst>
              <a:path w="1363500" h="90000">
                <a:moveTo>
                  <a:pt x="0" y="0"/>
                </a:moveTo>
                <a:lnTo>
                  <a:pt x="0" y="90000"/>
                </a:lnTo>
                <a:lnTo>
                  <a:pt x="1363500" y="90000"/>
                </a:lnTo>
                <a:lnTo>
                  <a:pt x="13635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Herstellkosten/Kostenstellen–Produktergebnis"/>
          <p:cNvSpPr/>
          <p:nvPr/>
        </p:nvSpPr>
        <p:spPr>
          <a:xfrm>
            <a:off x="2225250" y="1951200"/>
            <a:ext cx="0" cy="90000"/>
          </a:xfrm>
          <a:custGeom>
            <a:avLst/>
            <a:gdLst/>
            <a:ahLst/>
            <a:cxnLst/>
            <a:rect l="l" t="t" r="r" b="b"/>
            <a:pathLst>
              <a:path w="0" h="90000">
                <a:moveTo>
                  <a:pt x="0" y="0"/>
                </a:moveTo>
                <a:lnTo>
                  <a:pt x="0" y="9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Knoten"/>
          <p:cNvSpPr/>
          <p:nvPr/>
        </p:nvSpPr>
        <p:spPr>
          <a:xfrm>
            <a:off x="2209050" y="19350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Umsatz–Produktergebnis"/>
          <p:cNvSpPr/>
          <p:nvPr/>
        </p:nvSpPr>
        <p:spPr>
          <a:xfrm>
            <a:off x="634500" y="1105200"/>
            <a:ext cx="0" cy="936000"/>
          </a:xfrm>
          <a:custGeom>
            <a:avLst/>
            <a:gdLst/>
            <a:ahLst/>
            <a:cxnLst/>
            <a:rect l="l" t="t" r="r" b="b"/>
            <a:pathLst>
              <a:path w="0" h="936000">
                <a:moveTo>
                  <a:pt x="0" y="0"/>
                </a:moveTo>
                <a:lnTo>
                  <a:pt x="0" y="936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Produktergebnis Bus"/>
          <p:cNvSpPr/>
          <p:nvPr/>
        </p:nvSpPr>
        <p:spPr>
          <a:xfrm>
            <a:off x="1998000" y="2257200"/>
            <a:ext cx="0" cy="90000"/>
          </a:xfrm>
          <a:custGeom>
            <a:avLst/>
            <a:gdLst/>
            <a:ahLst/>
            <a:cxnLst/>
            <a:rect l="l" t="t" r="r" b="b"/>
            <a:pathLst>
              <a:path w="0" h="90000">
                <a:moveTo>
                  <a:pt x="0" y="900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roduktergebnis–30"/>
          <p:cNvSpPr/>
          <p:nvPr/>
        </p:nvSpPr>
        <p:spPr>
          <a:xfrm>
            <a:off x="1089000" y="2347200"/>
            <a:ext cx="909000" cy="90000"/>
          </a:xfrm>
          <a:custGeom>
            <a:avLst/>
            <a:gdLst/>
            <a:ahLst/>
            <a:cxnLst/>
            <a:rect l="l" t="t" r="r" b="b"/>
            <a:pathLst>
              <a:path w="909000" h="90000">
                <a:moveTo>
                  <a:pt x="909000" y="0"/>
                </a:moveTo>
                <a:lnTo>
                  <a:pt x="0" y="0"/>
                </a:lnTo>
                <a:lnTo>
                  <a:pt x="0" y="9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Produktergebnis–81"/>
          <p:cNvSpPr/>
          <p:nvPr/>
        </p:nvSpPr>
        <p:spPr>
          <a:xfrm>
            <a:off x="1998000" y="2347200"/>
            <a:ext cx="909000" cy="90000"/>
          </a:xfrm>
          <a:custGeom>
            <a:avLst/>
            <a:gdLst/>
            <a:ahLst/>
            <a:cxnLst/>
            <a:rect l="l" t="t" r="r" b="b"/>
            <a:pathLst>
              <a:path w="909000" h="90000">
                <a:moveTo>
                  <a:pt x="0" y="0"/>
                </a:moveTo>
                <a:lnTo>
                  <a:pt x="909000" y="0"/>
                </a:lnTo>
                <a:lnTo>
                  <a:pt x="909000" y="9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Knoten"/>
          <p:cNvSpPr/>
          <p:nvPr/>
        </p:nvSpPr>
        <p:spPr>
          <a:xfrm>
            <a:off x="1981800" y="23310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Bus Investition"/>
          <p:cNvSpPr/>
          <p:nvPr/>
        </p:nvSpPr>
        <p:spPr>
          <a:xfrm>
            <a:off x="3873600" y="536400"/>
            <a:ext cx="0" cy="2008800"/>
          </a:xfrm>
          <a:custGeom>
            <a:avLst/>
            <a:gdLst/>
            <a:ahLst/>
            <a:cxnLst/>
            <a:rect l="l" t="t" r="r" b="b"/>
            <a:pathLst>
              <a:path w="0" h="2008800">
                <a:moveTo>
                  <a:pt x="0" y="0"/>
                </a:moveTo>
                <a:lnTo>
                  <a:pt x="0" y="2008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us–15"/>
          <p:cNvSpPr/>
          <p:nvPr/>
        </p:nvSpPr>
        <p:spPr>
          <a:xfrm>
            <a:off x="3762000" y="536400"/>
            <a:ext cx="111600" cy="0"/>
          </a:xfrm>
          <a:custGeom>
            <a:avLst/>
            <a:gdLst/>
            <a:ahLst/>
            <a:cxnLst/>
            <a:rect l="l" t="t" r="r" b="b"/>
            <a:pathLst>
              <a:path w="111600" h="0">
                <a:moveTo>
                  <a:pt x="1116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Bus–39"/>
          <p:cNvSpPr/>
          <p:nvPr/>
        </p:nvSpPr>
        <p:spPr>
          <a:xfrm>
            <a:off x="3762000" y="1393200"/>
            <a:ext cx="111600" cy="0"/>
          </a:xfrm>
          <a:custGeom>
            <a:avLst/>
            <a:gdLst/>
            <a:ahLst/>
            <a:cxnLst/>
            <a:rect l="l" t="t" r="r" b="b"/>
            <a:pathLst>
              <a:path w="111600" h="0">
                <a:moveTo>
                  <a:pt x="1116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Bus–71"/>
          <p:cNvSpPr/>
          <p:nvPr/>
        </p:nvSpPr>
        <p:spPr>
          <a:xfrm>
            <a:off x="3762000" y="2545200"/>
            <a:ext cx="111600" cy="0"/>
          </a:xfrm>
          <a:custGeom>
            <a:avLst/>
            <a:gdLst/>
            <a:ahLst/>
            <a:cxnLst/>
            <a:rect l="l" t="t" r="r" b="b"/>
            <a:pathLst>
              <a:path w="111600" h="0">
                <a:moveTo>
                  <a:pt x="1116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Knoten"/>
          <p:cNvSpPr/>
          <p:nvPr/>
        </p:nvSpPr>
        <p:spPr>
          <a:xfrm>
            <a:off x="3857400" y="13770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Zuflüsse von außen"/>
          <p:cNvSpPr/>
          <p:nvPr/>
        </p:nvSpPr>
        <p:spPr>
          <a:xfrm>
            <a:off x="86400" y="118800"/>
            <a:ext cx="2820600" cy="2656800"/>
          </a:xfrm>
          <a:custGeom>
            <a:avLst/>
            <a:gdLst/>
            <a:ahLst/>
            <a:cxnLst/>
            <a:rect l="l" t="t" r="r" b="b"/>
            <a:pathLst>
              <a:path w="2820600" h="2656800">
                <a:moveTo>
                  <a:pt x="0" y="0"/>
                </a:moveTo>
                <a:lnTo>
                  <a:pt x="0" y="2656800"/>
                </a:lnTo>
                <a:lnTo>
                  <a:pt x="2820600" y="265680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Zufluss 3"/>
          <p:cNvSpPr/>
          <p:nvPr/>
        </p:nvSpPr>
        <p:spPr>
          <a:xfrm>
            <a:off x="86400" y="118800"/>
            <a:ext cx="147600" cy="0"/>
          </a:xfrm>
          <a:custGeom>
            <a:avLst/>
            <a:gdLst/>
            <a:ahLst/>
            <a:cxnLst/>
            <a:rect l="l" t="t" r="r" b="b"/>
            <a:pathLst>
              <a:path w="147600" h="0">
                <a:moveTo>
                  <a:pt x="0" y="0"/>
                </a:moveTo>
                <a:lnTo>
                  <a:pt x="14760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Zufluss 60"/>
          <p:cNvSpPr/>
          <p:nvPr/>
        </p:nvSpPr>
        <p:spPr>
          <a:xfrm>
            <a:off x="86400" y="2149200"/>
            <a:ext cx="147600" cy="0"/>
          </a:xfrm>
          <a:custGeom>
            <a:avLst/>
            <a:gdLst/>
            <a:ahLst/>
            <a:cxnLst/>
            <a:rect l="l" t="t" r="r" b="b"/>
            <a:pathLst>
              <a:path w="147600" h="0">
                <a:moveTo>
                  <a:pt x="0" y="0"/>
                </a:moveTo>
                <a:lnTo>
                  <a:pt x="14760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Zufluss unten 30"/>
          <p:cNvSpPr/>
          <p:nvPr/>
        </p:nvSpPr>
        <p:spPr>
          <a:xfrm>
            <a:off x="1089000" y="2653200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Zufluss unten 81"/>
          <p:cNvSpPr/>
          <p:nvPr/>
        </p:nvSpPr>
        <p:spPr>
          <a:xfrm>
            <a:off x="2907000" y="2653200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Knoten"/>
          <p:cNvSpPr/>
          <p:nvPr/>
        </p:nvSpPr>
        <p:spPr>
          <a:xfrm>
            <a:off x="70200" y="21330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Knoten"/>
          <p:cNvSpPr/>
          <p:nvPr/>
        </p:nvSpPr>
        <p:spPr>
          <a:xfrm>
            <a:off x="1072800" y="27594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