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3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bsatzplan"/>
          <p:cNvSpPr/>
          <p:nvPr/>
        </p:nvSpPr>
        <p:spPr>
          <a:xfrm>
            <a:off x="252000" y="36000"/>
            <a:ext cx="1224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Absatzplan</a:t>
            </a:r>
          </a:p>
        </p:txBody>
      </p:sp>
      <p:sp>
        <p:nvSpPr>
          <p:cNvPr id="3" name="Umsatzplan"/>
          <p:cNvSpPr/>
          <p:nvPr/>
        </p:nvSpPr>
        <p:spPr>
          <a:xfrm>
            <a:off x="252000" y="504000"/>
            <a:ext cx="1224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Umsatzplan</a:t>
            </a:r>
          </a:p>
        </p:txBody>
      </p:sp>
      <p:sp>
        <p:nvSpPr>
          <p:cNvPr id="4" name="Ressourcenplan"/>
          <p:cNvSpPr/>
          <p:nvPr/>
        </p:nvSpPr>
        <p:spPr>
          <a:xfrm>
            <a:off x="252000" y="1134000"/>
            <a:ext cx="1224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Ressourcenplan</a:t>
            </a:r>
          </a:p>
        </p:txBody>
      </p:sp>
      <p:sp>
        <p:nvSpPr>
          <p:cNvPr id="5" name="Personalplan"/>
          <p:cNvSpPr/>
          <p:nvPr/>
        </p:nvSpPr>
        <p:spPr>
          <a:xfrm>
            <a:off x="252000" y="1602000"/>
            <a:ext cx="1224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Personalplan</a:t>
            </a:r>
          </a:p>
        </p:txBody>
      </p:sp>
      <p:sp>
        <p:nvSpPr>
          <p:cNvPr id="6" name="Kostenplan"/>
          <p:cNvSpPr/>
          <p:nvPr/>
        </p:nvSpPr>
        <p:spPr>
          <a:xfrm>
            <a:off x="252000" y="2070000"/>
            <a:ext cx="1224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Kostenplan</a:t>
            </a:r>
          </a:p>
        </p:txBody>
      </p:sp>
      <p:sp>
        <p:nvSpPr>
          <p:cNvPr id="7" name="Ergebnisplan"/>
          <p:cNvSpPr/>
          <p:nvPr/>
        </p:nvSpPr>
        <p:spPr>
          <a:xfrm>
            <a:off x="2664000" y="504000"/>
            <a:ext cx="1224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Ergebnisplan</a:t>
            </a:r>
          </a:p>
        </p:txBody>
      </p:sp>
      <p:sp>
        <p:nvSpPr>
          <p:cNvPr id="8" name="Bilanzplan"/>
          <p:cNvSpPr/>
          <p:nvPr/>
        </p:nvSpPr>
        <p:spPr>
          <a:xfrm>
            <a:off x="2664000" y="1134000"/>
            <a:ext cx="1224000" cy="25200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Bilanzplan</a:t>
            </a:r>
          </a:p>
        </p:txBody>
      </p:sp>
      <p:sp>
        <p:nvSpPr>
          <p:cNvPr id="9" name="24.0"/>
          <p:cNvSpPr/>
          <p:nvPr/>
        </p:nvSpPr>
        <p:spPr>
          <a:xfrm>
            <a:off x="864000" y="288000"/>
            <a:ext cx="0" cy="216000"/>
          </a:xfrm>
          <a:custGeom>
            <a:avLst/>
            <a:gdLst/>
            <a:ahLst/>
            <a:cxnLst/>
            <a:rect l="l" t="t" r="r" b="b"/>
            <a:pathLst>
              <a:path w="0" h="216000">
                <a:moveTo>
                  <a:pt x="0" y="0"/>
                </a:moveTo>
                <a:lnTo>
                  <a:pt x="0" y="216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24.0"/>
          <p:cNvSpPr/>
          <p:nvPr/>
        </p:nvSpPr>
        <p:spPr>
          <a:xfrm>
            <a:off x="864000" y="1386000"/>
            <a:ext cx="0" cy="216000"/>
          </a:xfrm>
          <a:custGeom>
            <a:avLst/>
            <a:gdLst/>
            <a:ahLst/>
            <a:cxnLst/>
            <a:rect l="l" t="t" r="r" b="b"/>
            <a:pathLst>
              <a:path w="0" h="216000">
                <a:moveTo>
                  <a:pt x="0" y="0"/>
                </a:moveTo>
                <a:lnTo>
                  <a:pt x="0" y="216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24.0"/>
          <p:cNvSpPr/>
          <p:nvPr/>
        </p:nvSpPr>
        <p:spPr>
          <a:xfrm>
            <a:off x="864000" y="1854000"/>
            <a:ext cx="0" cy="216000"/>
          </a:xfrm>
          <a:custGeom>
            <a:avLst/>
            <a:gdLst/>
            <a:ahLst/>
            <a:cxnLst/>
            <a:rect l="l" t="t" r="r" b="b"/>
            <a:pathLst>
              <a:path w="0" h="216000">
                <a:moveTo>
                  <a:pt x="0" y="0"/>
                </a:moveTo>
                <a:lnTo>
                  <a:pt x="0" y="216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Ergebnis-Bilanz"/>
          <p:cNvSpPr/>
          <p:nvPr/>
        </p:nvSpPr>
        <p:spPr>
          <a:xfrm>
            <a:off x="3276000" y="756000"/>
            <a:ext cx="0" cy="378000"/>
          </a:xfrm>
          <a:custGeom>
            <a:avLst/>
            <a:gdLst/>
            <a:ahLst/>
            <a:cxnLst/>
            <a:rect l="l" t="t" r="r" b="b"/>
            <a:pathLst>
              <a:path w="0" h="378000">
                <a:moveTo>
                  <a:pt x="0" y="0"/>
                </a:moveTo>
                <a:lnTo>
                  <a:pt x="0" y="378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bsatz-Ressourcen"/>
          <p:cNvSpPr/>
          <p:nvPr/>
        </p:nvSpPr>
        <p:spPr>
          <a:xfrm>
            <a:off x="90000" y="162000"/>
            <a:ext cx="162000" cy="1098000"/>
          </a:xfrm>
          <a:custGeom>
            <a:avLst/>
            <a:gdLst/>
            <a:ahLst/>
            <a:cxnLst/>
            <a:rect l="l" t="t" r="r" b="b"/>
            <a:pathLst>
              <a:path w="162000" h="1098000">
                <a:moveTo>
                  <a:pt x="162000" y="0"/>
                </a:moveTo>
                <a:lnTo>
                  <a:pt x="0" y="0"/>
                </a:lnTo>
                <a:lnTo>
                  <a:pt x="0" y="1098000"/>
                </a:lnTo>
                <a:lnTo>
                  <a:pt x="162000" y="1098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Umsatz-Ergebnis"/>
          <p:cNvSpPr/>
          <p:nvPr/>
        </p:nvSpPr>
        <p:spPr>
          <a:xfrm>
            <a:off x="1476000" y="630000"/>
            <a:ext cx="1188000" cy="0"/>
          </a:xfrm>
          <a:custGeom>
            <a:avLst/>
            <a:gdLst/>
            <a:ahLst/>
            <a:cxnLst/>
            <a:rect l="l" t="t" r="r" b="b"/>
            <a:pathLst>
              <a:path w="1188000" h="0">
                <a:moveTo>
                  <a:pt x="0" y="0"/>
                </a:moveTo>
                <a:lnTo>
                  <a:pt x="11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ssourcen-Bilanz"/>
          <p:cNvSpPr/>
          <p:nvPr/>
        </p:nvSpPr>
        <p:spPr>
          <a:xfrm>
            <a:off x="1476000" y="1260000"/>
            <a:ext cx="1188000" cy="0"/>
          </a:xfrm>
          <a:custGeom>
            <a:avLst/>
            <a:gdLst/>
            <a:ahLst/>
            <a:cxnLst/>
            <a:rect l="l" t="t" r="r" b="b"/>
            <a:pathLst>
              <a:path w="1188000" h="0">
                <a:moveTo>
                  <a:pt x="0" y="0"/>
                </a:moveTo>
                <a:lnTo>
                  <a:pt x="11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ammelleitung"/>
          <p:cNvSpPr/>
          <p:nvPr/>
        </p:nvSpPr>
        <p:spPr>
          <a:xfrm>
            <a:off x="2070000" y="630000"/>
            <a:ext cx="0" cy="630000"/>
          </a:xfrm>
          <a:custGeom>
            <a:avLst/>
            <a:gdLst/>
            <a:ahLst/>
            <a:cxnLst/>
            <a:rect l="l" t="t" r="r" b="b"/>
            <a:pathLst>
              <a:path w="0" h="630000">
                <a:moveTo>
                  <a:pt x="0" y="0"/>
                </a:moveTo>
                <a:lnTo>
                  <a:pt x="0" y="63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Knoten"/>
          <p:cNvSpPr/>
          <p:nvPr/>
        </p:nvSpPr>
        <p:spPr>
          <a:xfrm>
            <a:off x="2053800" y="6138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Knoten"/>
          <p:cNvSpPr/>
          <p:nvPr/>
        </p:nvSpPr>
        <p:spPr>
          <a:xfrm>
            <a:off x="2053800" y="1243800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Kosten-Bilanz"/>
          <p:cNvSpPr/>
          <p:nvPr/>
        </p:nvSpPr>
        <p:spPr>
          <a:xfrm>
            <a:off x="1476000" y="1386000"/>
            <a:ext cx="1800000" cy="810000"/>
          </a:xfrm>
          <a:custGeom>
            <a:avLst/>
            <a:gdLst/>
            <a:ahLst/>
            <a:cxnLst/>
            <a:rect l="l" t="t" r="r" b="b"/>
            <a:pathLst>
              <a:path w="1800000" h="810000">
                <a:moveTo>
                  <a:pt x="0" y="810000"/>
                </a:moveTo>
                <a:lnTo>
                  <a:pt x="1800000" y="810000"/>
                </a:lnTo>
                <a:lnTo>
                  <a:pt x="180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