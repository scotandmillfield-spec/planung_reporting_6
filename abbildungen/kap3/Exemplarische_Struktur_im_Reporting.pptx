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156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esamtunternehmensanalyse"/>
          <p:cNvSpPr/>
          <p:nvPr/>
        </p:nvSpPr>
        <p:spPr>
          <a:xfrm>
            <a:off x="10800" y="10800"/>
            <a:ext cx="1681200" cy="288000"/>
          </a:xfrm>
          <a:prstGeom prst="roundRect">
            <a:avLst>
              <a:gd name="adj" fmla="val 10000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Gesamtunternehmensanalyse</a:t>
            </a:r>
          </a:p>
        </p:txBody>
      </p:sp>
      <p:sp>
        <p:nvSpPr>
          <p:cNvPr id="3" name="Kennzahlen 1"/>
          <p:cNvSpPr/>
          <p:nvPr/>
        </p:nvSpPr>
        <p:spPr>
          <a:xfrm>
            <a:off x="1908000" y="10800"/>
            <a:ext cx="972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Balanced Scorecard</a:t>
            </a:r>
          </a:p>
        </p:txBody>
      </p:sp>
      <p:sp>
        <p:nvSpPr>
          <p:cNvPr id="4" name="Detailberichte 1"/>
          <p:cNvSpPr/>
          <p:nvPr/>
        </p:nvSpPr>
        <p:spPr>
          <a:xfrm>
            <a:off x="3168000" y="10800"/>
            <a:ext cx="7812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Detailberichte</a:t>
            </a:r>
          </a:p>
        </p:txBody>
      </p:sp>
      <p:sp>
        <p:nvSpPr>
          <p:cNvPr id="5" name="Analyse-Kennzahlen 1"/>
          <p:cNvSpPr/>
          <p:nvPr/>
        </p:nvSpPr>
        <p:spPr>
          <a:xfrm>
            <a:off x="1692000" y="1548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Kennzahlen-Details 1"/>
          <p:cNvSpPr/>
          <p:nvPr/>
        </p:nvSpPr>
        <p:spPr>
          <a:xfrm>
            <a:off x="2880000" y="1548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eschäftsfelder"/>
          <p:cNvSpPr/>
          <p:nvPr/>
        </p:nvSpPr>
        <p:spPr>
          <a:xfrm>
            <a:off x="324000" y="428400"/>
            <a:ext cx="1368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Geschäftsfelder</a:t>
            </a:r>
          </a:p>
        </p:txBody>
      </p:sp>
      <p:sp>
        <p:nvSpPr>
          <p:cNvPr id="8" name="Kennzahlen 2"/>
          <p:cNvSpPr/>
          <p:nvPr/>
        </p:nvSpPr>
        <p:spPr>
          <a:xfrm>
            <a:off x="1908000" y="428400"/>
            <a:ext cx="972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Balanced Scorecard</a:t>
            </a:r>
          </a:p>
        </p:txBody>
      </p:sp>
      <p:sp>
        <p:nvSpPr>
          <p:cNvPr id="9" name="Detailberichte 2"/>
          <p:cNvSpPr/>
          <p:nvPr/>
        </p:nvSpPr>
        <p:spPr>
          <a:xfrm>
            <a:off x="3168000" y="428400"/>
            <a:ext cx="7812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Detailberichte</a:t>
            </a:r>
          </a:p>
        </p:txBody>
      </p:sp>
      <p:sp>
        <p:nvSpPr>
          <p:cNvPr id="10" name="Analyse-Kennzahlen 2"/>
          <p:cNvSpPr/>
          <p:nvPr/>
        </p:nvSpPr>
        <p:spPr>
          <a:xfrm>
            <a:off x="1692000" y="5724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Kennzahlen-Details 2"/>
          <p:cNvSpPr/>
          <p:nvPr/>
        </p:nvSpPr>
        <p:spPr>
          <a:xfrm>
            <a:off x="2880000" y="5724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tandorte"/>
          <p:cNvSpPr/>
          <p:nvPr/>
        </p:nvSpPr>
        <p:spPr>
          <a:xfrm>
            <a:off x="324000" y="846000"/>
            <a:ext cx="1368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Standorte</a:t>
            </a:r>
          </a:p>
        </p:txBody>
      </p:sp>
      <p:sp>
        <p:nvSpPr>
          <p:cNvPr id="13" name="Kennzahlen 3"/>
          <p:cNvSpPr/>
          <p:nvPr/>
        </p:nvSpPr>
        <p:spPr>
          <a:xfrm>
            <a:off x="1908000" y="846000"/>
            <a:ext cx="972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Balanced Scorecard</a:t>
            </a:r>
          </a:p>
        </p:txBody>
      </p:sp>
      <p:sp>
        <p:nvSpPr>
          <p:cNvPr id="14" name="Detailberichte 3"/>
          <p:cNvSpPr/>
          <p:nvPr/>
        </p:nvSpPr>
        <p:spPr>
          <a:xfrm>
            <a:off x="3168000" y="846000"/>
            <a:ext cx="7812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Detailberichte</a:t>
            </a:r>
          </a:p>
        </p:txBody>
      </p:sp>
      <p:sp>
        <p:nvSpPr>
          <p:cNvPr id="15" name="Analyse-Kennzahlen 3"/>
          <p:cNvSpPr/>
          <p:nvPr/>
        </p:nvSpPr>
        <p:spPr>
          <a:xfrm>
            <a:off x="1692000" y="9900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Kennzahlen-Details 3"/>
          <p:cNvSpPr/>
          <p:nvPr/>
        </p:nvSpPr>
        <p:spPr>
          <a:xfrm>
            <a:off x="2880000" y="9900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unktionsbereiche"/>
          <p:cNvSpPr/>
          <p:nvPr/>
        </p:nvSpPr>
        <p:spPr>
          <a:xfrm>
            <a:off x="324000" y="1263600"/>
            <a:ext cx="1368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Funktionsbereiche</a:t>
            </a:r>
          </a:p>
        </p:txBody>
      </p:sp>
      <p:sp>
        <p:nvSpPr>
          <p:cNvPr id="18" name="Kennzahlen 4"/>
          <p:cNvSpPr/>
          <p:nvPr/>
        </p:nvSpPr>
        <p:spPr>
          <a:xfrm>
            <a:off x="1908000" y="1263600"/>
            <a:ext cx="9720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Kennzahlen/</a:t>
            </a:r>
            <a:br>
              <a:rPr lang="de-DE" sz="7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0" i="0">
                <a:solidFill>
                  <a:srgbClr val="1A1A1A"/>
                </a:solidFill>
                <a:latin typeface="Arial"/>
              </a:rPr>
              <a:t>Balanced Scorecard</a:t>
            </a:r>
          </a:p>
        </p:txBody>
      </p:sp>
      <p:sp>
        <p:nvSpPr>
          <p:cNvPr id="19" name="Detailberichte 4"/>
          <p:cNvSpPr/>
          <p:nvPr/>
        </p:nvSpPr>
        <p:spPr>
          <a:xfrm>
            <a:off x="3168000" y="1263600"/>
            <a:ext cx="781200" cy="28800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0">
                <a:solidFill>
                  <a:srgbClr val="1A1A1A"/>
                </a:solidFill>
                <a:latin typeface="Arial"/>
              </a:rPr>
              <a:t>Detailberichte</a:t>
            </a:r>
          </a:p>
        </p:txBody>
      </p:sp>
      <p:sp>
        <p:nvSpPr>
          <p:cNvPr id="20" name="Analyse-Kennzahlen 4"/>
          <p:cNvSpPr/>
          <p:nvPr/>
        </p:nvSpPr>
        <p:spPr>
          <a:xfrm>
            <a:off x="1692000" y="14076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0" y="0"/>
                </a:moveTo>
                <a:lnTo>
                  <a:pt x="216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Kennzahlen-Details 4"/>
          <p:cNvSpPr/>
          <p:nvPr/>
        </p:nvSpPr>
        <p:spPr>
          <a:xfrm>
            <a:off x="2880000" y="1407600"/>
            <a:ext cx="288000" cy="0"/>
          </a:xfrm>
          <a:custGeom>
            <a:avLst/>
            <a:gdLst/>
            <a:ahLst/>
            <a:cxnLst/>
            <a:rect l="l" t="t" r="r" b="b"/>
            <a:pathLst>
              <a:path w="288000" h="0">
                <a:moveTo>
                  <a:pt x="0" y="0"/>
                </a:moveTo>
                <a:lnTo>
                  <a:pt x="288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tamm"/>
          <p:cNvSpPr/>
          <p:nvPr/>
        </p:nvSpPr>
        <p:spPr>
          <a:xfrm>
            <a:off x="162000" y="298800"/>
            <a:ext cx="162000" cy="1108800"/>
          </a:xfrm>
          <a:custGeom>
            <a:avLst/>
            <a:gdLst/>
            <a:ahLst/>
            <a:cxnLst/>
            <a:rect l="l" t="t" r="r" b="b"/>
            <a:pathLst>
              <a:path w="162000" h="1108800">
                <a:moveTo>
                  <a:pt x="0" y="0"/>
                </a:moveTo>
                <a:lnTo>
                  <a:pt x="0" y="1108800"/>
                </a:lnTo>
                <a:lnTo>
                  <a:pt x="162000" y="1108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Abzweig 15.9"/>
          <p:cNvSpPr/>
          <p:nvPr/>
        </p:nvSpPr>
        <p:spPr>
          <a:xfrm>
            <a:off x="162000" y="572400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Abzweig 27.5"/>
          <p:cNvSpPr/>
          <p:nvPr/>
        </p:nvSpPr>
        <p:spPr>
          <a:xfrm>
            <a:off x="162000" y="990000"/>
            <a:ext cx="162000" cy="0"/>
          </a:xfrm>
          <a:custGeom>
            <a:avLst/>
            <a:gdLst/>
            <a:ahLst/>
            <a:cxnLst/>
            <a:rect l="l" t="t" r="r" b="b"/>
            <a:pathLst>
              <a:path w="162000" h="0">
                <a:moveTo>
                  <a:pt x="0" y="0"/>
                </a:moveTo>
                <a:lnTo>
                  <a:pt x="162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