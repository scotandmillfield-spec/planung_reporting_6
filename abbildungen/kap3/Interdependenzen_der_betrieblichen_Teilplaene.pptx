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16000" cy="23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bsatzplan"/>
          <p:cNvSpPr/>
          <p:nvPr/>
        </p:nvSpPr>
        <p:spPr>
          <a:xfrm>
            <a:off x="216000" y="36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Absatzplan</a:t>
            </a:r>
          </a:p>
        </p:txBody>
      </p:sp>
      <p:sp>
        <p:nvSpPr>
          <p:cNvPr id="3" name="Umsatzplan"/>
          <p:cNvSpPr/>
          <p:nvPr/>
        </p:nvSpPr>
        <p:spPr>
          <a:xfrm>
            <a:off x="216000" y="504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Umsatzplan</a:t>
            </a:r>
          </a:p>
        </p:txBody>
      </p:sp>
      <p:sp>
        <p:nvSpPr>
          <p:cNvPr id="4" name="Ressourcenplan"/>
          <p:cNvSpPr/>
          <p:nvPr/>
        </p:nvSpPr>
        <p:spPr>
          <a:xfrm>
            <a:off x="216000" y="1134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Ressourcenplan</a:t>
            </a:r>
          </a:p>
        </p:txBody>
      </p:sp>
      <p:sp>
        <p:nvSpPr>
          <p:cNvPr id="5" name="Personalplan"/>
          <p:cNvSpPr/>
          <p:nvPr/>
        </p:nvSpPr>
        <p:spPr>
          <a:xfrm>
            <a:off x="216000" y="1602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Personalplan</a:t>
            </a:r>
          </a:p>
        </p:txBody>
      </p:sp>
      <p:sp>
        <p:nvSpPr>
          <p:cNvPr id="6" name="Kostenplan"/>
          <p:cNvSpPr/>
          <p:nvPr/>
        </p:nvSpPr>
        <p:spPr>
          <a:xfrm>
            <a:off x="216000" y="2070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Kostenplan</a:t>
            </a:r>
          </a:p>
        </p:txBody>
      </p:sp>
      <p:sp>
        <p:nvSpPr>
          <p:cNvPr id="7" name="Ergebnisplan"/>
          <p:cNvSpPr/>
          <p:nvPr/>
        </p:nvSpPr>
        <p:spPr>
          <a:xfrm>
            <a:off x="1548000" y="504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Ergebnisplan</a:t>
            </a:r>
          </a:p>
        </p:txBody>
      </p:sp>
      <p:sp>
        <p:nvSpPr>
          <p:cNvPr id="8" name="Bilanzplan"/>
          <p:cNvSpPr/>
          <p:nvPr/>
        </p:nvSpPr>
        <p:spPr>
          <a:xfrm>
            <a:off x="2592000" y="1197000"/>
            <a:ext cx="1008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Bilanzplan</a:t>
            </a:r>
          </a:p>
        </p:txBody>
      </p:sp>
      <p:sp>
        <p:nvSpPr>
          <p:cNvPr id="9" name="20.0"/>
          <p:cNvSpPr/>
          <p:nvPr/>
        </p:nvSpPr>
        <p:spPr>
          <a:xfrm>
            <a:off x="720000" y="288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20.0"/>
          <p:cNvSpPr/>
          <p:nvPr/>
        </p:nvSpPr>
        <p:spPr>
          <a:xfrm>
            <a:off x="720000" y="1386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20.0"/>
          <p:cNvSpPr/>
          <p:nvPr/>
        </p:nvSpPr>
        <p:spPr>
          <a:xfrm>
            <a:off x="720000" y="1854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Absatz-Ressourcen"/>
          <p:cNvSpPr/>
          <p:nvPr/>
        </p:nvSpPr>
        <p:spPr>
          <a:xfrm>
            <a:off x="90000" y="162000"/>
            <a:ext cx="126000" cy="1098000"/>
          </a:xfrm>
          <a:custGeom>
            <a:avLst/>
            <a:gdLst/>
            <a:ahLst/>
            <a:cxnLst/>
            <a:rect l="l" t="t" r="r" b="b"/>
            <a:pathLst>
              <a:path w="126000" h="1098000">
                <a:moveTo>
                  <a:pt x="126000" y="0"/>
                </a:moveTo>
                <a:lnTo>
                  <a:pt x="0" y="0"/>
                </a:lnTo>
                <a:lnTo>
                  <a:pt x="0" y="1098000"/>
                </a:lnTo>
                <a:lnTo>
                  <a:pt x="126000" y="1098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Umsatz-Ergebnis"/>
          <p:cNvSpPr/>
          <p:nvPr/>
        </p:nvSpPr>
        <p:spPr>
          <a:xfrm>
            <a:off x="1224000" y="630000"/>
            <a:ext cx="324000" cy="0"/>
          </a:xfrm>
          <a:custGeom>
            <a:avLst/>
            <a:gdLst/>
            <a:ahLst/>
            <a:cxnLst/>
            <a:rect l="l" t="t" r="r" b="b"/>
            <a:pathLst>
              <a:path w="324000" h="0">
                <a:moveTo>
                  <a:pt x="0" y="0"/>
                </a:moveTo>
                <a:lnTo>
                  <a:pt x="3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ssourcen-Ergebnis"/>
          <p:cNvSpPr/>
          <p:nvPr/>
        </p:nvSpPr>
        <p:spPr>
          <a:xfrm>
            <a:off x="1224000" y="756000"/>
            <a:ext cx="504000" cy="441000"/>
          </a:xfrm>
          <a:custGeom>
            <a:avLst/>
            <a:gdLst/>
            <a:ahLst/>
            <a:cxnLst/>
            <a:rect l="l" t="t" r="r" b="b"/>
            <a:pathLst>
              <a:path w="504000" h="441000">
                <a:moveTo>
                  <a:pt x="0" y="441000"/>
                </a:moveTo>
                <a:lnTo>
                  <a:pt x="504000" y="441000"/>
                </a:lnTo>
                <a:lnTo>
                  <a:pt x="5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ssourcen-Bilanz"/>
          <p:cNvSpPr/>
          <p:nvPr/>
        </p:nvSpPr>
        <p:spPr>
          <a:xfrm>
            <a:off x="1224000" y="1323000"/>
            <a:ext cx="1368000" cy="0"/>
          </a:xfrm>
          <a:custGeom>
            <a:avLst/>
            <a:gdLst/>
            <a:ahLst/>
            <a:cxnLst/>
            <a:rect l="l" t="t" r="r" b="b"/>
            <a:pathLst>
              <a:path w="1368000" h="0">
                <a:moveTo>
                  <a:pt x="0" y="0"/>
                </a:moveTo>
                <a:lnTo>
                  <a:pt x="136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Kosten-Ergebnis"/>
          <p:cNvSpPr/>
          <p:nvPr/>
        </p:nvSpPr>
        <p:spPr>
          <a:xfrm>
            <a:off x="1224000" y="756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1440000"/>
                </a:moveTo>
                <a:lnTo>
                  <a:pt x="720000" y="1440000"/>
                </a:lnTo>
                <a:lnTo>
                  <a:pt x="72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rgebnis-Bilanz"/>
          <p:cNvSpPr/>
          <p:nvPr/>
        </p:nvSpPr>
        <p:spPr>
          <a:xfrm>
            <a:off x="2556000" y="630000"/>
            <a:ext cx="540000" cy="567000"/>
          </a:xfrm>
          <a:custGeom>
            <a:avLst/>
            <a:gdLst/>
            <a:ahLst/>
            <a:cxnLst/>
            <a:rect l="l" t="t" r="r" b="b"/>
            <a:pathLst>
              <a:path w="540000" h="567000">
                <a:moveTo>
                  <a:pt x="0" y="0"/>
                </a:moveTo>
                <a:lnTo>
                  <a:pt x="540000" y="0"/>
                </a:lnTo>
                <a:lnTo>
                  <a:pt x="540000" y="567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