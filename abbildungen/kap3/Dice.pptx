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4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"/>
          <p:cNvSpPr/>
          <p:nvPr/>
        </p:nvSpPr>
        <p:spPr>
          <a:xfrm>
            <a:off x="720000" y="313200"/>
            <a:ext cx="1440000" cy="280800"/>
          </a:xfrm>
          <a:custGeom>
            <a:avLst/>
            <a:gdLst/>
            <a:ahLst/>
            <a:cxnLst/>
            <a:rect l="l" t="t" r="r" b="b"/>
            <a:pathLst>
              <a:path w="1440000" h="280800">
                <a:moveTo>
                  <a:pt x="0" y="280800"/>
                </a:moveTo>
                <a:lnTo>
                  <a:pt x="1008000" y="280800"/>
                </a:lnTo>
                <a:lnTo>
                  <a:pt x="1440000" y="0"/>
                </a:lnTo>
                <a:lnTo>
                  <a:pt x="4320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chts"/>
          <p:cNvSpPr/>
          <p:nvPr/>
        </p:nvSpPr>
        <p:spPr>
          <a:xfrm>
            <a:off x="1728000" y="313200"/>
            <a:ext cx="432000" cy="1540800"/>
          </a:xfrm>
          <a:custGeom>
            <a:avLst/>
            <a:gdLst/>
            <a:ahLst/>
            <a:cxnLst/>
            <a:rect l="l" t="t" r="r" b="b"/>
            <a:pathLst>
              <a:path w="432000" h="1540800">
                <a:moveTo>
                  <a:pt x="0" y="280800"/>
                </a:moveTo>
                <a:lnTo>
                  <a:pt x="432000" y="0"/>
                </a:lnTo>
                <a:lnTo>
                  <a:pt x="432000" y="1260000"/>
                </a:lnTo>
                <a:lnTo>
                  <a:pt x="0" y="1540800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vorn"/>
          <p:cNvSpPr/>
          <p:nvPr/>
        </p:nvSpPr>
        <p:spPr>
          <a:xfrm>
            <a:off x="720000" y="594000"/>
            <a:ext cx="1008000" cy="1260000"/>
          </a:xfrm>
          <a:custGeom>
            <a:avLst/>
            <a:gdLst/>
            <a:ahLst/>
            <a:cxnLst/>
            <a:rect l="l" t="t" r="r" b="b"/>
            <a:pathLst>
              <a:path w="1008000" h="1260000">
                <a:moveTo>
                  <a:pt x="0" y="0"/>
                </a:moveTo>
                <a:lnTo>
                  <a:pt x="1008000" y="0"/>
                </a:lnTo>
                <a:lnTo>
                  <a:pt x="1008000" y="126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aster vorn"/>
          <p:cNvSpPr/>
          <p:nvPr/>
        </p:nvSpPr>
        <p:spPr>
          <a:xfrm>
            <a:off x="972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aster vorn"/>
          <p:cNvSpPr/>
          <p:nvPr/>
        </p:nvSpPr>
        <p:spPr>
          <a:xfrm>
            <a:off x="1224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aster vorn"/>
          <p:cNvSpPr/>
          <p:nvPr/>
        </p:nvSpPr>
        <p:spPr>
          <a:xfrm>
            <a:off x="1476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aster vorn"/>
          <p:cNvSpPr/>
          <p:nvPr/>
        </p:nvSpPr>
        <p:spPr>
          <a:xfrm>
            <a:off x="720000" y="846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aster vorn"/>
          <p:cNvSpPr/>
          <p:nvPr/>
        </p:nvSpPr>
        <p:spPr>
          <a:xfrm>
            <a:off x="720000" y="1098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aster vorn"/>
          <p:cNvSpPr/>
          <p:nvPr/>
        </p:nvSpPr>
        <p:spPr>
          <a:xfrm>
            <a:off x="720000" y="1350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aster vorn"/>
          <p:cNvSpPr/>
          <p:nvPr/>
        </p:nvSpPr>
        <p:spPr>
          <a:xfrm>
            <a:off x="720000" y="1602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aster oben"/>
          <p:cNvSpPr/>
          <p:nvPr/>
        </p:nvSpPr>
        <p:spPr>
          <a:xfrm>
            <a:off x="972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aster oben"/>
          <p:cNvSpPr/>
          <p:nvPr/>
        </p:nvSpPr>
        <p:spPr>
          <a:xfrm>
            <a:off x="1224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aster oben"/>
          <p:cNvSpPr/>
          <p:nvPr/>
        </p:nvSpPr>
        <p:spPr>
          <a:xfrm>
            <a:off x="1476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aster oben"/>
          <p:cNvSpPr/>
          <p:nvPr/>
        </p:nvSpPr>
        <p:spPr>
          <a:xfrm>
            <a:off x="864000" y="5004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aster oben"/>
          <p:cNvSpPr/>
          <p:nvPr/>
        </p:nvSpPr>
        <p:spPr>
          <a:xfrm>
            <a:off x="1008000" y="4068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aster rechts"/>
          <p:cNvSpPr/>
          <p:nvPr/>
        </p:nvSpPr>
        <p:spPr>
          <a:xfrm>
            <a:off x="1728000" y="565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aster rechts"/>
          <p:cNvSpPr/>
          <p:nvPr/>
        </p:nvSpPr>
        <p:spPr>
          <a:xfrm>
            <a:off x="1728000" y="817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aster rechts"/>
          <p:cNvSpPr/>
          <p:nvPr/>
        </p:nvSpPr>
        <p:spPr>
          <a:xfrm>
            <a:off x="1728000" y="1069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aster rechts"/>
          <p:cNvSpPr/>
          <p:nvPr/>
        </p:nvSpPr>
        <p:spPr>
          <a:xfrm>
            <a:off x="1728000" y="1321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aster rechts"/>
          <p:cNvSpPr/>
          <p:nvPr/>
        </p:nvSpPr>
        <p:spPr>
          <a:xfrm>
            <a:off x="1872000" y="5004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aster rechts"/>
          <p:cNvSpPr/>
          <p:nvPr/>
        </p:nvSpPr>
        <p:spPr>
          <a:xfrm>
            <a:off x="2016000" y="4068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Auswahl vorn"/>
          <p:cNvSpPr/>
          <p:nvPr/>
        </p:nvSpPr>
        <p:spPr>
          <a:xfrm>
            <a:off x="1224000" y="594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0" y="0"/>
                </a:ln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Auswahl vorn"/>
          <p:cNvSpPr/>
          <p:nvPr/>
        </p:nvSpPr>
        <p:spPr>
          <a:xfrm>
            <a:off x="1224000" y="846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0" y="0"/>
                </a:ln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Auswahl vorn"/>
          <p:cNvSpPr/>
          <p:nvPr/>
        </p:nvSpPr>
        <p:spPr>
          <a:xfrm>
            <a:off x="1476000" y="594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0" y="0"/>
                </a:ln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Auswahl vorn"/>
          <p:cNvSpPr/>
          <p:nvPr/>
        </p:nvSpPr>
        <p:spPr>
          <a:xfrm>
            <a:off x="1476000" y="846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0" y="0"/>
                </a:ln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ürfel Auswahl oben"/>
          <p:cNvSpPr/>
          <p:nvPr/>
        </p:nvSpPr>
        <p:spPr>
          <a:xfrm>
            <a:off x="1224000" y="5004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Würfel Auswahl oben"/>
          <p:cNvSpPr/>
          <p:nvPr/>
        </p:nvSpPr>
        <p:spPr>
          <a:xfrm>
            <a:off x="1368000" y="4068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ürfel Auswahl oben"/>
          <p:cNvSpPr/>
          <p:nvPr/>
        </p:nvSpPr>
        <p:spPr>
          <a:xfrm>
            <a:off x="1476000" y="5004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Würfel Auswahl oben"/>
          <p:cNvSpPr/>
          <p:nvPr/>
        </p:nvSpPr>
        <p:spPr>
          <a:xfrm>
            <a:off x="1620000" y="4068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ürfel Auswahl rechts"/>
          <p:cNvSpPr/>
          <p:nvPr/>
        </p:nvSpPr>
        <p:spPr>
          <a:xfrm>
            <a:off x="1728000" y="5004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Würfel Auswahl rechts"/>
          <p:cNvSpPr/>
          <p:nvPr/>
        </p:nvSpPr>
        <p:spPr>
          <a:xfrm>
            <a:off x="1872000" y="406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Würfel Auswahl rechts"/>
          <p:cNvSpPr/>
          <p:nvPr/>
        </p:nvSpPr>
        <p:spPr>
          <a:xfrm>
            <a:off x="1728000" y="7524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Auswahl rechts"/>
          <p:cNvSpPr/>
          <p:nvPr/>
        </p:nvSpPr>
        <p:spPr>
          <a:xfrm>
            <a:off x="1872000" y="658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Würfel Umriss"/>
          <p:cNvSpPr/>
          <p:nvPr/>
        </p:nvSpPr>
        <p:spPr>
          <a:xfrm>
            <a:off x="720000" y="313200"/>
            <a:ext cx="1440000" cy="1540800"/>
          </a:xfrm>
          <a:custGeom>
            <a:avLst/>
            <a:gdLst/>
            <a:ahLst/>
            <a:cxnLst/>
            <a:rect l="l" t="t" r="r" b="b"/>
            <a:pathLst>
              <a:path w="1440000" h="1540800">
                <a:moveTo>
                  <a:pt x="0" y="280800"/>
                </a:moveTo>
                <a:lnTo>
                  <a:pt x="432000" y="0"/>
                </a:lnTo>
                <a:lnTo>
                  <a:pt x="1440000" y="0"/>
                </a:lnTo>
                <a:lnTo>
                  <a:pt x="1440000" y="1260000"/>
                </a:lnTo>
                <a:lnTo>
                  <a:pt x="1008000" y="1540800"/>
                </a:lnTo>
                <a:lnTo>
                  <a:pt x="0" y="1540800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Würfel Kante oben"/>
          <p:cNvSpPr/>
          <p:nvPr/>
        </p:nvSpPr>
        <p:spPr>
          <a:xfrm>
            <a:off x="720000" y="313200"/>
            <a:ext cx="1440000" cy="280800"/>
          </a:xfrm>
          <a:custGeom>
            <a:avLst/>
            <a:gdLst/>
            <a:ahLst/>
            <a:cxnLst/>
            <a:rect l="l" t="t" r="r" b="b"/>
            <a:pathLst>
              <a:path w="1440000" h="280800">
                <a:moveTo>
                  <a:pt x="0" y="280800"/>
                </a:moveTo>
                <a:lnTo>
                  <a:pt x="1008000" y="280800"/>
                </a:lnTo>
                <a:lnTo>
                  <a:pt x="144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Würfel Kante vorn"/>
          <p:cNvSpPr/>
          <p:nvPr/>
        </p:nvSpPr>
        <p:spPr>
          <a:xfrm>
            <a:off x="1728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Kennzahlen"/>
          <p:cNvSpPr/>
          <p:nvPr/>
        </p:nvSpPr>
        <p:spPr>
          <a:xfrm>
            <a:off x="871200" y="1141857"/>
            <a:ext cx="705600" cy="164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Kennzahlen</a:t>
            </a:r>
          </a:p>
        </p:txBody>
      </p:sp>
      <p:sp>
        <p:nvSpPr>
          <p:cNvPr id="39" name="Dimension Produkt"/>
          <p:cNvSpPr/>
          <p:nvPr/>
        </p:nvSpPr>
        <p:spPr>
          <a:xfrm>
            <a:off x="468000" y="594000"/>
            <a:ext cx="1260000" cy="0"/>
          </a:xfrm>
          <a:custGeom>
            <a:avLst/>
            <a:gdLst/>
            <a:ahLst/>
            <a:cxnLst/>
            <a:rect l="l" t="t" r="r" b="b"/>
            <a:pathLst>
              <a:path w="1260000" h="0">
                <a:moveTo>
                  <a:pt x="12600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Dimension Region"/>
          <p:cNvSpPr/>
          <p:nvPr/>
        </p:nvSpPr>
        <p:spPr>
          <a:xfrm>
            <a:off x="1728000" y="158760"/>
            <a:ext cx="669600" cy="435240"/>
          </a:xfrm>
          <a:custGeom>
            <a:avLst/>
            <a:gdLst/>
            <a:ahLst/>
            <a:cxnLst/>
            <a:rect l="l" t="t" r="r" b="b"/>
            <a:pathLst>
              <a:path w="669600" h="435240">
                <a:moveTo>
                  <a:pt x="0" y="435240"/>
                </a:moveTo>
                <a:lnTo>
                  <a:pt x="669600" y="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Dimension Zeit"/>
          <p:cNvSpPr/>
          <p:nvPr/>
        </p:nvSpPr>
        <p:spPr>
          <a:xfrm>
            <a:off x="1728000" y="594000"/>
            <a:ext cx="0" cy="1548000"/>
          </a:xfrm>
          <a:custGeom>
            <a:avLst/>
            <a:gdLst/>
            <a:ahLst/>
            <a:cxnLst/>
            <a:rect l="l" t="t" r="r" b="b"/>
            <a:pathLst>
              <a:path w="0" h="1548000">
                <a:moveTo>
                  <a:pt x="0" y="0"/>
                </a:moveTo>
                <a:lnTo>
                  <a:pt x="0" y="154800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eschriftung Produkt"/>
          <p:cNvSpPr txBox="1"/>
          <p:nvPr/>
        </p:nvSpPr>
        <p:spPr>
          <a:xfrm>
            <a:off x="153898" y="630000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43" name="Beschriftung Region"/>
          <p:cNvSpPr txBox="1"/>
          <p:nvPr/>
        </p:nvSpPr>
        <p:spPr>
          <a:xfrm>
            <a:off x="2440800" y="37253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44" name="Beschriftung Zeit"/>
          <p:cNvSpPr txBox="1"/>
          <p:nvPr/>
        </p:nvSpPr>
        <p:spPr>
          <a:xfrm>
            <a:off x="1462949" y="2163600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45" name="Sicht Produktmanager"/>
          <p:cNvSpPr/>
          <p:nvPr/>
        </p:nvSpPr>
        <p:spPr>
          <a:xfrm>
            <a:off x="2592000" y="644400"/>
            <a:ext cx="1368000" cy="714698"/>
          </a:xfrm>
          <a:prstGeom prst="roundRect">
            <a:avLst>
              <a:gd name="adj" fmla="val 403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Sicht Produktmanager –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Detailanalyse</a:t>
            </a:r>
          </a:p>
          <a:p>
            <a:pPr algn="l">
              <a:lnSpc>
                <a:spcPts val="826"/>
              </a:lnSpc>
              <a:spcBef>
                <a:spcPts val="100"/>
              </a:spcBef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Produktumsatz selektierter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Produkte in den Jahren 2010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und 2011 in den Regionen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Deutschland und Frankreich</a:t>
            </a:r>
          </a:p>
        </p:txBody>
      </p:sp>
      <p:sp>
        <p:nvSpPr>
          <p:cNvPr id="46" name="Verweis Teilwürfel"/>
          <p:cNvSpPr/>
          <p:nvPr/>
        </p:nvSpPr>
        <p:spPr>
          <a:xfrm>
            <a:off x="1872000" y="7524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