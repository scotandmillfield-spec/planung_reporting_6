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36930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down"/>
          <p:cNvSpPr/>
          <p:nvPr/>
        </p:nvSpPr>
        <p:spPr>
          <a:xfrm>
            <a:off x="2724" y="2724"/>
            <a:ext cx="3954553" cy="3687648"/>
          </a:xfrm>
          <a:prstGeom prst="rect">
            <a:avLst/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kopf"/>
          <p:cNvSpPr/>
          <p:nvPr/>
        </p:nvSpPr>
        <p:spPr>
          <a:xfrm>
            <a:off x="5447" y="5447"/>
            <a:ext cx="3949106" cy="163411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 SPAN"/>
          <p:cNvSpPr txBox="1"/>
          <p:nvPr/>
        </p:nvSpPr>
        <p:spPr>
          <a:xfrm>
            <a:off x="87153" y="33554"/>
            <a:ext cx="823440" cy="9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86" b="1" i="0" u="none" lang="de-DE">
                <a:solidFill>
                  <a:srgbClr val="FFFFFF"/>
                </a:solidFill>
                <a:latin typeface="Arial"/>
              </a:rPr>
              <a:t>Top-Down-Vorgabe</a:t>
            </a:r>
          </a:p>
        </p:txBody>
      </p:sp>
      <p:sp>
        <p:nvSpPr>
          <p:cNvPr id="5" name="Text kopf-info"/>
          <p:cNvSpPr txBox="1"/>
          <p:nvPr/>
        </p:nvSpPr>
        <p:spPr>
          <a:xfrm>
            <a:off x="3361421" y="39001"/>
            <a:ext cx="54410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FFFFFF"/>
                </a:solidFill>
                <a:latin typeface="Arial"/>
              </a:rPr>
              <a:t>Werte in Mio. €</a:t>
            </a:r>
          </a:p>
        </p:txBody>
      </p:sp>
      <p:sp>
        <p:nvSpPr>
          <p:cNvPr id="6" name="band-ges"/>
          <p:cNvSpPr/>
          <p:nvPr/>
        </p:nvSpPr>
        <p:spPr>
          <a:xfrm>
            <a:off x="87153" y="245117"/>
            <a:ext cx="3785695" cy="14162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band-ges"/>
          <p:cNvSpPr txBox="1"/>
          <p:nvPr/>
        </p:nvSpPr>
        <p:spPr>
          <a:xfrm>
            <a:off x="130729" y="267777"/>
            <a:ext cx="172126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 spc="12">
                <a:solidFill>
                  <a:srgbClr val="3A3F44"/>
                </a:solidFill>
                <a:latin typeface="Arial"/>
              </a:rPr>
              <a:t>TOP-DOWN-VORGABE – GESELLSCHAFTEN</a:t>
            </a:r>
          </a:p>
        </p:txBody>
      </p:sp>
      <p:sp>
        <p:nvSpPr>
          <p:cNvPr id="8" name="Text mk-label"/>
          <p:cNvSpPr txBox="1"/>
          <p:nvPr/>
        </p:nvSpPr>
        <p:spPr>
          <a:xfrm>
            <a:off x="87153" y="463870"/>
            <a:ext cx="29558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Periode</a:t>
            </a:r>
          </a:p>
        </p:txBody>
      </p:sp>
      <p:sp>
        <p:nvSpPr>
          <p:cNvPr id="9" name="f-periode"/>
          <p:cNvSpPr/>
          <p:nvPr/>
        </p:nvSpPr>
        <p:spPr>
          <a:xfrm>
            <a:off x="1004979" y="443934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SPAN"/>
          <p:cNvSpPr txBox="1"/>
          <p:nvPr/>
        </p:nvSpPr>
        <p:spPr>
          <a:xfrm>
            <a:off x="1045832" y="463870"/>
            <a:ext cx="83416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Budget 2027 – Vorgabe</a:t>
            </a:r>
          </a:p>
        </p:txBody>
      </p:sp>
      <p:sp>
        <p:nvSpPr>
          <p:cNvPr id="11" name="Form"/>
          <p:cNvSpPr/>
          <p:nvPr/>
        </p:nvSpPr>
        <p:spPr>
          <a:xfrm>
            <a:off x="1950041" y="501128"/>
            <a:ext cx="43577" cy="27235"/>
          </a:xfrm>
          <a:custGeom>
            <a:avLst/>
            <a:gdLst/>
            <a:ahLst/>
            <a:cxnLst/>
            <a:rect l="l" t="t" r="r" b="b"/>
            <a:pathLst>
              <a:path w="43577" h="27235">
                <a:moveTo>
                  <a:pt x="0" y="0"/>
                </a:moveTo>
                <a:lnTo>
                  <a:pt x="43577" y="0"/>
                </a:lnTo>
                <a:lnTo>
                  <a:pt x="21788" y="27235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mk-label"/>
          <p:cNvSpPr txBox="1"/>
          <p:nvPr/>
        </p:nvSpPr>
        <p:spPr>
          <a:xfrm>
            <a:off x="87153" y="627281"/>
            <a:ext cx="31107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Variante</a:t>
            </a:r>
          </a:p>
        </p:txBody>
      </p:sp>
      <p:sp>
        <p:nvSpPr>
          <p:cNvPr id="13" name="f-variante"/>
          <p:cNvSpPr/>
          <p:nvPr/>
        </p:nvSpPr>
        <p:spPr>
          <a:xfrm>
            <a:off x="1004979" y="607345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SPAN"/>
          <p:cNvSpPr txBox="1"/>
          <p:nvPr/>
        </p:nvSpPr>
        <p:spPr>
          <a:xfrm>
            <a:off x="1045832" y="627281"/>
            <a:ext cx="34222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Standard</a:t>
            </a:r>
          </a:p>
        </p:txBody>
      </p:sp>
      <p:sp>
        <p:nvSpPr>
          <p:cNvPr id="15" name="Form"/>
          <p:cNvSpPr/>
          <p:nvPr/>
        </p:nvSpPr>
        <p:spPr>
          <a:xfrm>
            <a:off x="1950041" y="664539"/>
            <a:ext cx="43577" cy="27235"/>
          </a:xfrm>
          <a:custGeom>
            <a:avLst/>
            <a:gdLst/>
            <a:ahLst/>
            <a:cxnLst/>
            <a:rect l="l" t="t" r="r" b="b"/>
            <a:pathLst>
              <a:path w="43577" h="27235">
                <a:moveTo>
                  <a:pt x="0" y="0"/>
                </a:moveTo>
                <a:lnTo>
                  <a:pt x="43577" y="0"/>
                </a:lnTo>
                <a:lnTo>
                  <a:pt x="21788" y="27235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mk-label"/>
          <p:cNvSpPr txBox="1"/>
          <p:nvPr/>
        </p:nvSpPr>
        <p:spPr>
          <a:xfrm>
            <a:off x="87153" y="790693"/>
            <a:ext cx="35482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Zielgröße</a:t>
            </a:r>
          </a:p>
        </p:txBody>
      </p:sp>
      <p:sp>
        <p:nvSpPr>
          <p:cNvPr id="17" name="f-zielgroesse"/>
          <p:cNvSpPr/>
          <p:nvPr/>
        </p:nvSpPr>
        <p:spPr>
          <a:xfrm>
            <a:off x="1004979" y="770757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SPAN"/>
          <p:cNvSpPr txBox="1"/>
          <p:nvPr/>
        </p:nvSpPr>
        <p:spPr>
          <a:xfrm>
            <a:off x="1045832" y="790693"/>
            <a:ext cx="29116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Umsatz</a:t>
            </a:r>
          </a:p>
        </p:txBody>
      </p:sp>
      <p:sp>
        <p:nvSpPr>
          <p:cNvPr id="19" name="Form"/>
          <p:cNvSpPr/>
          <p:nvPr/>
        </p:nvSpPr>
        <p:spPr>
          <a:xfrm>
            <a:off x="1950041" y="827950"/>
            <a:ext cx="43577" cy="27236"/>
          </a:xfrm>
          <a:custGeom>
            <a:avLst/>
            <a:gdLst/>
            <a:ahLst/>
            <a:cxnLst/>
            <a:rect l="l" t="t" r="r" b="b"/>
            <a:pathLst>
              <a:path w="43577" h="27236">
                <a:moveTo>
                  <a:pt x="0" y="0"/>
                </a:moveTo>
                <a:lnTo>
                  <a:pt x="43577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l-vorgabe"/>
          <p:cNvSpPr txBox="1"/>
          <p:nvPr/>
        </p:nvSpPr>
        <p:spPr>
          <a:xfrm>
            <a:off x="87153" y="954104"/>
            <a:ext cx="31686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Vorgabe</a:t>
            </a:r>
          </a:p>
        </p:txBody>
      </p:sp>
      <p:sp>
        <p:nvSpPr>
          <p:cNvPr id="21" name="f-vorgabe"/>
          <p:cNvSpPr/>
          <p:nvPr/>
        </p:nvSpPr>
        <p:spPr>
          <a:xfrm>
            <a:off x="1004979" y="934168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f-vorgabe"/>
          <p:cNvSpPr txBox="1"/>
          <p:nvPr/>
        </p:nvSpPr>
        <p:spPr>
          <a:xfrm>
            <a:off x="1786630" y="954104"/>
            <a:ext cx="21788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117,0</a:t>
            </a:r>
          </a:p>
        </p:txBody>
      </p:sp>
      <p:sp>
        <p:nvSpPr>
          <p:cNvPr id="23" name="Text l-differenz"/>
          <p:cNvSpPr txBox="1"/>
          <p:nvPr/>
        </p:nvSpPr>
        <p:spPr>
          <a:xfrm>
            <a:off x="87153" y="1117515"/>
            <a:ext cx="76888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Differenz zur Vorgabe</a:t>
            </a:r>
          </a:p>
        </p:txBody>
      </p:sp>
      <p:sp>
        <p:nvSpPr>
          <p:cNvPr id="24" name="f-differenz"/>
          <p:cNvSpPr/>
          <p:nvPr/>
        </p:nvSpPr>
        <p:spPr>
          <a:xfrm>
            <a:off x="1004979" y="1097579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f-differenz"/>
          <p:cNvSpPr txBox="1"/>
          <p:nvPr/>
        </p:nvSpPr>
        <p:spPr>
          <a:xfrm>
            <a:off x="1821270" y="1117515"/>
            <a:ext cx="18324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−0,4</a:t>
            </a:r>
          </a:p>
        </p:txBody>
      </p:sp>
      <p:sp>
        <p:nvSpPr>
          <p:cNvPr id="26" name="Text mk-label"/>
          <p:cNvSpPr txBox="1"/>
          <p:nvPr/>
        </p:nvSpPr>
        <p:spPr>
          <a:xfrm>
            <a:off x="87153" y="1280927"/>
            <a:ext cx="24894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Status</a:t>
            </a:r>
          </a:p>
        </p:txBody>
      </p:sp>
      <p:sp>
        <p:nvSpPr>
          <p:cNvPr id="27" name="f-status"/>
          <p:cNvSpPr/>
          <p:nvPr/>
        </p:nvSpPr>
        <p:spPr>
          <a:xfrm>
            <a:off x="1004979" y="1260990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 f-status"/>
          <p:cNvSpPr txBox="1"/>
          <p:nvPr/>
        </p:nvSpPr>
        <p:spPr>
          <a:xfrm>
            <a:off x="1045832" y="1280927"/>
            <a:ext cx="85501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nicht abgestimmt, Lücke</a:t>
            </a:r>
          </a:p>
        </p:txBody>
      </p:sp>
      <p:cxnSp>
        <p:nvCxnSpPr>
          <p:cNvPr id="29" name="Linie"/>
          <p:cNvCxnSpPr/>
          <p:nvPr/>
        </p:nvCxnSpPr>
        <p:spPr>
          <a:xfrm>
            <a:off x="2157029" y="569216"/>
            <a:ext cx="1715818" cy="0"/>
          </a:xfrm>
          <a:prstGeom prst="line">
            <a:avLst/>
          </a:prstGeom>
          <a:ln w="5447">
            <a:solidFill>
              <a:srgbClr val="9A9A9A"/>
            </a:solidFill>
          </a:ln>
        </p:spPr>
      </p:cxnSp>
      <p:sp>
        <p:nvSpPr>
          <p:cNvPr id="30" name="Text kopf-massnahmen"/>
          <p:cNvSpPr txBox="1"/>
          <p:nvPr/>
        </p:nvSpPr>
        <p:spPr>
          <a:xfrm>
            <a:off x="2157029" y="442082"/>
            <a:ext cx="115988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Maßnahmen zur Zielerreichung</a:t>
            </a:r>
          </a:p>
        </p:txBody>
      </p:sp>
      <p:sp>
        <p:nvSpPr>
          <p:cNvPr id="31" name="m-name-0"/>
          <p:cNvSpPr/>
          <p:nvPr/>
        </p:nvSpPr>
        <p:spPr>
          <a:xfrm>
            <a:off x="2159752" y="607345"/>
            <a:ext cx="122013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 m-name-0"/>
          <p:cNvSpPr txBox="1"/>
          <p:nvPr/>
        </p:nvSpPr>
        <p:spPr>
          <a:xfrm>
            <a:off x="2200605" y="627281"/>
            <a:ext cx="105442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Neuen Vertriebskanal anlegen</a:t>
            </a:r>
          </a:p>
        </p:txBody>
      </p:sp>
      <p:sp>
        <p:nvSpPr>
          <p:cNvPr id="33" name="m-wert-0"/>
          <p:cNvSpPr/>
          <p:nvPr/>
        </p:nvSpPr>
        <p:spPr>
          <a:xfrm>
            <a:off x="3428913" y="607345"/>
            <a:ext cx="441210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 m-wert-0"/>
          <p:cNvSpPr txBox="1"/>
          <p:nvPr/>
        </p:nvSpPr>
        <p:spPr>
          <a:xfrm>
            <a:off x="3690542" y="627281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1,7</a:t>
            </a:r>
          </a:p>
        </p:txBody>
      </p:sp>
      <p:sp>
        <p:nvSpPr>
          <p:cNvPr id="35" name="m-name-1"/>
          <p:cNvSpPr/>
          <p:nvPr/>
        </p:nvSpPr>
        <p:spPr>
          <a:xfrm>
            <a:off x="2159752" y="770757"/>
            <a:ext cx="122013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 m-name-1"/>
          <p:cNvSpPr txBox="1"/>
          <p:nvPr/>
        </p:nvSpPr>
        <p:spPr>
          <a:xfrm>
            <a:off x="2200605" y="790693"/>
            <a:ext cx="64751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Kosteneinsparung</a:t>
            </a:r>
          </a:p>
        </p:txBody>
      </p:sp>
      <p:sp>
        <p:nvSpPr>
          <p:cNvPr id="37" name="m-wert-1"/>
          <p:cNvSpPr/>
          <p:nvPr/>
        </p:nvSpPr>
        <p:spPr>
          <a:xfrm>
            <a:off x="3428913" y="770757"/>
            <a:ext cx="441210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 m-wert-1"/>
          <p:cNvSpPr txBox="1"/>
          <p:nvPr/>
        </p:nvSpPr>
        <p:spPr>
          <a:xfrm>
            <a:off x="3690542" y="790693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1,4</a:t>
            </a:r>
          </a:p>
        </p:txBody>
      </p:sp>
      <p:sp>
        <p:nvSpPr>
          <p:cNvPr id="39" name="m-name-2"/>
          <p:cNvSpPr/>
          <p:nvPr/>
        </p:nvSpPr>
        <p:spPr>
          <a:xfrm>
            <a:off x="2159752" y="934168"/>
            <a:ext cx="122013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 m-name-2"/>
          <p:cNvSpPr txBox="1"/>
          <p:nvPr/>
        </p:nvSpPr>
        <p:spPr>
          <a:xfrm>
            <a:off x="2200605" y="954104"/>
            <a:ext cx="67568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Effizienzsteigerung</a:t>
            </a:r>
          </a:p>
        </p:txBody>
      </p:sp>
      <p:sp>
        <p:nvSpPr>
          <p:cNvPr id="41" name="m-wert-2"/>
          <p:cNvSpPr/>
          <p:nvPr/>
        </p:nvSpPr>
        <p:spPr>
          <a:xfrm>
            <a:off x="3428913" y="934168"/>
            <a:ext cx="441210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 m-wert-2"/>
          <p:cNvSpPr txBox="1"/>
          <p:nvPr/>
        </p:nvSpPr>
        <p:spPr>
          <a:xfrm>
            <a:off x="3690542" y="954104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1,5</a:t>
            </a:r>
          </a:p>
        </p:txBody>
      </p:sp>
      <p:sp>
        <p:nvSpPr>
          <p:cNvPr id="43" name="Text mk-label"/>
          <p:cNvSpPr txBox="1"/>
          <p:nvPr/>
        </p:nvSpPr>
        <p:spPr>
          <a:xfrm>
            <a:off x="2637901" y="1117515"/>
            <a:ext cx="74471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4D4D4D"/>
                </a:solidFill>
                <a:latin typeface="Arial"/>
              </a:rPr>
              <a:t>Summe Maßnahmen</a:t>
            </a:r>
          </a:p>
        </p:txBody>
      </p:sp>
      <p:sp>
        <p:nvSpPr>
          <p:cNvPr id="44" name="f-mass-summe"/>
          <p:cNvSpPr/>
          <p:nvPr/>
        </p:nvSpPr>
        <p:spPr>
          <a:xfrm>
            <a:off x="3428913" y="1097579"/>
            <a:ext cx="441210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 f-mass-summe"/>
          <p:cNvSpPr txBox="1"/>
          <p:nvPr/>
        </p:nvSpPr>
        <p:spPr>
          <a:xfrm>
            <a:off x="3690542" y="1117515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4,6</a:t>
            </a:r>
          </a:p>
        </p:txBody>
      </p:sp>
      <p:sp>
        <p:nvSpPr>
          <p:cNvPr id="46" name="Text l-neu"/>
          <p:cNvSpPr txBox="1"/>
          <p:nvPr/>
        </p:nvSpPr>
        <p:spPr>
          <a:xfrm>
            <a:off x="2157029" y="1270032"/>
            <a:ext cx="812716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sng" lang="de-DE">
                <a:solidFill>
                  <a:srgbClr val="3A3F44"/>
                </a:solidFill>
                <a:latin typeface="Arial"/>
              </a:rPr>
              <a:t>Maßnahme hinzufügen</a:t>
            </a:r>
          </a:p>
        </p:txBody>
      </p:sp>
      <p:cxnSp>
        <p:nvCxnSpPr>
          <p:cNvPr id="47" name="Linie"/>
          <p:cNvCxnSpPr/>
          <p:nvPr/>
        </p:nvCxnSpPr>
        <p:spPr>
          <a:xfrm>
            <a:off x="1985447" y="1819312"/>
            <a:ext cx="0" cy="84429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48" name="Linie"/>
          <p:cNvCxnSpPr/>
          <p:nvPr/>
        </p:nvCxnSpPr>
        <p:spPr>
          <a:xfrm>
            <a:off x="702669" y="1903741"/>
            <a:ext cx="2565557" cy="0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49" name="Linie"/>
          <p:cNvCxnSpPr/>
          <p:nvPr/>
        </p:nvCxnSpPr>
        <p:spPr>
          <a:xfrm>
            <a:off x="705392" y="1903741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50" name="Linie"/>
          <p:cNvCxnSpPr/>
          <p:nvPr/>
        </p:nvCxnSpPr>
        <p:spPr>
          <a:xfrm>
            <a:off x="1985447" y="1903741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51" name="Linie"/>
          <p:cNvCxnSpPr/>
          <p:nvPr/>
        </p:nvCxnSpPr>
        <p:spPr>
          <a:xfrm>
            <a:off x="3265502" y="1903741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sp>
        <p:nvSpPr>
          <p:cNvPr id="52" name="k-holding"/>
          <p:cNvSpPr/>
          <p:nvPr/>
        </p:nvSpPr>
        <p:spPr>
          <a:xfrm>
            <a:off x="1560578" y="1489766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 mk-label"/>
          <p:cNvSpPr txBox="1"/>
          <p:nvPr/>
        </p:nvSpPr>
        <p:spPr>
          <a:xfrm>
            <a:off x="1595983" y="1520596"/>
            <a:ext cx="31652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Holding</a:t>
            </a:r>
          </a:p>
        </p:txBody>
      </p:sp>
      <p:sp>
        <p:nvSpPr>
          <p:cNvPr id="54" name="f-holding"/>
          <p:cNvSpPr/>
          <p:nvPr/>
        </p:nvSpPr>
        <p:spPr>
          <a:xfrm>
            <a:off x="1598707" y="1642283"/>
            <a:ext cx="768033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 f-holding"/>
          <p:cNvSpPr txBox="1"/>
          <p:nvPr/>
        </p:nvSpPr>
        <p:spPr>
          <a:xfrm>
            <a:off x="2108006" y="1662220"/>
            <a:ext cx="21788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112,0</a:t>
            </a:r>
          </a:p>
        </p:txBody>
      </p:sp>
      <p:sp>
        <p:nvSpPr>
          <p:cNvPr id="56" name="k-vertrieb"/>
          <p:cNvSpPr/>
          <p:nvPr/>
        </p:nvSpPr>
        <p:spPr>
          <a:xfrm>
            <a:off x="280523" y="1985447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 mk-label"/>
          <p:cNvSpPr txBox="1"/>
          <p:nvPr/>
        </p:nvSpPr>
        <p:spPr>
          <a:xfrm>
            <a:off x="315928" y="2016277"/>
            <a:ext cx="60913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Vertriebs GmbH</a:t>
            </a:r>
          </a:p>
        </p:txBody>
      </p:sp>
      <p:sp>
        <p:nvSpPr>
          <p:cNvPr id="58" name="g-vertrieb"/>
          <p:cNvSpPr/>
          <p:nvPr/>
        </p:nvSpPr>
        <p:spPr>
          <a:xfrm>
            <a:off x="318652" y="2137964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 g-vertrieb"/>
          <p:cNvSpPr txBox="1"/>
          <p:nvPr/>
        </p:nvSpPr>
        <p:spPr>
          <a:xfrm>
            <a:off x="864718" y="2157900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77,0</a:t>
            </a:r>
          </a:p>
        </p:txBody>
      </p:sp>
      <p:sp>
        <p:nvSpPr>
          <p:cNvPr id="60" name="k-produktion"/>
          <p:cNvSpPr/>
          <p:nvPr/>
        </p:nvSpPr>
        <p:spPr>
          <a:xfrm>
            <a:off x="1560578" y="1985447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 mk-label"/>
          <p:cNvSpPr txBox="1"/>
          <p:nvPr/>
        </p:nvSpPr>
        <p:spPr>
          <a:xfrm>
            <a:off x="1595983" y="2016277"/>
            <a:ext cx="72752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Produktions GmbH</a:t>
            </a:r>
          </a:p>
        </p:txBody>
      </p:sp>
      <p:sp>
        <p:nvSpPr>
          <p:cNvPr id="62" name="g-produktion"/>
          <p:cNvSpPr/>
          <p:nvPr/>
        </p:nvSpPr>
        <p:spPr>
          <a:xfrm>
            <a:off x="1598707" y="2137964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 g-produktion"/>
          <p:cNvSpPr txBox="1"/>
          <p:nvPr/>
        </p:nvSpPr>
        <p:spPr>
          <a:xfrm>
            <a:off x="2144773" y="2157900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34,0</a:t>
            </a:r>
          </a:p>
        </p:txBody>
      </p:sp>
      <p:sp>
        <p:nvSpPr>
          <p:cNvPr id="64" name="k-neu"/>
          <p:cNvSpPr/>
          <p:nvPr/>
        </p:nvSpPr>
        <p:spPr>
          <a:xfrm>
            <a:off x="2840633" y="1985447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 mk-label"/>
          <p:cNvSpPr txBox="1"/>
          <p:nvPr/>
        </p:nvSpPr>
        <p:spPr>
          <a:xfrm>
            <a:off x="2876039" y="2016277"/>
            <a:ext cx="42674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Neu GmbH</a:t>
            </a:r>
          </a:p>
        </p:txBody>
      </p:sp>
      <p:sp>
        <p:nvSpPr>
          <p:cNvPr id="66" name="g-neu"/>
          <p:cNvSpPr/>
          <p:nvPr/>
        </p:nvSpPr>
        <p:spPr>
          <a:xfrm>
            <a:off x="2878762" y="2137964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 g-neu"/>
          <p:cNvSpPr txBox="1"/>
          <p:nvPr/>
        </p:nvSpPr>
        <p:spPr>
          <a:xfrm>
            <a:off x="3467213" y="2157900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1,0</a:t>
            </a:r>
          </a:p>
        </p:txBody>
      </p:sp>
      <p:sp>
        <p:nvSpPr>
          <p:cNvPr id="68" name="band-ber"/>
          <p:cNvSpPr/>
          <p:nvPr/>
        </p:nvSpPr>
        <p:spPr>
          <a:xfrm>
            <a:off x="87153" y="2413040"/>
            <a:ext cx="3785695" cy="14162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 band-ber"/>
          <p:cNvSpPr txBox="1"/>
          <p:nvPr/>
        </p:nvSpPr>
        <p:spPr>
          <a:xfrm>
            <a:off x="130729" y="2435700"/>
            <a:ext cx="138593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 spc="12">
                <a:solidFill>
                  <a:srgbClr val="3A3F44"/>
                </a:solidFill>
                <a:latin typeface="Arial"/>
              </a:rPr>
              <a:t>TOP-DOWN-VORGABE – BEREICHE</a:t>
            </a:r>
          </a:p>
        </p:txBody>
      </p:sp>
      <p:cxnSp>
        <p:nvCxnSpPr>
          <p:cNvPr id="70" name="Linie"/>
          <p:cNvCxnSpPr/>
          <p:nvPr/>
        </p:nvCxnSpPr>
        <p:spPr>
          <a:xfrm>
            <a:off x="1037662" y="3104814"/>
            <a:ext cx="0" cy="84429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1" name="Linie"/>
          <p:cNvCxnSpPr/>
          <p:nvPr/>
        </p:nvCxnSpPr>
        <p:spPr>
          <a:xfrm>
            <a:off x="561045" y="3189243"/>
            <a:ext cx="953233" cy="0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2" name="Linie"/>
          <p:cNvCxnSpPr/>
          <p:nvPr/>
        </p:nvCxnSpPr>
        <p:spPr>
          <a:xfrm>
            <a:off x="563769" y="3189243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3" name="Linie"/>
          <p:cNvCxnSpPr/>
          <p:nvPr/>
        </p:nvCxnSpPr>
        <p:spPr>
          <a:xfrm>
            <a:off x="1511554" y="3189243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4" name="Linie"/>
          <p:cNvCxnSpPr/>
          <p:nvPr/>
        </p:nvCxnSpPr>
        <p:spPr>
          <a:xfrm>
            <a:off x="2927785" y="3104814"/>
            <a:ext cx="0" cy="84429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5" name="Linie"/>
          <p:cNvCxnSpPr/>
          <p:nvPr/>
        </p:nvCxnSpPr>
        <p:spPr>
          <a:xfrm>
            <a:off x="2451169" y="3189243"/>
            <a:ext cx="953233" cy="0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6" name="Linie"/>
          <p:cNvCxnSpPr/>
          <p:nvPr/>
        </p:nvCxnSpPr>
        <p:spPr>
          <a:xfrm>
            <a:off x="2453893" y="3189243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cxnSp>
        <p:nvCxnSpPr>
          <p:cNvPr id="77" name="Linie"/>
          <p:cNvCxnSpPr/>
          <p:nvPr/>
        </p:nvCxnSpPr>
        <p:spPr>
          <a:xfrm>
            <a:off x="3401678" y="3189243"/>
            <a:ext cx="0" cy="78983"/>
          </a:xfrm>
          <a:prstGeom prst="line">
            <a:avLst/>
          </a:prstGeom>
          <a:ln w="5447">
            <a:solidFill>
              <a:srgbClr val="3A3F44"/>
            </a:solidFill>
          </a:ln>
        </p:spPr>
      </p:cxnSp>
      <p:sp>
        <p:nvSpPr>
          <p:cNvPr id="78" name="k2-vertrieb"/>
          <p:cNvSpPr/>
          <p:nvPr/>
        </p:nvSpPr>
        <p:spPr>
          <a:xfrm>
            <a:off x="612792" y="2611857"/>
            <a:ext cx="844292" cy="4902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 mk-label"/>
          <p:cNvSpPr txBox="1"/>
          <p:nvPr/>
        </p:nvSpPr>
        <p:spPr>
          <a:xfrm>
            <a:off x="648198" y="2642687"/>
            <a:ext cx="60913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Vertriebs GmbH</a:t>
            </a:r>
          </a:p>
        </p:txBody>
      </p:sp>
      <p:sp>
        <p:nvSpPr>
          <p:cNvPr id="80" name="Text mk-label"/>
          <p:cNvSpPr txBox="1"/>
          <p:nvPr/>
        </p:nvSpPr>
        <p:spPr>
          <a:xfrm>
            <a:off x="648198" y="2784310"/>
            <a:ext cx="31686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Vorgabe</a:t>
            </a:r>
          </a:p>
        </p:txBody>
      </p:sp>
      <p:sp>
        <p:nvSpPr>
          <p:cNvPr id="81" name="v-vertrieb"/>
          <p:cNvSpPr/>
          <p:nvPr/>
        </p:nvSpPr>
        <p:spPr>
          <a:xfrm>
            <a:off x="1021320" y="2764374"/>
            <a:ext cx="397634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 v-vertrieb"/>
          <p:cNvSpPr txBox="1"/>
          <p:nvPr/>
        </p:nvSpPr>
        <p:spPr>
          <a:xfrm>
            <a:off x="1196988" y="2784310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77,0</a:t>
            </a:r>
          </a:p>
        </p:txBody>
      </p:sp>
      <p:sp>
        <p:nvSpPr>
          <p:cNvPr id="83" name="Text mk-label"/>
          <p:cNvSpPr txBox="1"/>
          <p:nvPr/>
        </p:nvSpPr>
        <p:spPr>
          <a:xfrm>
            <a:off x="648198" y="2947722"/>
            <a:ext cx="33652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Differenz</a:t>
            </a:r>
          </a:p>
        </p:txBody>
      </p:sp>
      <p:sp>
        <p:nvSpPr>
          <p:cNvPr id="84" name="d-vertrieb"/>
          <p:cNvSpPr/>
          <p:nvPr/>
        </p:nvSpPr>
        <p:spPr>
          <a:xfrm>
            <a:off x="1021320" y="2927785"/>
            <a:ext cx="397634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 d-vertrieb"/>
          <p:cNvSpPr txBox="1"/>
          <p:nvPr/>
        </p:nvSpPr>
        <p:spPr>
          <a:xfrm>
            <a:off x="1197498" y="2947722"/>
            <a:ext cx="18060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±0,0</a:t>
            </a:r>
          </a:p>
        </p:txBody>
      </p:sp>
      <p:sp>
        <p:nvSpPr>
          <p:cNvPr id="86" name="k2-produktion"/>
          <p:cNvSpPr/>
          <p:nvPr/>
        </p:nvSpPr>
        <p:spPr>
          <a:xfrm>
            <a:off x="2502916" y="2611857"/>
            <a:ext cx="844292" cy="4902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 mk-label"/>
          <p:cNvSpPr txBox="1"/>
          <p:nvPr/>
        </p:nvSpPr>
        <p:spPr>
          <a:xfrm>
            <a:off x="2538322" y="2642687"/>
            <a:ext cx="72752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Produktions GmbH</a:t>
            </a:r>
          </a:p>
        </p:txBody>
      </p:sp>
      <p:sp>
        <p:nvSpPr>
          <p:cNvPr id="88" name="Text mk-label"/>
          <p:cNvSpPr txBox="1"/>
          <p:nvPr/>
        </p:nvSpPr>
        <p:spPr>
          <a:xfrm>
            <a:off x="2538322" y="2784310"/>
            <a:ext cx="31686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Vorgabe</a:t>
            </a:r>
          </a:p>
        </p:txBody>
      </p:sp>
      <p:sp>
        <p:nvSpPr>
          <p:cNvPr id="89" name="v-produktion"/>
          <p:cNvSpPr/>
          <p:nvPr/>
        </p:nvSpPr>
        <p:spPr>
          <a:xfrm>
            <a:off x="2911444" y="2764374"/>
            <a:ext cx="397634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 v-produktion"/>
          <p:cNvSpPr txBox="1"/>
          <p:nvPr/>
        </p:nvSpPr>
        <p:spPr>
          <a:xfrm>
            <a:off x="3087111" y="2784310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34,0</a:t>
            </a:r>
          </a:p>
        </p:txBody>
      </p:sp>
      <p:sp>
        <p:nvSpPr>
          <p:cNvPr id="91" name="Text mk-label"/>
          <p:cNvSpPr txBox="1"/>
          <p:nvPr/>
        </p:nvSpPr>
        <p:spPr>
          <a:xfrm>
            <a:off x="2538322" y="2947722"/>
            <a:ext cx="33652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Differenz</a:t>
            </a:r>
          </a:p>
        </p:txBody>
      </p:sp>
      <p:sp>
        <p:nvSpPr>
          <p:cNvPr id="92" name="d-produktion"/>
          <p:cNvSpPr/>
          <p:nvPr/>
        </p:nvSpPr>
        <p:spPr>
          <a:xfrm>
            <a:off x="2911444" y="2927785"/>
            <a:ext cx="397634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 d-produktion"/>
          <p:cNvSpPr txBox="1"/>
          <p:nvPr/>
        </p:nvSpPr>
        <p:spPr>
          <a:xfrm>
            <a:off x="3087622" y="2947722"/>
            <a:ext cx="18060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±0,0</a:t>
            </a:r>
          </a:p>
        </p:txBody>
      </p:sp>
      <p:sp>
        <p:nvSpPr>
          <p:cNvPr id="94" name="k-grosskunden"/>
          <p:cNvSpPr/>
          <p:nvPr/>
        </p:nvSpPr>
        <p:spPr>
          <a:xfrm>
            <a:off x="138900" y="3270949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 mk-label"/>
          <p:cNvSpPr txBox="1"/>
          <p:nvPr/>
        </p:nvSpPr>
        <p:spPr>
          <a:xfrm>
            <a:off x="174305" y="3301779"/>
            <a:ext cx="48606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Großkunden</a:t>
            </a:r>
          </a:p>
        </p:txBody>
      </p:sp>
      <p:sp>
        <p:nvSpPr>
          <p:cNvPr id="96" name="b-grosskunden"/>
          <p:cNvSpPr/>
          <p:nvPr/>
        </p:nvSpPr>
        <p:spPr>
          <a:xfrm>
            <a:off x="177029" y="3423466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 b-grosskunden"/>
          <p:cNvSpPr txBox="1"/>
          <p:nvPr/>
        </p:nvSpPr>
        <p:spPr>
          <a:xfrm>
            <a:off x="723095" y="3443402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36,0</a:t>
            </a:r>
          </a:p>
        </p:txBody>
      </p:sp>
      <p:sp>
        <p:nvSpPr>
          <p:cNvPr id="98" name="k-massen"/>
          <p:cNvSpPr/>
          <p:nvPr/>
        </p:nvSpPr>
        <p:spPr>
          <a:xfrm>
            <a:off x="1086685" y="3270949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 mk-label"/>
          <p:cNvSpPr txBox="1"/>
          <p:nvPr/>
        </p:nvSpPr>
        <p:spPr>
          <a:xfrm>
            <a:off x="1122091" y="3301779"/>
            <a:ext cx="62606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Massengeschäft</a:t>
            </a:r>
          </a:p>
        </p:txBody>
      </p:sp>
      <p:sp>
        <p:nvSpPr>
          <p:cNvPr id="100" name="b-massen"/>
          <p:cNvSpPr/>
          <p:nvPr/>
        </p:nvSpPr>
        <p:spPr>
          <a:xfrm>
            <a:off x="1124814" y="3423466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 b-massen"/>
          <p:cNvSpPr txBox="1"/>
          <p:nvPr/>
        </p:nvSpPr>
        <p:spPr>
          <a:xfrm>
            <a:off x="1670880" y="3443402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41,0</a:t>
            </a:r>
          </a:p>
        </p:txBody>
      </p:sp>
      <p:sp>
        <p:nvSpPr>
          <p:cNvPr id="102" name="k-winter"/>
          <p:cNvSpPr/>
          <p:nvPr/>
        </p:nvSpPr>
        <p:spPr>
          <a:xfrm>
            <a:off x="2029023" y="3270949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 mk-label"/>
          <p:cNvSpPr txBox="1"/>
          <p:nvPr/>
        </p:nvSpPr>
        <p:spPr>
          <a:xfrm>
            <a:off x="2064429" y="3301779"/>
            <a:ext cx="45993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Wintersport</a:t>
            </a:r>
          </a:p>
        </p:txBody>
      </p:sp>
      <p:sp>
        <p:nvSpPr>
          <p:cNvPr id="104" name="b-winter"/>
          <p:cNvSpPr/>
          <p:nvPr/>
        </p:nvSpPr>
        <p:spPr>
          <a:xfrm>
            <a:off x="2067153" y="3423466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 b-winter"/>
          <p:cNvSpPr txBox="1"/>
          <p:nvPr/>
        </p:nvSpPr>
        <p:spPr>
          <a:xfrm>
            <a:off x="2613219" y="3443402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22,0</a:t>
            </a:r>
          </a:p>
        </p:txBody>
      </p:sp>
      <p:sp>
        <p:nvSpPr>
          <p:cNvPr id="106" name="k-sommer"/>
          <p:cNvSpPr/>
          <p:nvPr/>
        </p:nvSpPr>
        <p:spPr>
          <a:xfrm>
            <a:off x="2976809" y="3270949"/>
            <a:ext cx="844292" cy="32682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 mk-label"/>
          <p:cNvSpPr txBox="1"/>
          <p:nvPr/>
        </p:nvSpPr>
        <p:spPr>
          <a:xfrm>
            <a:off x="3012215" y="3301779"/>
            <a:ext cx="52853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Sommersport</a:t>
            </a:r>
          </a:p>
        </p:txBody>
      </p:sp>
      <p:sp>
        <p:nvSpPr>
          <p:cNvPr id="108" name="b-sommer"/>
          <p:cNvSpPr/>
          <p:nvPr/>
        </p:nvSpPr>
        <p:spPr>
          <a:xfrm>
            <a:off x="3014938" y="3423466"/>
            <a:ext cx="768033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 b-sommer"/>
          <p:cNvSpPr txBox="1"/>
          <p:nvPr/>
        </p:nvSpPr>
        <p:spPr>
          <a:xfrm>
            <a:off x="3561004" y="3443402"/>
            <a:ext cx="18111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12,0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