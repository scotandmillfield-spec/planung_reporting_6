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960000" cy="3910977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opdown"/>
          <p:cNvSpPr/>
          <p:nvPr/>
        </p:nvSpPr>
        <p:spPr>
          <a:xfrm>
            <a:off x="2724" y="2724"/>
            <a:ext cx="3954553" cy="3905530"/>
          </a:xfrm>
          <a:prstGeom prst="rect">
            <a:avLst/>
          </a:prstGeom>
          <a:solidFill>
            <a:srgbClr val="FFFFFF"/>
          </a:solidFill>
          <a:ln w="5447">
            <a:solidFill>
              <a:srgbClr val="9A9A9A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Linie"/>
          <p:cNvCxnSpPr/>
          <p:nvPr/>
        </p:nvCxnSpPr>
        <p:spPr>
          <a:xfrm>
            <a:off x="87153" y="384017"/>
            <a:ext cx="3785694" cy="0"/>
          </a:xfrm>
          <a:prstGeom prst="line">
            <a:avLst/>
          </a:prstGeom>
          <a:ln w="5447">
            <a:solidFill>
              <a:srgbClr val="D9D9D9"/>
            </a:solidFill>
          </a:ln>
        </p:spPr>
      </p:cxnSp>
      <p:sp>
        <p:nvSpPr>
          <p:cNvPr id="4" name="Text kopf-titel"/>
          <p:cNvSpPr txBox="1"/>
          <p:nvPr/>
        </p:nvSpPr>
        <p:spPr>
          <a:xfrm>
            <a:off x="87153" y="66236"/>
            <a:ext cx="1119963" cy="13617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44" b="1" i="0" u="none" lang="de-DE">
                <a:solidFill>
                  <a:srgbClr val="1A1A1A"/>
                </a:solidFill>
                <a:latin typeface="Arial"/>
              </a:rPr>
              <a:t>Top-Down-Vorgabe</a:t>
            </a:r>
          </a:p>
        </p:txBody>
      </p:sp>
      <p:sp>
        <p:nvSpPr>
          <p:cNvPr id="5" name="Text kopf-unter"/>
          <p:cNvSpPr txBox="1"/>
          <p:nvPr/>
        </p:nvSpPr>
        <p:spPr>
          <a:xfrm>
            <a:off x="87153" y="229647"/>
            <a:ext cx="1550620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00" b="0" i="0" u="none" lang="de-DE">
                <a:solidFill>
                  <a:srgbClr val="4D4D4D"/>
                </a:solidFill>
                <a:latin typeface="Arial"/>
              </a:rPr>
              <a:t>Budget 2028 – Vorgabe · Stand 30.06.2027 ·</a:t>
            </a:r>
          </a:p>
        </p:txBody>
      </p:sp>
      <p:sp>
        <p:nvSpPr>
          <p:cNvPr id="6" name="Text kopf-info"/>
          <p:cNvSpPr txBox="1"/>
          <p:nvPr/>
        </p:nvSpPr>
        <p:spPr>
          <a:xfrm>
            <a:off x="1626283" y="229647"/>
            <a:ext cx="544108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00" b="0" i="0" u="none" lang="de-DE">
                <a:solidFill>
                  <a:srgbClr val="4D4D4D"/>
                </a:solidFill>
                <a:latin typeface="Arial"/>
              </a:rPr>
              <a:t>Werte in Mio. €</a:t>
            </a:r>
          </a:p>
        </p:txBody>
      </p:sp>
      <p:sp>
        <p:nvSpPr>
          <p:cNvPr id="7" name="band-ges"/>
          <p:cNvSpPr/>
          <p:nvPr/>
        </p:nvSpPr>
        <p:spPr>
          <a:xfrm>
            <a:off x="87153" y="462999"/>
            <a:ext cx="3785695" cy="141623"/>
          </a:xfrm>
          <a:prstGeom prst="rect">
            <a:avLst/>
          </a:prstGeom>
          <a:solidFill>
            <a:srgbClr val="F6F6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 band-ges"/>
          <p:cNvSpPr txBox="1"/>
          <p:nvPr/>
        </p:nvSpPr>
        <p:spPr>
          <a:xfrm>
            <a:off x="130729" y="485658"/>
            <a:ext cx="1721265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00" b="1" i="0" u="none" lang="de-DE" spc="12">
                <a:solidFill>
                  <a:srgbClr val="3A3F44"/>
                </a:solidFill>
                <a:latin typeface="Arial"/>
              </a:rPr>
              <a:t>TOP-DOWN-VORGABE – GESELLSCHAFTEN</a:t>
            </a:r>
          </a:p>
        </p:txBody>
      </p:sp>
      <p:sp>
        <p:nvSpPr>
          <p:cNvPr id="9" name="Text mk-label"/>
          <p:cNvSpPr txBox="1"/>
          <p:nvPr/>
        </p:nvSpPr>
        <p:spPr>
          <a:xfrm>
            <a:off x="87153" y="681752"/>
            <a:ext cx="295587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00" b="0" i="0" u="none" lang="de-DE">
                <a:solidFill>
                  <a:srgbClr val="1A1A1A"/>
                </a:solidFill>
                <a:latin typeface="Arial"/>
              </a:rPr>
              <a:t>Periode</a:t>
            </a:r>
          </a:p>
        </p:txBody>
      </p:sp>
      <p:sp>
        <p:nvSpPr>
          <p:cNvPr id="10" name="f-periode"/>
          <p:cNvSpPr/>
          <p:nvPr/>
        </p:nvSpPr>
        <p:spPr>
          <a:xfrm>
            <a:off x="1004979" y="661816"/>
            <a:ext cx="1040385" cy="1361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5447">
            <a:solidFill>
              <a:srgbClr val="9A9A9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 SPAN"/>
          <p:cNvSpPr txBox="1"/>
          <p:nvPr/>
        </p:nvSpPr>
        <p:spPr>
          <a:xfrm>
            <a:off x="1045832" y="681752"/>
            <a:ext cx="834164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00" b="0" i="0" u="none" lang="de-DE">
                <a:solidFill>
                  <a:srgbClr val="1A1A1A"/>
                </a:solidFill>
                <a:latin typeface="Arial"/>
              </a:rPr>
              <a:t>Budget 2028 – Vorgabe</a:t>
            </a:r>
          </a:p>
        </p:txBody>
      </p:sp>
      <p:sp>
        <p:nvSpPr>
          <p:cNvPr id="12" name="Form"/>
          <p:cNvSpPr/>
          <p:nvPr/>
        </p:nvSpPr>
        <p:spPr>
          <a:xfrm>
            <a:off x="1950041" y="719010"/>
            <a:ext cx="43577" cy="27235"/>
          </a:xfrm>
          <a:custGeom>
            <a:avLst/>
            <a:gdLst/>
            <a:ahLst/>
            <a:cxnLst/>
            <a:rect l="l" t="t" r="r" b="b"/>
            <a:pathLst>
              <a:path w="43577" h="27235">
                <a:moveTo>
                  <a:pt x="0" y="0"/>
                </a:moveTo>
                <a:lnTo>
                  <a:pt x="43577" y="0"/>
                </a:lnTo>
                <a:lnTo>
                  <a:pt x="21788" y="27235"/>
                </a:lnTo>
                <a:close/>
              </a:path>
            </a:pathLst>
          </a:custGeom>
          <a:solidFill>
            <a:srgbClr val="3A3F4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 mk-label"/>
          <p:cNvSpPr txBox="1"/>
          <p:nvPr/>
        </p:nvSpPr>
        <p:spPr>
          <a:xfrm>
            <a:off x="87153" y="845163"/>
            <a:ext cx="311077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00" b="0" i="0" u="none" lang="de-DE">
                <a:solidFill>
                  <a:srgbClr val="1A1A1A"/>
                </a:solidFill>
                <a:latin typeface="Arial"/>
              </a:rPr>
              <a:t>Variante</a:t>
            </a:r>
          </a:p>
        </p:txBody>
      </p:sp>
      <p:sp>
        <p:nvSpPr>
          <p:cNvPr id="14" name="f-variante"/>
          <p:cNvSpPr/>
          <p:nvPr/>
        </p:nvSpPr>
        <p:spPr>
          <a:xfrm>
            <a:off x="1004979" y="825227"/>
            <a:ext cx="1040385" cy="1361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5447">
            <a:solidFill>
              <a:srgbClr val="9A9A9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 SPAN"/>
          <p:cNvSpPr txBox="1"/>
          <p:nvPr/>
        </p:nvSpPr>
        <p:spPr>
          <a:xfrm>
            <a:off x="1045832" y="845163"/>
            <a:ext cx="342227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00" b="0" i="0" u="none" lang="de-DE">
                <a:solidFill>
                  <a:srgbClr val="1A1A1A"/>
                </a:solidFill>
                <a:latin typeface="Arial"/>
              </a:rPr>
              <a:t>Standard</a:t>
            </a:r>
          </a:p>
        </p:txBody>
      </p:sp>
      <p:sp>
        <p:nvSpPr>
          <p:cNvPr id="16" name="Form"/>
          <p:cNvSpPr/>
          <p:nvPr/>
        </p:nvSpPr>
        <p:spPr>
          <a:xfrm>
            <a:off x="1950041" y="882421"/>
            <a:ext cx="43577" cy="27235"/>
          </a:xfrm>
          <a:custGeom>
            <a:avLst/>
            <a:gdLst/>
            <a:ahLst/>
            <a:cxnLst/>
            <a:rect l="l" t="t" r="r" b="b"/>
            <a:pathLst>
              <a:path w="43577" h="27235">
                <a:moveTo>
                  <a:pt x="0" y="0"/>
                </a:moveTo>
                <a:lnTo>
                  <a:pt x="43577" y="0"/>
                </a:lnTo>
                <a:lnTo>
                  <a:pt x="21788" y="27235"/>
                </a:lnTo>
                <a:close/>
              </a:path>
            </a:pathLst>
          </a:custGeom>
          <a:solidFill>
            <a:srgbClr val="3A3F4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 mk-label"/>
          <p:cNvSpPr txBox="1"/>
          <p:nvPr/>
        </p:nvSpPr>
        <p:spPr>
          <a:xfrm>
            <a:off x="87153" y="1008574"/>
            <a:ext cx="354824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00" b="0" i="0" u="none" lang="de-DE">
                <a:solidFill>
                  <a:srgbClr val="1A1A1A"/>
                </a:solidFill>
                <a:latin typeface="Arial"/>
              </a:rPr>
              <a:t>Zielgröße</a:t>
            </a:r>
          </a:p>
        </p:txBody>
      </p:sp>
      <p:sp>
        <p:nvSpPr>
          <p:cNvPr id="18" name="f-zielgroesse"/>
          <p:cNvSpPr/>
          <p:nvPr/>
        </p:nvSpPr>
        <p:spPr>
          <a:xfrm>
            <a:off x="1004979" y="988638"/>
            <a:ext cx="1040385" cy="1361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5447">
            <a:solidFill>
              <a:srgbClr val="9A9A9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 SPAN"/>
          <p:cNvSpPr txBox="1"/>
          <p:nvPr/>
        </p:nvSpPr>
        <p:spPr>
          <a:xfrm>
            <a:off x="1045832" y="1008574"/>
            <a:ext cx="291161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00" b="0" i="0" u="none" lang="de-DE">
                <a:solidFill>
                  <a:srgbClr val="1A1A1A"/>
                </a:solidFill>
                <a:latin typeface="Arial"/>
              </a:rPr>
              <a:t>Umsatz</a:t>
            </a:r>
          </a:p>
        </p:txBody>
      </p:sp>
      <p:sp>
        <p:nvSpPr>
          <p:cNvPr id="20" name="Form"/>
          <p:cNvSpPr/>
          <p:nvPr/>
        </p:nvSpPr>
        <p:spPr>
          <a:xfrm>
            <a:off x="1950041" y="1045832"/>
            <a:ext cx="43577" cy="27235"/>
          </a:xfrm>
          <a:custGeom>
            <a:avLst/>
            <a:gdLst/>
            <a:ahLst/>
            <a:cxnLst/>
            <a:rect l="l" t="t" r="r" b="b"/>
            <a:pathLst>
              <a:path w="43577" h="27235">
                <a:moveTo>
                  <a:pt x="0" y="0"/>
                </a:moveTo>
                <a:lnTo>
                  <a:pt x="43577" y="0"/>
                </a:lnTo>
                <a:lnTo>
                  <a:pt x="21788" y="27235"/>
                </a:lnTo>
                <a:close/>
              </a:path>
            </a:pathLst>
          </a:custGeom>
          <a:solidFill>
            <a:srgbClr val="3A3F4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 l-vorgabe"/>
          <p:cNvSpPr txBox="1"/>
          <p:nvPr/>
        </p:nvSpPr>
        <p:spPr>
          <a:xfrm>
            <a:off x="87153" y="1171986"/>
            <a:ext cx="316865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00" b="0" i="0" u="none" lang="de-DE">
                <a:solidFill>
                  <a:srgbClr val="1A1A1A"/>
                </a:solidFill>
                <a:latin typeface="Arial"/>
              </a:rPr>
              <a:t>Vorgabe</a:t>
            </a:r>
          </a:p>
        </p:txBody>
      </p:sp>
      <p:sp>
        <p:nvSpPr>
          <p:cNvPr id="22" name="f-vorgabe"/>
          <p:cNvSpPr/>
          <p:nvPr/>
        </p:nvSpPr>
        <p:spPr>
          <a:xfrm>
            <a:off x="1004979" y="1152050"/>
            <a:ext cx="1040385" cy="1361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5447">
            <a:solidFill>
              <a:srgbClr val="9A9A9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 f-vorgabe"/>
          <p:cNvSpPr txBox="1"/>
          <p:nvPr/>
        </p:nvSpPr>
        <p:spPr>
          <a:xfrm>
            <a:off x="1786630" y="1171986"/>
            <a:ext cx="217882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600" b="0" i="0" u="none" lang="de-DE">
                <a:solidFill>
                  <a:srgbClr val="1A1A1A"/>
                </a:solidFill>
                <a:latin typeface="Arial"/>
              </a:rPr>
              <a:t>117,0</a:t>
            </a:r>
          </a:p>
        </p:txBody>
      </p:sp>
      <p:sp>
        <p:nvSpPr>
          <p:cNvPr id="24" name="Text l-differenz"/>
          <p:cNvSpPr txBox="1"/>
          <p:nvPr/>
        </p:nvSpPr>
        <p:spPr>
          <a:xfrm>
            <a:off x="87153" y="1335397"/>
            <a:ext cx="768884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00" b="0" i="0" u="none" lang="de-DE">
                <a:solidFill>
                  <a:srgbClr val="1A1A1A"/>
                </a:solidFill>
                <a:latin typeface="Arial"/>
              </a:rPr>
              <a:t>Differenz zur Vorgabe</a:t>
            </a:r>
          </a:p>
        </p:txBody>
      </p:sp>
      <p:sp>
        <p:nvSpPr>
          <p:cNvPr id="25" name="f-differenz"/>
          <p:cNvSpPr/>
          <p:nvPr/>
        </p:nvSpPr>
        <p:spPr>
          <a:xfrm>
            <a:off x="1004979" y="1315461"/>
            <a:ext cx="1040385" cy="136176"/>
          </a:xfrm>
          <a:prstGeom prst="roundRect">
            <a:avLst>
              <a:gd name="adj" fmla="val 8000"/>
            </a:avLst>
          </a:prstGeom>
          <a:solidFill>
            <a:srgbClr val="EFEFEF"/>
          </a:solidFill>
          <a:ln w="5447">
            <a:solidFill>
              <a:srgbClr val="EFEFE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 f-differenz"/>
          <p:cNvSpPr txBox="1"/>
          <p:nvPr/>
        </p:nvSpPr>
        <p:spPr>
          <a:xfrm>
            <a:off x="1821270" y="1335397"/>
            <a:ext cx="183242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600" b="0" i="0" u="none" lang="de-DE">
                <a:solidFill>
                  <a:srgbClr val="1A1A1A"/>
                </a:solidFill>
                <a:latin typeface="Arial"/>
              </a:rPr>
              <a:t>−0,4</a:t>
            </a:r>
          </a:p>
        </p:txBody>
      </p:sp>
      <p:sp>
        <p:nvSpPr>
          <p:cNvPr id="27" name="Text mk-label"/>
          <p:cNvSpPr txBox="1"/>
          <p:nvPr/>
        </p:nvSpPr>
        <p:spPr>
          <a:xfrm>
            <a:off x="87153" y="1498808"/>
            <a:ext cx="248947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00" b="0" i="0" u="none" lang="de-DE">
                <a:solidFill>
                  <a:srgbClr val="1A1A1A"/>
                </a:solidFill>
                <a:latin typeface="Arial"/>
              </a:rPr>
              <a:t>Status</a:t>
            </a:r>
          </a:p>
        </p:txBody>
      </p:sp>
      <p:sp>
        <p:nvSpPr>
          <p:cNvPr id="28" name="f-status"/>
          <p:cNvSpPr/>
          <p:nvPr/>
        </p:nvSpPr>
        <p:spPr>
          <a:xfrm>
            <a:off x="1004979" y="1478872"/>
            <a:ext cx="1040385" cy="136176"/>
          </a:xfrm>
          <a:prstGeom prst="roundRect">
            <a:avLst>
              <a:gd name="adj" fmla="val 8000"/>
            </a:avLst>
          </a:prstGeom>
          <a:solidFill>
            <a:srgbClr val="EFEFEF"/>
          </a:solidFill>
          <a:ln w="5447">
            <a:solidFill>
              <a:srgbClr val="EFEFE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 f-status"/>
          <p:cNvSpPr txBox="1"/>
          <p:nvPr/>
        </p:nvSpPr>
        <p:spPr>
          <a:xfrm>
            <a:off x="1045832" y="1498808"/>
            <a:ext cx="855015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00" b="0" i="0" u="none" lang="de-DE">
                <a:solidFill>
                  <a:srgbClr val="1A1A1A"/>
                </a:solidFill>
                <a:latin typeface="Arial"/>
              </a:rPr>
              <a:t>nicht abgestimmt, Lücke</a:t>
            </a:r>
          </a:p>
        </p:txBody>
      </p:sp>
      <p:cxnSp>
        <p:nvCxnSpPr>
          <p:cNvPr id="30" name="Linie"/>
          <p:cNvCxnSpPr/>
          <p:nvPr/>
        </p:nvCxnSpPr>
        <p:spPr>
          <a:xfrm>
            <a:off x="2157029" y="787098"/>
            <a:ext cx="1715818" cy="0"/>
          </a:xfrm>
          <a:prstGeom prst="line">
            <a:avLst/>
          </a:prstGeom>
          <a:ln w="5447">
            <a:solidFill>
              <a:srgbClr val="9A9A9A"/>
            </a:solidFill>
          </a:ln>
        </p:spPr>
      </p:cxnSp>
      <p:sp>
        <p:nvSpPr>
          <p:cNvPr id="31" name="Text kopf-massnahmen"/>
          <p:cNvSpPr txBox="1"/>
          <p:nvPr/>
        </p:nvSpPr>
        <p:spPr>
          <a:xfrm>
            <a:off x="2157029" y="659964"/>
            <a:ext cx="1159880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00" b="1" i="0" u="none" lang="de-DE">
                <a:solidFill>
                  <a:srgbClr val="1A1A1A"/>
                </a:solidFill>
                <a:latin typeface="Arial"/>
              </a:rPr>
              <a:t>Maßnahmen zur Zielerreichung</a:t>
            </a:r>
          </a:p>
        </p:txBody>
      </p:sp>
      <p:sp>
        <p:nvSpPr>
          <p:cNvPr id="32" name="m-name-0"/>
          <p:cNvSpPr/>
          <p:nvPr/>
        </p:nvSpPr>
        <p:spPr>
          <a:xfrm>
            <a:off x="2159752" y="825227"/>
            <a:ext cx="1220138" cy="1361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5447">
            <a:solidFill>
              <a:srgbClr val="9A9A9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 m-name-0"/>
          <p:cNvSpPr txBox="1"/>
          <p:nvPr/>
        </p:nvSpPr>
        <p:spPr>
          <a:xfrm>
            <a:off x="2200605" y="845163"/>
            <a:ext cx="1054428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00" b="0" i="0" u="none" lang="de-DE">
                <a:solidFill>
                  <a:srgbClr val="1A1A1A"/>
                </a:solidFill>
                <a:latin typeface="Arial"/>
              </a:rPr>
              <a:t>Neuen Vertriebskanal anlegen</a:t>
            </a:r>
          </a:p>
        </p:txBody>
      </p:sp>
      <p:sp>
        <p:nvSpPr>
          <p:cNvPr id="34" name="m-wert-0"/>
          <p:cNvSpPr/>
          <p:nvPr/>
        </p:nvSpPr>
        <p:spPr>
          <a:xfrm>
            <a:off x="3428913" y="825227"/>
            <a:ext cx="441210" cy="1361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5447">
            <a:solidFill>
              <a:srgbClr val="9A9A9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 m-wert-0"/>
          <p:cNvSpPr txBox="1"/>
          <p:nvPr/>
        </p:nvSpPr>
        <p:spPr>
          <a:xfrm>
            <a:off x="3690542" y="845163"/>
            <a:ext cx="138729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600" b="0" i="0" u="none" lang="de-DE">
                <a:solidFill>
                  <a:srgbClr val="1A1A1A"/>
                </a:solidFill>
                <a:latin typeface="Arial"/>
              </a:rPr>
              <a:t>1,7</a:t>
            </a:r>
          </a:p>
        </p:txBody>
      </p:sp>
      <p:sp>
        <p:nvSpPr>
          <p:cNvPr id="36" name="m-name-1"/>
          <p:cNvSpPr/>
          <p:nvPr/>
        </p:nvSpPr>
        <p:spPr>
          <a:xfrm>
            <a:off x="2159752" y="988638"/>
            <a:ext cx="1220138" cy="1361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5447">
            <a:solidFill>
              <a:srgbClr val="9A9A9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 m-name-1"/>
          <p:cNvSpPr txBox="1"/>
          <p:nvPr/>
        </p:nvSpPr>
        <p:spPr>
          <a:xfrm>
            <a:off x="2200605" y="1008574"/>
            <a:ext cx="647517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00" b="0" i="0" u="none" lang="de-DE">
                <a:solidFill>
                  <a:srgbClr val="1A1A1A"/>
                </a:solidFill>
                <a:latin typeface="Arial"/>
              </a:rPr>
              <a:t>Kosteneinsparung</a:t>
            </a:r>
          </a:p>
        </p:txBody>
      </p:sp>
      <p:sp>
        <p:nvSpPr>
          <p:cNvPr id="38" name="m-wert-1"/>
          <p:cNvSpPr/>
          <p:nvPr/>
        </p:nvSpPr>
        <p:spPr>
          <a:xfrm>
            <a:off x="3428913" y="988638"/>
            <a:ext cx="441210" cy="1361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5447">
            <a:solidFill>
              <a:srgbClr val="9A9A9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 m-wert-1"/>
          <p:cNvSpPr txBox="1"/>
          <p:nvPr/>
        </p:nvSpPr>
        <p:spPr>
          <a:xfrm>
            <a:off x="3690542" y="1008574"/>
            <a:ext cx="138729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600" b="0" i="0" u="none" lang="de-DE">
                <a:solidFill>
                  <a:srgbClr val="1A1A1A"/>
                </a:solidFill>
                <a:latin typeface="Arial"/>
              </a:rPr>
              <a:t>1,4</a:t>
            </a:r>
          </a:p>
        </p:txBody>
      </p:sp>
      <p:sp>
        <p:nvSpPr>
          <p:cNvPr id="40" name="m-name-2"/>
          <p:cNvSpPr/>
          <p:nvPr/>
        </p:nvSpPr>
        <p:spPr>
          <a:xfrm>
            <a:off x="2159752" y="1152050"/>
            <a:ext cx="1220138" cy="1361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5447">
            <a:solidFill>
              <a:srgbClr val="9A9A9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 m-name-2"/>
          <p:cNvSpPr txBox="1"/>
          <p:nvPr/>
        </p:nvSpPr>
        <p:spPr>
          <a:xfrm>
            <a:off x="2200605" y="1171986"/>
            <a:ext cx="675689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00" b="0" i="0" u="none" lang="de-DE">
                <a:solidFill>
                  <a:srgbClr val="1A1A1A"/>
                </a:solidFill>
                <a:latin typeface="Arial"/>
              </a:rPr>
              <a:t>Effizienzsteigerung</a:t>
            </a:r>
          </a:p>
        </p:txBody>
      </p:sp>
      <p:sp>
        <p:nvSpPr>
          <p:cNvPr id="42" name="m-wert-2"/>
          <p:cNvSpPr/>
          <p:nvPr/>
        </p:nvSpPr>
        <p:spPr>
          <a:xfrm>
            <a:off x="3428913" y="1152050"/>
            <a:ext cx="441210" cy="1361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5447">
            <a:solidFill>
              <a:srgbClr val="9A9A9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 m-wert-2"/>
          <p:cNvSpPr txBox="1"/>
          <p:nvPr/>
        </p:nvSpPr>
        <p:spPr>
          <a:xfrm>
            <a:off x="3690542" y="1171986"/>
            <a:ext cx="138729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600" b="0" i="0" u="none" lang="de-DE">
                <a:solidFill>
                  <a:srgbClr val="1A1A1A"/>
                </a:solidFill>
                <a:latin typeface="Arial"/>
              </a:rPr>
              <a:t>1,5</a:t>
            </a:r>
          </a:p>
        </p:txBody>
      </p:sp>
      <p:sp>
        <p:nvSpPr>
          <p:cNvPr id="44" name="Text mk-label"/>
          <p:cNvSpPr txBox="1"/>
          <p:nvPr/>
        </p:nvSpPr>
        <p:spPr>
          <a:xfrm>
            <a:off x="2637901" y="1335397"/>
            <a:ext cx="744713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600" b="0" i="0" u="none" lang="de-DE">
                <a:solidFill>
                  <a:srgbClr val="4D4D4D"/>
                </a:solidFill>
                <a:latin typeface="Arial"/>
              </a:rPr>
              <a:t>Summe Maßnahmen</a:t>
            </a:r>
          </a:p>
        </p:txBody>
      </p:sp>
      <p:sp>
        <p:nvSpPr>
          <p:cNvPr id="45" name="f-mass-summe"/>
          <p:cNvSpPr/>
          <p:nvPr/>
        </p:nvSpPr>
        <p:spPr>
          <a:xfrm>
            <a:off x="3428913" y="1315461"/>
            <a:ext cx="441210" cy="136176"/>
          </a:xfrm>
          <a:prstGeom prst="roundRect">
            <a:avLst>
              <a:gd name="adj" fmla="val 8000"/>
            </a:avLst>
          </a:prstGeom>
          <a:solidFill>
            <a:srgbClr val="EFEFEF"/>
          </a:solidFill>
          <a:ln w="5447">
            <a:solidFill>
              <a:srgbClr val="EFEFE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 f-mass-summe"/>
          <p:cNvSpPr txBox="1"/>
          <p:nvPr/>
        </p:nvSpPr>
        <p:spPr>
          <a:xfrm>
            <a:off x="3690542" y="1335397"/>
            <a:ext cx="138729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600" b="0" i="0" u="none" lang="de-DE">
                <a:solidFill>
                  <a:srgbClr val="1A1A1A"/>
                </a:solidFill>
                <a:latin typeface="Arial"/>
              </a:rPr>
              <a:t>4,6</a:t>
            </a:r>
          </a:p>
        </p:txBody>
      </p:sp>
      <p:sp>
        <p:nvSpPr>
          <p:cNvPr id="47" name="Text l-neu"/>
          <p:cNvSpPr txBox="1"/>
          <p:nvPr/>
        </p:nvSpPr>
        <p:spPr>
          <a:xfrm>
            <a:off x="2157029" y="1487914"/>
            <a:ext cx="812716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00" b="0" i="0" u="sng" lang="de-DE">
                <a:solidFill>
                  <a:srgbClr val="3A3F44"/>
                </a:solidFill>
                <a:latin typeface="Arial"/>
              </a:rPr>
              <a:t>Maßnahme hinzufügen</a:t>
            </a:r>
          </a:p>
        </p:txBody>
      </p:sp>
      <p:cxnSp>
        <p:nvCxnSpPr>
          <p:cNvPr id="48" name="Linie"/>
          <p:cNvCxnSpPr/>
          <p:nvPr/>
        </p:nvCxnSpPr>
        <p:spPr>
          <a:xfrm>
            <a:off x="1985447" y="2037194"/>
            <a:ext cx="0" cy="84429"/>
          </a:xfrm>
          <a:prstGeom prst="line">
            <a:avLst/>
          </a:prstGeom>
          <a:ln w="5447">
            <a:solidFill>
              <a:srgbClr val="3A3F44"/>
            </a:solidFill>
          </a:ln>
        </p:spPr>
      </p:cxnSp>
      <p:cxnSp>
        <p:nvCxnSpPr>
          <p:cNvPr id="49" name="Linie"/>
          <p:cNvCxnSpPr/>
          <p:nvPr/>
        </p:nvCxnSpPr>
        <p:spPr>
          <a:xfrm>
            <a:off x="702669" y="2121623"/>
            <a:ext cx="2565557" cy="0"/>
          </a:xfrm>
          <a:prstGeom prst="line">
            <a:avLst/>
          </a:prstGeom>
          <a:ln w="5447">
            <a:solidFill>
              <a:srgbClr val="3A3F44"/>
            </a:solidFill>
          </a:ln>
        </p:spPr>
      </p:cxnSp>
      <p:cxnSp>
        <p:nvCxnSpPr>
          <p:cNvPr id="50" name="Linie"/>
          <p:cNvCxnSpPr/>
          <p:nvPr/>
        </p:nvCxnSpPr>
        <p:spPr>
          <a:xfrm>
            <a:off x="705392" y="2121623"/>
            <a:ext cx="0" cy="78982"/>
          </a:xfrm>
          <a:prstGeom prst="line">
            <a:avLst/>
          </a:prstGeom>
          <a:ln w="5447">
            <a:solidFill>
              <a:srgbClr val="3A3F44"/>
            </a:solidFill>
          </a:ln>
        </p:spPr>
      </p:cxnSp>
      <p:cxnSp>
        <p:nvCxnSpPr>
          <p:cNvPr id="51" name="Linie"/>
          <p:cNvCxnSpPr/>
          <p:nvPr/>
        </p:nvCxnSpPr>
        <p:spPr>
          <a:xfrm>
            <a:off x="1985447" y="2121623"/>
            <a:ext cx="0" cy="78982"/>
          </a:xfrm>
          <a:prstGeom prst="line">
            <a:avLst/>
          </a:prstGeom>
          <a:ln w="5447">
            <a:solidFill>
              <a:srgbClr val="3A3F44"/>
            </a:solidFill>
          </a:ln>
        </p:spPr>
      </p:cxnSp>
      <p:cxnSp>
        <p:nvCxnSpPr>
          <p:cNvPr id="52" name="Linie"/>
          <p:cNvCxnSpPr/>
          <p:nvPr/>
        </p:nvCxnSpPr>
        <p:spPr>
          <a:xfrm>
            <a:off x="3265502" y="2121623"/>
            <a:ext cx="0" cy="78982"/>
          </a:xfrm>
          <a:prstGeom prst="line">
            <a:avLst/>
          </a:prstGeom>
          <a:ln w="5447">
            <a:solidFill>
              <a:srgbClr val="3A3F44"/>
            </a:solidFill>
          </a:ln>
        </p:spPr>
      </p:cxnSp>
      <p:sp>
        <p:nvSpPr>
          <p:cNvPr id="53" name="k-holding"/>
          <p:cNvSpPr/>
          <p:nvPr/>
        </p:nvSpPr>
        <p:spPr>
          <a:xfrm>
            <a:off x="1560578" y="1707648"/>
            <a:ext cx="844292" cy="326823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5447">
            <a:solidFill>
              <a:srgbClr val="9A9A9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 mk-label"/>
          <p:cNvSpPr txBox="1"/>
          <p:nvPr/>
        </p:nvSpPr>
        <p:spPr>
          <a:xfrm>
            <a:off x="1595983" y="1738478"/>
            <a:ext cx="316524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00" b="1" i="0" u="none" lang="de-DE">
                <a:solidFill>
                  <a:srgbClr val="1A1A1A"/>
                </a:solidFill>
                <a:latin typeface="Arial"/>
              </a:rPr>
              <a:t>Holding</a:t>
            </a:r>
          </a:p>
        </p:txBody>
      </p:sp>
      <p:sp>
        <p:nvSpPr>
          <p:cNvPr id="55" name="f-holding"/>
          <p:cNvSpPr/>
          <p:nvPr/>
        </p:nvSpPr>
        <p:spPr>
          <a:xfrm>
            <a:off x="1598707" y="1860165"/>
            <a:ext cx="768033" cy="136176"/>
          </a:xfrm>
          <a:prstGeom prst="roundRect">
            <a:avLst>
              <a:gd name="adj" fmla="val 8000"/>
            </a:avLst>
          </a:prstGeom>
          <a:solidFill>
            <a:srgbClr val="EFEFEF"/>
          </a:solidFill>
          <a:ln w="5447">
            <a:solidFill>
              <a:srgbClr val="EFEFE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 f-holding"/>
          <p:cNvSpPr txBox="1"/>
          <p:nvPr/>
        </p:nvSpPr>
        <p:spPr>
          <a:xfrm>
            <a:off x="2108006" y="1880101"/>
            <a:ext cx="217882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600" b="0" i="0" u="none" lang="de-DE">
                <a:solidFill>
                  <a:srgbClr val="1A1A1A"/>
                </a:solidFill>
                <a:latin typeface="Arial"/>
              </a:rPr>
              <a:t>112,0</a:t>
            </a:r>
          </a:p>
        </p:txBody>
      </p:sp>
      <p:sp>
        <p:nvSpPr>
          <p:cNvPr id="57" name="k-vertrieb"/>
          <p:cNvSpPr/>
          <p:nvPr/>
        </p:nvSpPr>
        <p:spPr>
          <a:xfrm>
            <a:off x="280523" y="2203329"/>
            <a:ext cx="844292" cy="326823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5447">
            <a:solidFill>
              <a:srgbClr val="9A9A9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Text mk-label"/>
          <p:cNvSpPr txBox="1"/>
          <p:nvPr/>
        </p:nvSpPr>
        <p:spPr>
          <a:xfrm>
            <a:off x="315928" y="2234159"/>
            <a:ext cx="609133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00" b="1" i="0" u="none" lang="de-DE">
                <a:solidFill>
                  <a:srgbClr val="1A1A1A"/>
                </a:solidFill>
                <a:latin typeface="Arial"/>
              </a:rPr>
              <a:t>Vertriebs GmbH</a:t>
            </a:r>
          </a:p>
        </p:txBody>
      </p:sp>
      <p:sp>
        <p:nvSpPr>
          <p:cNvPr id="59" name="g-vertrieb"/>
          <p:cNvSpPr/>
          <p:nvPr/>
        </p:nvSpPr>
        <p:spPr>
          <a:xfrm>
            <a:off x="318652" y="2355846"/>
            <a:ext cx="768033" cy="1361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5447">
            <a:solidFill>
              <a:srgbClr val="9A9A9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Text g-vertrieb"/>
          <p:cNvSpPr txBox="1"/>
          <p:nvPr/>
        </p:nvSpPr>
        <p:spPr>
          <a:xfrm>
            <a:off x="864718" y="2375782"/>
            <a:ext cx="181114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600" b="0" i="0" u="none" lang="de-DE">
                <a:solidFill>
                  <a:srgbClr val="1A1A1A"/>
                </a:solidFill>
                <a:latin typeface="Arial"/>
              </a:rPr>
              <a:t>77,0</a:t>
            </a:r>
          </a:p>
        </p:txBody>
      </p:sp>
      <p:sp>
        <p:nvSpPr>
          <p:cNvPr id="61" name="k-produktion"/>
          <p:cNvSpPr/>
          <p:nvPr/>
        </p:nvSpPr>
        <p:spPr>
          <a:xfrm>
            <a:off x="1560578" y="2203329"/>
            <a:ext cx="844292" cy="326823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5447">
            <a:solidFill>
              <a:srgbClr val="9A9A9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Text mk-label"/>
          <p:cNvSpPr txBox="1"/>
          <p:nvPr/>
        </p:nvSpPr>
        <p:spPr>
          <a:xfrm>
            <a:off x="1595983" y="2234159"/>
            <a:ext cx="727521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00" b="1" i="0" u="none" lang="de-DE">
                <a:solidFill>
                  <a:srgbClr val="1A1A1A"/>
                </a:solidFill>
                <a:latin typeface="Arial"/>
              </a:rPr>
              <a:t>Produktions GmbH</a:t>
            </a:r>
          </a:p>
        </p:txBody>
      </p:sp>
      <p:sp>
        <p:nvSpPr>
          <p:cNvPr id="63" name="g-produktion"/>
          <p:cNvSpPr/>
          <p:nvPr/>
        </p:nvSpPr>
        <p:spPr>
          <a:xfrm>
            <a:off x="1598707" y="2355846"/>
            <a:ext cx="768033" cy="1361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5447">
            <a:solidFill>
              <a:srgbClr val="9A9A9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Text g-produktion"/>
          <p:cNvSpPr txBox="1"/>
          <p:nvPr/>
        </p:nvSpPr>
        <p:spPr>
          <a:xfrm>
            <a:off x="2144773" y="2375782"/>
            <a:ext cx="181114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600" b="0" i="0" u="none" lang="de-DE">
                <a:solidFill>
                  <a:srgbClr val="1A1A1A"/>
                </a:solidFill>
                <a:latin typeface="Arial"/>
              </a:rPr>
              <a:t>34,0</a:t>
            </a:r>
          </a:p>
        </p:txBody>
      </p:sp>
      <p:sp>
        <p:nvSpPr>
          <p:cNvPr id="65" name="k-neu"/>
          <p:cNvSpPr/>
          <p:nvPr/>
        </p:nvSpPr>
        <p:spPr>
          <a:xfrm>
            <a:off x="2840633" y="2203329"/>
            <a:ext cx="844292" cy="326823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5447">
            <a:solidFill>
              <a:srgbClr val="9A9A9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Text mk-label"/>
          <p:cNvSpPr txBox="1"/>
          <p:nvPr/>
        </p:nvSpPr>
        <p:spPr>
          <a:xfrm>
            <a:off x="2876039" y="2234159"/>
            <a:ext cx="426742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00" b="1" i="0" u="none" lang="de-DE">
                <a:solidFill>
                  <a:srgbClr val="1A1A1A"/>
                </a:solidFill>
                <a:latin typeface="Arial"/>
              </a:rPr>
              <a:t>Neu GmbH</a:t>
            </a:r>
          </a:p>
        </p:txBody>
      </p:sp>
      <p:sp>
        <p:nvSpPr>
          <p:cNvPr id="67" name="g-neu"/>
          <p:cNvSpPr/>
          <p:nvPr/>
        </p:nvSpPr>
        <p:spPr>
          <a:xfrm>
            <a:off x="2878762" y="2355846"/>
            <a:ext cx="768033" cy="1361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5447">
            <a:solidFill>
              <a:srgbClr val="9A9A9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Text g-neu"/>
          <p:cNvSpPr txBox="1"/>
          <p:nvPr/>
        </p:nvSpPr>
        <p:spPr>
          <a:xfrm>
            <a:off x="3467213" y="2375782"/>
            <a:ext cx="138729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600" b="0" i="0" u="none" lang="de-DE">
                <a:solidFill>
                  <a:srgbClr val="1A1A1A"/>
                </a:solidFill>
                <a:latin typeface="Arial"/>
              </a:rPr>
              <a:t>1,0</a:t>
            </a:r>
          </a:p>
        </p:txBody>
      </p:sp>
      <p:sp>
        <p:nvSpPr>
          <p:cNvPr id="69" name="band-ber"/>
          <p:cNvSpPr/>
          <p:nvPr/>
        </p:nvSpPr>
        <p:spPr>
          <a:xfrm>
            <a:off x="87153" y="2630922"/>
            <a:ext cx="3785695" cy="141623"/>
          </a:xfrm>
          <a:prstGeom prst="rect">
            <a:avLst/>
          </a:prstGeom>
          <a:solidFill>
            <a:srgbClr val="F6F6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Text band-ber"/>
          <p:cNvSpPr txBox="1"/>
          <p:nvPr/>
        </p:nvSpPr>
        <p:spPr>
          <a:xfrm>
            <a:off x="130729" y="2653581"/>
            <a:ext cx="1385932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00" b="1" i="0" u="none" lang="de-DE" spc="12">
                <a:solidFill>
                  <a:srgbClr val="3A3F44"/>
                </a:solidFill>
                <a:latin typeface="Arial"/>
              </a:rPr>
              <a:t>TOP-DOWN-VORGABE – BEREICHE</a:t>
            </a:r>
          </a:p>
        </p:txBody>
      </p:sp>
      <p:cxnSp>
        <p:nvCxnSpPr>
          <p:cNvPr id="71" name="Linie"/>
          <p:cNvCxnSpPr/>
          <p:nvPr/>
        </p:nvCxnSpPr>
        <p:spPr>
          <a:xfrm>
            <a:off x="1037662" y="3322696"/>
            <a:ext cx="0" cy="84429"/>
          </a:xfrm>
          <a:prstGeom prst="line">
            <a:avLst/>
          </a:prstGeom>
          <a:ln w="5447">
            <a:solidFill>
              <a:srgbClr val="3A3F44"/>
            </a:solidFill>
          </a:ln>
        </p:spPr>
      </p:cxnSp>
      <p:cxnSp>
        <p:nvCxnSpPr>
          <p:cNvPr id="72" name="Linie"/>
          <p:cNvCxnSpPr/>
          <p:nvPr/>
        </p:nvCxnSpPr>
        <p:spPr>
          <a:xfrm>
            <a:off x="561045" y="3407125"/>
            <a:ext cx="953233" cy="0"/>
          </a:xfrm>
          <a:prstGeom prst="line">
            <a:avLst/>
          </a:prstGeom>
          <a:ln w="5447">
            <a:solidFill>
              <a:srgbClr val="3A3F44"/>
            </a:solidFill>
          </a:ln>
        </p:spPr>
      </p:cxnSp>
      <p:cxnSp>
        <p:nvCxnSpPr>
          <p:cNvPr id="73" name="Linie"/>
          <p:cNvCxnSpPr/>
          <p:nvPr/>
        </p:nvCxnSpPr>
        <p:spPr>
          <a:xfrm>
            <a:off x="563769" y="3407125"/>
            <a:ext cx="0" cy="78982"/>
          </a:xfrm>
          <a:prstGeom prst="line">
            <a:avLst/>
          </a:prstGeom>
          <a:ln w="5447">
            <a:solidFill>
              <a:srgbClr val="3A3F44"/>
            </a:solidFill>
          </a:ln>
        </p:spPr>
      </p:cxnSp>
      <p:cxnSp>
        <p:nvCxnSpPr>
          <p:cNvPr id="74" name="Linie"/>
          <p:cNvCxnSpPr/>
          <p:nvPr/>
        </p:nvCxnSpPr>
        <p:spPr>
          <a:xfrm>
            <a:off x="1511554" y="3407125"/>
            <a:ext cx="0" cy="78982"/>
          </a:xfrm>
          <a:prstGeom prst="line">
            <a:avLst/>
          </a:prstGeom>
          <a:ln w="5447">
            <a:solidFill>
              <a:srgbClr val="3A3F44"/>
            </a:solidFill>
          </a:ln>
        </p:spPr>
      </p:cxnSp>
      <p:cxnSp>
        <p:nvCxnSpPr>
          <p:cNvPr id="75" name="Linie"/>
          <p:cNvCxnSpPr/>
          <p:nvPr/>
        </p:nvCxnSpPr>
        <p:spPr>
          <a:xfrm>
            <a:off x="2927785" y="3322696"/>
            <a:ext cx="0" cy="84429"/>
          </a:xfrm>
          <a:prstGeom prst="line">
            <a:avLst/>
          </a:prstGeom>
          <a:ln w="5447">
            <a:solidFill>
              <a:srgbClr val="3A3F44"/>
            </a:solidFill>
          </a:ln>
        </p:spPr>
      </p:cxnSp>
      <p:cxnSp>
        <p:nvCxnSpPr>
          <p:cNvPr id="76" name="Linie"/>
          <p:cNvCxnSpPr/>
          <p:nvPr/>
        </p:nvCxnSpPr>
        <p:spPr>
          <a:xfrm>
            <a:off x="2451169" y="3407125"/>
            <a:ext cx="953233" cy="0"/>
          </a:xfrm>
          <a:prstGeom prst="line">
            <a:avLst/>
          </a:prstGeom>
          <a:ln w="5447">
            <a:solidFill>
              <a:srgbClr val="3A3F44"/>
            </a:solidFill>
          </a:ln>
        </p:spPr>
      </p:cxnSp>
      <p:cxnSp>
        <p:nvCxnSpPr>
          <p:cNvPr id="77" name="Linie"/>
          <p:cNvCxnSpPr/>
          <p:nvPr/>
        </p:nvCxnSpPr>
        <p:spPr>
          <a:xfrm>
            <a:off x="2453893" y="3407125"/>
            <a:ext cx="0" cy="78982"/>
          </a:xfrm>
          <a:prstGeom prst="line">
            <a:avLst/>
          </a:prstGeom>
          <a:ln w="5447">
            <a:solidFill>
              <a:srgbClr val="3A3F44"/>
            </a:solidFill>
          </a:ln>
        </p:spPr>
      </p:cxnSp>
      <p:cxnSp>
        <p:nvCxnSpPr>
          <p:cNvPr id="78" name="Linie"/>
          <p:cNvCxnSpPr/>
          <p:nvPr/>
        </p:nvCxnSpPr>
        <p:spPr>
          <a:xfrm>
            <a:off x="3401678" y="3407125"/>
            <a:ext cx="0" cy="78982"/>
          </a:xfrm>
          <a:prstGeom prst="line">
            <a:avLst/>
          </a:prstGeom>
          <a:ln w="5447">
            <a:solidFill>
              <a:srgbClr val="3A3F44"/>
            </a:solidFill>
          </a:ln>
        </p:spPr>
      </p:cxnSp>
      <p:sp>
        <p:nvSpPr>
          <p:cNvPr id="79" name="k2-vertrieb"/>
          <p:cNvSpPr/>
          <p:nvPr/>
        </p:nvSpPr>
        <p:spPr>
          <a:xfrm>
            <a:off x="612792" y="2829739"/>
            <a:ext cx="844292" cy="490234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5447">
            <a:solidFill>
              <a:srgbClr val="9A9A9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Text mk-label"/>
          <p:cNvSpPr txBox="1"/>
          <p:nvPr/>
        </p:nvSpPr>
        <p:spPr>
          <a:xfrm>
            <a:off x="648198" y="2860569"/>
            <a:ext cx="609133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00" b="1" i="0" u="none" lang="de-DE">
                <a:solidFill>
                  <a:srgbClr val="1A1A1A"/>
                </a:solidFill>
                <a:latin typeface="Arial"/>
              </a:rPr>
              <a:t>Vertriebs GmbH</a:t>
            </a:r>
          </a:p>
        </p:txBody>
      </p:sp>
      <p:sp>
        <p:nvSpPr>
          <p:cNvPr id="81" name="Text mk-label"/>
          <p:cNvSpPr txBox="1"/>
          <p:nvPr/>
        </p:nvSpPr>
        <p:spPr>
          <a:xfrm>
            <a:off x="648198" y="3002192"/>
            <a:ext cx="316865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00" b="0" i="0" u="none" lang="de-DE">
                <a:solidFill>
                  <a:srgbClr val="4D4D4D"/>
                </a:solidFill>
                <a:latin typeface="Arial"/>
              </a:rPr>
              <a:t>Vorgabe</a:t>
            </a:r>
          </a:p>
        </p:txBody>
      </p:sp>
      <p:sp>
        <p:nvSpPr>
          <p:cNvPr id="82" name="v-vertrieb"/>
          <p:cNvSpPr/>
          <p:nvPr/>
        </p:nvSpPr>
        <p:spPr>
          <a:xfrm>
            <a:off x="1021320" y="2982256"/>
            <a:ext cx="397634" cy="136176"/>
          </a:xfrm>
          <a:prstGeom prst="roundRect">
            <a:avLst>
              <a:gd name="adj" fmla="val 8000"/>
            </a:avLst>
          </a:prstGeom>
          <a:solidFill>
            <a:srgbClr val="EFEFEF"/>
          </a:solidFill>
          <a:ln w="5447">
            <a:solidFill>
              <a:srgbClr val="EFEFE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Text v-vertrieb"/>
          <p:cNvSpPr txBox="1"/>
          <p:nvPr/>
        </p:nvSpPr>
        <p:spPr>
          <a:xfrm>
            <a:off x="1196988" y="3002192"/>
            <a:ext cx="181114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600" b="0" i="0" u="none" lang="de-DE">
                <a:solidFill>
                  <a:srgbClr val="1A1A1A"/>
                </a:solidFill>
                <a:latin typeface="Arial"/>
              </a:rPr>
              <a:t>77,0</a:t>
            </a:r>
          </a:p>
        </p:txBody>
      </p:sp>
      <p:sp>
        <p:nvSpPr>
          <p:cNvPr id="84" name="Text mk-label"/>
          <p:cNvSpPr txBox="1"/>
          <p:nvPr/>
        </p:nvSpPr>
        <p:spPr>
          <a:xfrm>
            <a:off x="648198" y="3165603"/>
            <a:ext cx="336525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00" b="0" i="0" u="none" lang="de-DE">
                <a:solidFill>
                  <a:srgbClr val="4D4D4D"/>
                </a:solidFill>
                <a:latin typeface="Arial"/>
              </a:rPr>
              <a:t>Differenz</a:t>
            </a:r>
          </a:p>
        </p:txBody>
      </p:sp>
      <p:sp>
        <p:nvSpPr>
          <p:cNvPr id="85" name="d-vertrieb"/>
          <p:cNvSpPr/>
          <p:nvPr/>
        </p:nvSpPr>
        <p:spPr>
          <a:xfrm>
            <a:off x="1021320" y="3145667"/>
            <a:ext cx="397634" cy="136176"/>
          </a:xfrm>
          <a:prstGeom prst="roundRect">
            <a:avLst>
              <a:gd name="adj" fmla="val 8000"/>
            </a:avLst>
          </a:prstGeom>
          <a:solidFill>
            <a:srgbClr val="EFEFEF"/>
          </a:solidFill>
          <a:ln w="5447">
            <a:solidFill>
              <a:srgbClr val="EFEFE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Text d-vertrieb"/>
          <p:cNvSpPr txBox="1"/>
          <p:nvPr/>
        </p:nvSpPr>
        <p:spPr>
          <a:xfrm>
            <a:off x="1197498" y="3165603"/>
            <a:ext cx="180604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600" b="0" i="0" u="none" lang="de-DE">
                <a:solidFill>
                  <a:srgbClr val="1A1A1A"/>
                </a:solidFill>
                <a:latin typeface="Arial"/>
              </a:rPr>
              <a:t>±0,0</a:t>
            </a:r>
          </a:p>
        </p:txBody>
      </p:sp>
      <p:sp>
        <p:nvSpPr>
          <p:cNvPr id="87" name="k2-produktion"/>
          <p:cNvSpPr/>
          <p:nvPr/>
        </p:nvSpPr>
        <p:spPr>
          <a:xfrm>
            <a:off x="2502916" y="2829739"/>
            <a:ext cx="844292" cy="490234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5447">
            <a:solidFill>
              <a:srgbClr val="9A9A9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Text mk-label"/>
          <p:cNvSpPr txBox="1"/>
          <p:nvPr/>
        </p:nvSpPr>
        <p:spPr>
          <a:xfrm>
            <a:off x="2538322" y="2860569"/>
            <a:ext cx="727521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00" b="1" i="0" u="none" lang="de-DE">
                <a:solidFill>
                  <a:srgbClr val="1A1A1A"/>
                </a:solidFill>
                <a:latin typeface="Arial"/>
              </a:rPr>
              <a:t>Produktions GmbH</a:t>
            </a:r>
          </a:p>
        </p:txBody>
      </p:sp>
      <p:sp>
        <p:nvSpPr>
          <p:cNvPr id="89" name="Text mk-label"/>
          <p:cNvSpPr txBox="1"/>
          <p:nvPr/>
        </p:nvSpPr>
        <p:spPr>
          <a:xfrm>
            <a:off x="2538322" y="3002192"/>
            <a:ext cx="316865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00" b="0" i="0" u="none" lang="de-DE">
                <a:solidFill>
                  <a:srgbClr val="4D4D4D"/>
                </a:solidFill>
                <a:latin typeface="Arial"/>
              </a:rPr>
              <a:t>Vorgabe</a:t>
            </a:r>
          </a:p>
        </p:txBody>
      </p:sp>
      <p:sp>
        <p:nvSpPr>
          <p:cNvPr id="90" name="v-produktion"/>
          <p:cNvSpPr/>
          <p:nvPr/>
        </p:nvSpPr>
        <p:spPr>
          <a:xfrm>
            <a:off x="2911444" y="2982256"/>
            <a:ext cx="397634" cy="136176"/>
          </a:xfrm>
          <a:prstGeom prst="roundRect">
            <a:avLst>
              <a:gd name="adj" fmla="val 8000"/>
            </a:avLst>
          </a:prstGeom>
          <a:solidFill>
            <a:srgbClr val="EFEFEF"/>
          </a:solidFill>
          <a:ln w="5447">
            <a:solidFill>
              <a:srgbClr val="EFEFE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1" name="Text v-produktion"/>
          <p:cNvSpPr txBox="1"/>
          <p:nvPr/>
        </p:nvSpPr>
        <p:spPr>
          <a:xfrm>
            <a:off x="3087111" y="3002192"/>
            <a:ext cx="181114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600" b="0" i="0" u="none" lang="de-DE">
                <a:solidFill>
                  <a:srgbClr val="1A1A1A"/>
                </a:solidFill>
                <a:latin typeface="Arial"/>
              </a:rPr>
              <a:t>34,0</a:t>
            </a:r>
          </a:p>
        </p:txBody>
      </p:sp>
      <p:sp>
        <p:nvSpPr>
          <p:cNvPr id="92" name="Text mk-label"/>
          <p:cNvSpPr txBox="1"/>
          <p:nvPr/>
        </p:nvSpPr>
        <p:spPr>
          <a:xfrm>
            <a:off x="2538322" y="3165603"/>
            <a:ext cx="336525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00" b="0" i="0" u="none" lang="de-DE">
                <a:solidFill>
                  <a:srgbClr val="4D4D4D"/>
                </a:solidFill>
                <a:latin typeface="Arial"/>
              </a:rPr>
              <a:t>Differenz</a:t>
            </a:r>
          </a:p>
        </p:txBody>
      </p:sp>
      <p:sp>
        <p:nvSpPr>
          <p:cNvPr id="93" name="d-produktion"/>
          <p:cNvSpPr/>
          <p:nvPr/>
        </p:nvSpPr>
        <p:spPr>
          <a:xfrm>
            <a:off x="2911444" y="3145667"/>
            <a:ext cx="397634" cy="136176"/>
          </a:xfrm>
          <a:prstGeom prst="roundRect">
            <a:avLst>
              <a:gd name="adj" fmla="val 8000"/>
            </a:avLst>
          </a:prstGeom>
          <a:solidFill>
            <a:srgbClr val="EFEFEF"/>
          </a:solidFill>
          <a:ln w="5447">
            <a:solidFill>
              <a:srgbClr val="EFEFE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4" name="Text d-produktion"/>
          <p:cNvSpPr txBox="1"/>
          <p:nvPr/>
        </p:nvSpPr>
        <p:spPr>
          <a:xfrm>
            <a:off x="3087622" y="3165603"/>
            <a:ext cx="180604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600" b="0" i="0" u="none" lang="de-DE">
                <a:solidFill>
                  <a:srgbClr val="1A1A1A"/>
                </a:solidFill>
                <a:latin typeface="Arial"/>
              </a:rPr>
              <a:t>±0,0</a:t>
            </a:r>
          </a:p>
        </p:txBody>
      </p:sp>
      <p:sp>
        <p:nvSpPr>
          <p:cNvPr id="95" name="k-grosskunden"/>
          <p:cNvSpPr/>
          <p:nvPr/>
        </p:nvSpPr>
        <p:spPr>
          <a:xfrm>
            <a:off x="138900" y="3488831"/>
            <a:ext cx="844292" cy="326823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5447">
            <a:solidFill>
              <a:srgbClr val="9A9A9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Text mk-label"/>
          <p:cNvSpPr txBox="1"/>
          <p:nvPr/>
        </p:nvSpPr>
        <p:spPr>
          <a:xfrm>
            <a:off x="174305" y="3519661"/>
            <a:ext cx="486063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00" b="1" i="0" u="none" lang="de-DE">
                <a:solidFill>
                  <a:srgbClr val="1A1A1A"/>
                </a:solidFill>
                <a:latin typeface="Arial"/>
              </a:rPr>
              <a:t>Großkunden</a:t>
            </a:r>
          </a:p>
        </p:txBody>
      </p:sp>
      <p:sp>
        <p:nvSpPr>
          <p:cNvPr id="97" name="b-grosskunden"/>
          <p:cNvSpPr/>
          <p:nvPr/>
        </p:nvSpPr>
        <p:spPr>
          <a:xfrm>
            <a:off x="177029" y="3641348"/>
            <a:ext cx="768033" cy="1361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5447">
            <a:solidFill>
              <a:srgbClr val="9A9A9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Text b-grosskunden"/>
          <p:cNvSpPr txBox="1"/>
          <p:nvPr/>
        </p:nvSpPr>
        <p:spPr>
          <a:xfrm>
            <a:off x="723095" y="3661284"/>
            <a:ext cx="181114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600" b="0" i="0" u="none" lang="de-DE">
                <a:solidFill>
                  <a:srgbClr val="1A1A1A"/>
                </a:solidFill>
                <a:latin typeface="Arial"/>
              </a:rPr>
              <a:t>36,0</a:t>
            </a:r>
          </a:p>
        </p:txBody>
      </p:sp>
      <p:sp>
        <p:nvSpPr>
          <p:cNvPr id="99" name="k-massen"/>
          <p:cNvSpPr/>
          <p:nvPr/>
        </p:nvSpPr>
        <p:spPr>
          <a:xfrm>
            <a:off x="1086685" y="3488831"/>
            <a:ext cx="844292" cy="326823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5447">
            <a:solidFill>
              <a:srgbClr val="9A9A9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Text mk-label"/>
          <p:cNvSpPr txBox="1"/>
          <p:nvPr/>
        </p:nvSpPr>
        <p:spPr>
          <a:xfrm>
            <a:off x="1122091" y="3519661"/>
            <a:ext cx="626069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00" b="1" i="0" u="none" lang="de-DE">
                <a:solidFill>
                  <a:srgbClr val="1A1A1A"/>
                </a:solidFill>
                <a:latin typeface="Arial"/>
              </a:rPr>
              <a:t>Massengeschäft</a:t>
            </a:r>
          </a:p>
        </p:txBody>
      </p:sp>
      <p:sp>
        <p:nvSpPr>
          <p:cNvPr id="101" name="b-massen"/>
          <p:cNvSpPr/>
          <p:nvPr/>
        </p:nvSpPr>
        <p:spPr>
          <a:xfrm>
            <a:off x="1124814" y="3641348"/>
            <a:ext cx="768033" cy="1361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5447">
            <a:solidFill>
              <a:srgbClr val="9A9A9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Text b-massen"/>
          <p:cNvSpPr txBox="1"/>
          <p:nvPr/>
        </p:nvSpPr>
        <p:spPr>
          <a:xfrm>
            <a:off x="1670880" y="3661284"/>
            <a:ext cx="181114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600" b="0" i="0" u="none" lang="de-DE">
                <a:solidFill>
                  <a:srgbClr val="1A1A1A"/>
                </a:solidFill>
                <a:latin typeface="Arial"/>
              </a:rPr>
              <a:t>41,0</a:t>
            </a:r>
          </a:p>
        </p:txBody>
      </p:sp>
      <p:sp>
        <p:nvSpPr>
          <p:cNvPr id="103" name="k-winter"/>
          <p:cNvSpPr/>
          <p:nvPr/>
        </p:nvSpPr>
        <p:spPr>
          <a:xfrm>
            <a:off x="2029023" y="3488831"/>
            <a:ext cx="844292" cy="326823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5447">
            <a:solidFill>
              <a:srgbClr val="9A9A9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Text mk-label"/>
          <p:cNvSpPr txBox="1"/>
          <p:nvPr/>
        </p:nvSpPr>
        <p:spPr>
          <a:xfrm>
            <a:off x="2064429" y="3519661"/>
            <a:ext cx="459935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00" b="1" i="0" u="none" lang="de-DE">
                <a:solidFill>
                  <a:srgbClr val="1A1A1A"/>
                </a:solidFill>
                <a:latin typeface="Arial"/>
              </a:rPr>
              <a:t>Wintersport</a:t>
            </a:r>
          </a:p>
        </p:txBody>
      </p:sp>
      <p:sp>
        <p:nvSpPr>
          <p:cNvPr id="105" name="b-winter"/>
          <p:cNvSpPr/>
          <p:nvPr/>
        </p:nvSpPr>
        <p:spPr>
          <a:xfrm>
            <a:off x="2067153" y="3641348"/>
            <a:ext cx="768033" cy="1361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5447">
            <a:solidFill>
              <a:srgbClr val="9A9A9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Text b-winter"/>
          <p:cNvSpPr txBox="1"/>
          <p:nvPr/>
        </p:nvSpPr>
        <p:spPr>
          <a:xfrm>
            <a:off x="2613219" y="3661284"/>
            <a:ext cx="181114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600" b="0" i="0" u="none" lang="de-DE">
                <a:solidFill>
                  <a:srgbClr val="1A1A1A"/>
                </a:solidFill>
                <a:latin typeface="Arial"/>
              </a:rPr>
              <a:t>22,0</a:t>
            </a:r>
          </a:p>
        </p:txBody>
      </p:sp>
      <p:sp>
        <p:nvSpPr>
          <p:cNvPr id="107" name="k-sommer"/>
          <p:cNvSpPr/>
          <p:nvPr/>
        </p:nvSpPr>
        <p:spPr>
          <a:xfrm>
            <a:off x="2976809" y="3488831"/>
            <a:ext cx="844292" cy="326823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5447">
            <a:solidFill>
              <a:srgbClr val="9A9A9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8" name="Text mk-label"/>
          <p:cNvSpPr txBox="1"/>
          <p:nvPr/>
        </p:nvSpPr>
        <p:spPr>
          <a:xfrm>
            <a:off x="3012215" y="3519661"/>
            <a:ext cx="528533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600" b="1" i="0" u="none" lang="de-DE">
                <a:solidFill>
                  <a:srgbClr val="1A1A1A"/>
                </a:solidFill>
                <a:latin typeface="Arial"/>
              </a:rPr>
              <a:t>Sommersport</a:t>
            </a:r>
          </a:p>
        </p:txBody>
      </p:sp>
      <p:sp>
        <p:nvSpPr>
          <p:cNvPr id="109" name="b-sommer"/>
          <p:cNvSpPr/>
          <p:nvPr/>
        </p:nvSpPr>
        <p:spPr>
          <a:xfrm>
            <a:off x="3014938" y="3641348"/>
            <a:ext cx="768033" cy="1361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5447">
            <a:solidFill>
              <a:srgbClr val="9A9A9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0" name="Text b-sommer"/>
          <p:cNvSpPr txBox="1"/>
          <p:nvPr/>
        </p:nvSpPr>
        <p:spPr>
          <a:xfrm>
            <a:off x="3561004" y="3661284"/>
            <a:ext cx="181114" cy="871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600" b="0" i="0" u="none" lang="de-DE">
                <a:solidFill>
                  <a:srgbClr val="1A1A1A"/>
                </a:solidFill>
                <a:latin typeface="Arial"/>
              </a:rPr>
              <a:t>12,0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