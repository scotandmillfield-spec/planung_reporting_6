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580000" cy="34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lan-GuV"/>
          <p:cNvSpPr/>
          <p:nvPr/>
        </p:nvSpPr>
        <p:spPr>
          <a:xfrm>
            <a:off x="18000" y="540000"/>
            <a:ext cx="1638000" cy="1548000"/>
          </a:xfrm>
          <a:prstGeom prst="roundRect">
            <a:avLst>
              <a:gd name="adj" fmla="val 1859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3" name="Kopf Plan-GuV"/>
          <p:cNvSpPr/>
          <p:nvPr/>
        </p:nvSpPr>
        <p:spPr>
          <a:xfrm>
            <a:off x="18000" y="540000"/>
            <a:ext cx="1638000" cy="180000"/>
          </a:xfrm>
          <a:prstGeom prst="roundRect">
            <a:avLst>
              <a:gd name="adj" fmla="val 16000"/>
            </a:avLst>
          </a:prstGeom>
          <a:solidFill>
            <a:srgbClr val="3A3F44"/>
          </a:solidFill>
          <a:ln>
            <a:noFill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85"/>
              </a:lnSpc>
              <a:buNone/>
            </a:pPr>
            <a:r>
              <a:rPr lang="de-DE" sz="750" b="1" i="0">
                <a:solidFill>
                  <a:srgbClr val="FFFFFF"/>
                </a:solidFill>
                <a:latin typeface="Arial"/>
              </a:rPr>
              <a:t>Plan-GuV</a:t>
            </a:r>
          </a:p>
        </p:txBody>
      </p:sp>
      <p:sp>
        <p:nvSpPr>
          <p:cNvPr id="4" name="Zeile Umsatz"/>
          <p:cNvSpPr txBox="1"/>
          <p:nvPr/>
        </p:nvSpPr>
        <p:spPr>
          <a:xfrm>
            <a:off x="61200" y="752400"/>
            <a:ext cx="1242000" cy="11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1" i="0">
                <a:solidFill>
                  <a:srgbClr val="1A1A1A"/>
                </a:solidFill>
                <a:latin typeface="Arial"/>
              </a:rPr>
              <a:t>Umsatz</a:t>
            </a:r>
          </a:p>
        </p:txBody>
      </p:sp>
      <p:sp>
        <p:nvSpPr>
          <p:cNvPr id="5" name="Wert Umsatz"/>
          <p:cNvSpPr txBox="1"/>
          <p:nvPr/>
        </p:nvSpPr>
        <p:spPr>
          <a:xfrm>
            <a:off x="1288800" y="752400"/>
            <a:ext cx="324000" cy="11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1" i="0">
                <a:solidFill>
                  <a:srgbClr val="1A1A1A"/>
                </a:solidFill>
                <a:latin typeface="Arial"/>
              </a:rPr>
              <a:t>1.000</a:t>
            </a:r>
          </a:p>
        </p:txBody>
      </p:sp>
      <p:sp>
        <p:nvSpPr>
          <p:cNvPr id="6" name="Zeile – Materialkosten"/>
          <p:cNvSpPr txBox="1"/>
          <p:nvPr/>
        </p:nvSpPr>
        <p:spPr>
          <a:xfrm>
            <a:off x="61200" y="871200"/>
            <a:ext cx="1242000" cy="11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– Materialkosten</a:t>
            </a:r>
          </a:p>
        </p:txBody>
      </p:sp>
      <p:sp>
        <p:nvSpPr>
          <p:cNvPr id="7" name="Wert – Materialkosten"/>
          <p:cNvSpPr txBox="1"/>
          <p:nvPr/>
        </p:nvSpPr>
        <p:spPr>
          <a:xfrm>
            <a:off x="1288800" y="871200"/>
            <a:ext cx="324000" cy="11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400</a:t>
            </a:r>
          </a:p>
        </p:txBody>
      </p:sp>
      <p:sp>
        <p:nvSpPr>
          <p:cNvPr id="8" name="Zeile = Deckungsbeitrag"/>
          <p:cNvSpPr txBox="1"/>
          <p:nvPr/>
        </p:nvSpPr>
        <p:spPr>
          <a:xfrm>
            <a:off x="61200" y="990000"/>
            <a:ext cx="1242000" cy="11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= Deckungsbeitrag</a:t>
            </a:r>
          </a:p>
        </p:txBody>
      </p:sp>
      <p:sp>
        <p:nvSpPr>
          <p:cNvPr id="9" name="Wert = Deckungsbeitrag"/>
          <p:cNvSpPr txBox="1"/>
          <p:nvPr/>
        </p:nvSpPr>
        <p:spPr>
          <a:xfrm>
            <a:off x="1288800" y="990000"/>
            <a:ext cx="324000" cy="11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600</a:t>
            </a:r>
          </a:p>
        </p:txBody>
      </p:sp>
      <p:sp>
        <p:nvSpPr>
          <p:cNvPr id="10" name="Zeile – Personalaufwand"/>
          <p:cNvSpPr txBox="1"/>
          <p:nvPr/>
        </p:nvSpPr>
        <p:spPr>
          <a:xfrm>
            <a:off x="61200" y="1108800"/>
            <a:ext cx="1242000" cy="11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– Personalaufwand</a:t>
            </a:r>
          </a:p>
        </p:txBody>
      </p:sp>
      <p:sp>
        <p:nvSpPr>
          <p:cNvPr id="11" name="Wert – Personalaufwand"/>
          <p:cNvSpPr txBox="1"/>
          <p:nvPr/>
        </p:nvSpPr>
        <p:spPr>
          <a:xfrm>
            <a:off x="1288800" y="1108800"/>
            <a:ext cx="324000" cy="11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300</a:t>
            </a:r>
          </a:p>
        </p:txBody>
      </p:sp>
      <p:sp>
        <p:nvSpPr>
          <p:cNvPr id="12" name="Zeile – Sonstige Kosten"/>
          <p:cNvSpPr txBox="1"/>
          <p:nvPr/>
        </p:nvSpPr>
        <p:spPr>
          <a:xfrm>
            <a:off x="61200" y="1227600"/>
            <a:ext cx="1242000" cy="11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– Sonstige Kosten</a:t>
            </a:r>
          </a:p>
        </p:txBody>
      </p:sp>
      <p:sp>
        <p:nvSpPr>
          <p:cNvPr id="13" name="Wert – Sonstige Kosten"/>
          <p:cNvSpPr txBox="1"/>
          <p:nvPr/>
        </p:nvSpPr>
        <p:spPr>
          <a:xfrm>
            <a:off x="1288800" y="1227600"/>
            <a:ext cx="324000" cy="11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150</a:t>
            </a:r>
          </a:p>
        </p:txBody>
      </p:sp>
      <p:sp>
        <p:nvSpPr>
          <p:cNvPr id="14" name="Zeile davon Risikotransfer"/>
          <p:cNvSpPr txBox="1"/>
          <p:nvPr/>
        </p:nvSpPr>
        <p:spPr>
          <a:xfrm>
            <a:off x="61200" y="1346400"/>
            <a:ext cx="1242000" cy="11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   davon Risikotransfer</a:t>
            </a:r>
          </a:p>
        </p:txBody>
      </p:sp>
      <p:sp>
        <p:nvSpPr>
          <p:cNvPr id="15" name="Wert davon Risikotransfer"/>
          <p:cNvSpPr txBox="1"/>
          <p:nvPr/>
        </p:nvSpPr>
        <p:spPr>
          <a:xfrm>
            <a:off x="1288800" y="1346400"/>
            <a:ext cx="324000" cy="11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5</a:t>
            </a:r>
          </a:p>
        </p:txBody>
      </p:sp>
      <p:sp>
        <p:nvSpPr>
          <p:cNvPr id="16" name="Zeile – AfA"/>
          <p:cNvSpPr txBox="1"/>
          <p:nvPr/>
        </p:nvSpPr>
        <p:spPr>
          <a:xfrm>
            <a:off x="61200" y="1465200"/>
            <a:ext cx="1242000" cy="11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– AfA</a:t>
            </a:r>
          </a:p>
        </p:txBody>
      </p:sp>
      <p:sp>
        <p:nvSpPr>
          <p:cNvPr id="17" name="Wert – AfA"/>
          <p:cNvSpPr txBox="1"/>
          <p:nvPr/>
        </p:nvSpPr>
        <p:spPr>
          <a:xfrm>
            <a:off x="1288800" y="1465200"/>
            <a:ext cx="324000" cy="11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50</a:t>
            </a:r>
          </a:p>
        </p:txBody>
      </p:sp>
      <p:sp>
        <p:nvSpPr>
          <p:cNvPr id="18" name="Zeile = Betriebsergebnis"/>
          <p:cNvSpPr txBox="1"/>
          <p:nvPr/>
        </p:nvSpPr>
        <p:spPr>
          <a:xfrm>
            <a:off x="61200" y="1584000"/>
            <a:ext cx="1242000" cy="11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1" i="0">
                <a:solidFill>
                  <a:srgbClr val="1A1A1A"/>
                </a:solidFill>
                <a:latin typeface="Arial"/>
              </a:rPr>
              <a:t>= Betriebsergebnis</a:t>
            </a:r>
          </a:p>
        </p:txBody>
      </p:sp>
      <p:sp>
        <p:nvSpPr>
          <p:cNvPr id="19" name="Wert = Betriebsergebnis"/>
          <p:cNvSpPr txBox="1"/>
          <p:nvPr/>
        </p:nvSpPr>
        <p:spPr>
          <a:xfrm>
            <a:off x="1288800" y="1584000"/>
            <a:ext cx="324000" cy="11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1" i="0">
                <a:solidFill>
                  <a:srgbClr val="1A1A1A"/>
                </a:solidFill>
                <a:latin typeface="Arial"/>
              </a:rPr>
              <a:t>100</a:t>
            </a:r>
          </a:p>
        </p:txBody>
      </p:sp>
      <p:sp>
        <p:nvSpPr>
          <p:cNvPr id="20" name="Zeile – Zinsaufwand"/>
          <p:cNvSpPr txBox="1"/>
          <p:nvPr/>
        </p:nvSpPr>
        <p:spPr>
          <a:xfrm>
            <a:off x="61200" y="1702800"/>
            <a:ext cx="1242000" cy="11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– Zinsaufwand</a:t>
            </a:r>
          </a:p>
        </p:txBody>
      </p:sp>
      <p:sp>
        <p:nvSpPr>
          <p:cNvPr id="21" name="Wert – Zinsaufwand"/>
          <p:cNvSpPr txBox="1"/>
          <p:nvPr/>
        </p:nvSpPr>
        <p:spPr>
          <a:xfrm>
            <a:off x="1288800" y="1702800"/>
            <a:ext cx="324000" cy="11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44</a:t>
            </a:r>
          </a:p>
        </p:txBody>
      </p:sp>
      <p:sp>
        <p:nvSpPr>
          <p:cNvPr id="22" name="Zeile – a. o. Ergebnis"/>
          <p:cNvSpPr txBox="1"/>
          <p:nvPr/>
        </p:nvSpPr>
        <p:spPr>
          <a:xfrm>
            <a:off x="61200" y="1821600"/>
            <a:ext cx="1242000" cy="11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– a. o. Ergebnis</a:t>
            </a:r>
          </a:p>
        </p:txBody>
      </p:sp>
      <p:sp>
        <p:nvSpPr>
          <p:cNvPr id="23" name="Wert – a. o. Ergebnis"/>
          <p:cNvSpPr txBox="1"/>
          <p:nvPr/>
        </p:nvSpPr>
        <p:spPr>
          <a:xfrm>
            <a:off x="1288800" y="1821600"/>
            <a:ext cx="324000" cy="11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0</a:t>
            </a:r>
          </a:p>
        </p:txBody>
      </p:sp>
      <p:sp>
        <p:nvSpPr>
          <p:cNvPr id="24" name="Zeile = Gewinn vor Steuern"/>
          <p:cNvSpPr txBox="1"/>
          <p:nvPr/>
        </p:nvSpPr>
        <p:spPr>
          <a:xfrm>
            <a:off x="61200" y="1940400"/>
            <a:ext cx="1242000" cy="11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1" i="0">
                <a:solidFill>
                  <a:srgbClr val="1A1A1A"/>
                </a:solidFill>
                <a:latin typeface="Arial"/>
              </a:rPr>
              <a:t>= Gewinn vor Steuern</a:t>
            </a:r>
          </a:p>
        </p:txBody>
      </p:sp>
      <p:sp>
        <p:nvSpPr>
          <p:cNvPr id="25" name="Wert = Gewinn vor Steuern"/>
          <p:cNvSpPr txBox="1"/>
          <p:nvPr/>
        </p:nvSpPr>
        <p:spPr>
          <a:xfrm>
            <a:off x="1288800" y="1940400"/>
            <a:ext cx="324000" cy="11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1" i="0">
                <a:solidFill>
                  <a:srgbClr val="1A1A1A"/>
                </a:solidFill>
                <a:latin typeface="Arial"/>
              </a:rPr>
              <a:t>56</a:t>
            </a:r>
          </a:p>
        </p:txBody>
      </p:sp>
      <p:sp>
        <p:nvSpPr>
          <p:cNvPr id="26" name="Risiko Absatz­menge"/>
          <p:cNvSpPr txBox="1"/>
          <p:nvPr/>
        </p:nvSpPr>
        <p:spPr>
          <a:xfrm>
            <a:off x="1872000" y="18000"/>
            <a:ext cx="324000" cy="3312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Absatz-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menge</a:t>
            </a:r>
          </a:p>
        </p:txBody>
      </p:sp>
      <p:sp>
        <p:nvSpPr>
          <p:cNvPr id="27" name="R1"/>
          <p:cNvSpPr/>
          <p:nvPr/>
        </p:nvSpPr>
        <p:spPr>
          <a:xfrm>
            <a:off x="1872000" y="360000"/>
            <a:ext cx="324000" cy="151200"/>
          </a:xfrm>
          <a:prstGeom prst="rect">
            <a:avLst/>
          </a:prstGeom>
          <a:solidFill>
            <a:srgbClr val="3A3F44"/>
          </a:solidFill>
          <a:ln>
            <a:noFill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1" i="0">
                <a:solidFill>
                  <a:srgbClr val="FFFFFF"/>
                </a:solidFill>
                <a:latin typeface="Arial"/>
              </a:rPr>
              <a:t>R1</a:t>
            </a:r>
          </a:p>
        </p:txBody>
      </p:sp>
      <p:sp>
        <p:nvSpPr>
          <p:cNvPr id="28" name="Risiko Neuer Wettbe­werber"/>
          <p:cNvSpPr txBox="1"/>
          <p:nvPr/>
        </p:nvSpPr>
        <p:spPr>
          <a:xfrm>
            <a:off x="2196000" y="18000"/>
            <a:ext cx="324000" cy="3312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Neuer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Wettbe-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werber</a:t>
            </a:r>
          </a:p>
        </p:txBody>
      </p:sp>
      <p:sp>
        <p:nvSpPr>
          <p:cNvPr id="29" name="R2"/>
          <p:cNvSpPr/>
          <p:nvPr/>
        </p:nvSpPr>
        <p:spPr>
          <a:xfrm>
            <a:off x="2196000" y="360000"/>
            <a:ext cx="324000" cy="151200"/>
          </a:xfrm>
          <a:prstGeom prst="rect">
            <a:avLst/>
          </a:prstGeom>
          <a:solidFill>
            <a:srgbClr val="3A3F44"/>
          </a:solidFill>
          <a:ln>
            <a:noFill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1" i="0">
                <a:solidFill>
                  <a:srgbClr val="FFFFFF"/>
                </a:solidFill>
                <a:latin typeface="Arial"/>
              </a:rPr>
              <a:t>R2</a:t>
            </a:r>
          </a:p>
        </p:txBody>
      </p:sp>
      <p:sp>
        <p:nvSpPr>
          <p:cNvPr id="30" name="Risiko Material­preise"/>
          <p:cNvSpPr txBox="1"/>
          <p:nvPr/>
        </p:nvSpPr>
        <p:spPr>
          <a:xfrm>
            <a:off x="2520000" y="18000"/>
            <a:ext cx="324000" cy="3312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Material-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preise</a:t>
            </a:r>
          </a:p>
        </p:txBody>
      </p:sp>
      <p:sp>
        <p:nvSpPr>
          <p:cNvPr id="31" name="R3"/>
          <p:cNvSpPr/>
          <p:nvPr/>
        </p:nvSpPr>
        <p:spPr>
          <a:xfrm>
            <a:off x="2520000" y="360000"/>
            <a:ext cx="324000" cy="151200"/>
          </a:xfrm>
          <a:prstGeom prst="rect">
            <a:avLst/>
          </a:prstGeom>
          <a:solidFill>
            <a:srgbClr val="3A3F44"/>
          </a:solidFill>
          <a:ln>
            <a:noFill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1" i="0">
                <a:solidFill>
                  <a:srgbClr val="FFFFFF"/>
                </a:solidFill>
                <a:latin typeface="Arial"/>
              </a:rPr>
              <a:t>R3</a:t>
            </a:r>
          </a:p>
        </p:txBody>
      </p:sp>
      <p:sp>
        <p:nvSpPr>
          <p:cNvPr id="32" name="Risiko Perso­nal­kosten"/>
          <p:cNvSpPr txBox="1"/>
          <p:nvPr/>
        </p:nvSpPr>
        <p:spPr>
          <a:xfrm>
            <a:off x="2844000" y="18000"/>
            <a:ext cx="324000" cy="3312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Perso-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nal-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kosten</a:t>
            </a:r>
          </a:p>
        </p:txBody>
      </p:sp>
      <p:sp>
        <p:nvSpPr>
          <p:cNvPr id="33" name="R4"/>
          <p:cNvSpPr/>
          <p:nvPr/>
        </p:nvSpPr>
        <p:spPr>
          <a:xfrm>
            <a:off x="2844000" y="360000"/>
            <a:ext cx="324000" cy="151200"/>
          </a:xfrm>
          <a:prstGeom prst="rect">
            <a:avLst/>
          </a:prstGeom>
          <a:solidFill>
            <a:srgbClr val="3A3F44"/>
          </a:solidFill>
          <a:ln>
            <a:noFill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1" i="0">
                <a:solidFill>
                  <a:srgbClr val="FFFFFF"/>
                </a:solidFill>
                <a:latin typeface="Arial"/>
              </a:rPr>
              <a:t>R4</a:t>
            </a:r>
          </a:p>
        </p:txBody>
      </p:sp>
      <p:sp>
        <p:nvSpPr>
          <p:cNvPr id="34" name="Risiko Zins­ände­rung"/>
          <p:cNvSpPr txBox="1"/>
          <p:nvPr/>
        </p:nvSpPr>
        <p:spPr>
          <a:xfrm>
            <a:off x="3168000" y="18000"/>
            <a:ext cx="324000" cy="3312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Zins-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ände-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rung</a:t>
            </a:r>
          </a:p>
        </p:txBody>
      </p:sp>
      <p:sp>
        <p:nvSpPr>
          <p:cNvPr id="35" name="R5"/>
          <p:cNvSpPr/>
          <p:nvPr/>
        </p:nvSpPr>
        <p:spPr>
          <a:xfrm>
            <a:off x="3168000" y="360000"/>
            <a:ext cx="324000" cy="151200"/>
          </a:xfrm>
          <a:prstGeom prst="rect">
            <a:avLst/>
          </a:prstGeom>
          <a:solidFill>
            <a:srgbClr val="3A3F44"/>
          </a:solidFill>
          <a:ln>
            <a:noFill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1" i="0">
                <a:solidFill>
                  <a:srgbClr val="FFFFFF"/>
                </a:solidFill>
                <a:latin typeface="Arial"/>
              </a:rPr>
              <a:t>R5</a:t>
            </a:r>
          </a:p>
        </p:txBody>
      </p:sp>
      <p:sp>
        <p:nvSpPr>
          <p:cNvPr id="36" name="Risiko Maschi­nen­schaden"/>
          <p:cNvSpPr txBox="1"/>
          <p:nvPr/>
        </p:nvSpPr>
        <p:spPr>
          <a:xfrm>
            <a:off x="3492000" y="18000"/>
            <a:ext cx="324000" cy="3312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Maschi-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nen-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schaden</a:t>
            </a:r>
          </a:p>
        </p:txBody>
      </p:sp>
      <p:sp>
        <p:nvSpPr>
          <p:cNvPr id="37" name="R6"/>
          <p:cNvSpPr/>
          <p:nvPr/>
        </p:nvSpPr>
        <p:spPr>
          <a:xfrm>
            <a:off x="3492000" y="360000"/>
            <a:ext cx="324000" cy="151200"/>
          </a:xfrm>
          <a:prstGeom prst="rect">
            <a:avLst/>
          </a:prstGeom>
          <a:solidFill>
            <a:srgbClr val="3A3F44"/>
          </a:solidFill>
          <a:ln>
            <a:noFill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1" i="0">
                <a:solidFill>
                  <a:srgbClr val="FFFFFF"/>
                </a:solidFill>
                <a:latin typeface="Arial"/>
              </a:rPr>
              <a:t>R6</a:t>
            </a:r>
          </a:p>
        </p:txBody>
      </p:sp>
      <p:sp>
        <p:nvSpPr>
          <p:cNvPr id="38" name="R1 → Umsatz"/>
          <p:cNvSpPr/>
          <p:nvPr/>
        </p:nvSpPr>
        <p:spPr>
          <a:xfrm>
            <a:off x="1656000" y="511200"/>
            <a:ext cx="378000" cy="300600"/>
          </a:xfrm>
          <a:custGeom>
            <a:avLst/>
            <a:gdLst/>
            <a:ahLst/>
            <a:cxnLst/>
            <a:rect l="l" t="t" r="r" b="b"/>
            <a:pathLst>
              <a:path w="378000" h="300600">
                <a:moveTo>
                  <a:pt x="378000" y="0"/>
                </a:moveTo>
                <a:lnTo>
                  <a:pt x="378000" y="300600"/>
                </a:lnTo>
                <a:lnTo>
                  <a:pt x="0" y="3006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Wert R1"/>
          <p:cNvSpPr txBox="1"/>
          <p:nvPr/>
        </p:nvSpPr>
        <p:spPr>
          <a:xfrm>
            <a:off x="1785600" y="703800"/>
            <a:ext cx="288000" cy="100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±5 %</a:t>
            </a:r>
          </a:p>
        </p:txBody>
      </p:sp>
      <p:sp>
        <p:nvSpPr>
          <p:cNvPr id="40" name="R2 → Umsatz"/>
          <p:cNvSpPr/>
          <p:nvPr/>
        </p:nvSpPr>
        <p:spPr>
          <a:xfrm>
            <a:off x="1656000" y="511200"/>
            <a:ext cx="702000" cy="300600"/>
          </a:xfrm>
          <a:custGeom>
            <a:avLst/>
            <a:gdLst/>
            <a:ahLst/>
            <a:cxnLst/>
            <a:rect l="l" t="t" r="r" b="b"/>
            <a:pathLst>
              <a:path w="702000" h="300600">
                <a:moveTo>
                  <a:pt x="702000" y="0"/>
                </a:moveTo>
                <a:lnTo>
                  <a:pt x="702000" y="300600"/>
                </a:lnTo>
                <a:lnTo>
                  <a:pt x="0" y="3006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Wert R2"/>
          <p:cNvSpPr txBox="1"/>
          <p:nvPr/>
        </p:nvSpPr>
        <p:spPr>
          <a:xfrm>
            <a:off x="2077200" y="703800"/>
            <a:ext cx="288000" cy="100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–100</a:t>
            </a:r>
          </a:p>
        </p:txBody>
      </p:sp>
      <p:sp>
        <p:nvSpPr>
          <p:cNvPr id="42" name="R3 → – Materialkosten"/>
          <p:cNvSpPr/>
          <p:nvPr/>
        </p:nvSpPr>
        <p:spPr>
          <a:xfrm>
            <a:off x="1656000" y="511200"/>
            <a:ext cx="1026000" cy="419400"/>
          </a:xfrm>
          <a:custGeom>
            <a:avLst/>
            <a:gdLst/>
            <a:ahLst/>
            <a:cxnLst/>
            <a:rect l="l" t="t" r="r" b="b"/>
            <a:pathLst>
              <a:path w="1026000" h="419400">
                <a:moveTo>
                  <a:pt x="1026000" y="0"/>
                </a:moveTo>
                <a:lnTo>
                  <a:pt x="1026000" y="419400"/>
                </a:lnTo>
                <a:lnTo>
                  <a:pt x="0" y="4194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Wert R3"/>
          <p:cNvSpPr txBox="1"/>
          <p:nvPr/>
        </p:nvSpPr>
        <p:spPr>
          <a:xfrm>
            <a:off x="1785600" y="822600"/>
            <a:ext cx="288000" cy="100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±10 %</a:t>
            </a:r>
          </a:p>
        </p:txBody>
      </p:sp>
      <p:sp>
        <p:nvSpPr>
          <p:cNvPr id="44" name="R4 → – Personalaufwand"/>
          <p:cNvSpPr/>
          <p:nvPr/>
        </p:nvSpPr>
        <p:spPr>
          <a:xfrm>
            <a:off x="1656000" y="511200"/>
            <a:ext cx="1350000" cy="657000"/>
          </a:xfrm>
          <a:custGeom>
            <a:avLst/>
            <a:gdLst/>
            <a:ahLst/>
            <a:cxnLst/>
            <a:rect l="l" t="t" r="r" b="b"/>
            <a:pathLst>
              <a:path w="1350000" h="657000">
                <a:moveTo>
                  <a:pt x="1350000" y="0"/>
                </a:moveTo>
                <a:lnTo>
                  <a:pt x="1350000" y="657000"/>
                </a:lnTo>
                <a:lnTo>
                  <a:pt x="0" y="657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Wert R4"/>
          <p:cNvSpPr txBox="1"/>
          <p:nvPr/>
        </p:nvSpPr>
        <p:spPr>
          <a:xfrm>
            <a:off x="1785600" y="1060200"/>
            <a:ext cx="288000" cy="100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±2 %</a:t>
            </a:r>
          </a:p>
        </p:txBody>
      </p:sp>
      <p:sp>
        <p:nvSpPr>
          <p:cNvPr id="46" name="R5 → – Zinsaufwand"/>
          <p:cNvSpPr/>
          <p:nvPr/>
        </p:nvSpPr>
        <p:spPr>
          <a:xfrm>
            <a:off x="1656000" y="511200"/>
            <a:ext cx="1674000" cy="1251000"/>
          </a:xfrm>
          <a:custGeom>
            <a:avLst/>
            <a:gdLst/>
            <a:ahLst/>
            <a:cxnLst/>
            <a:rect l="l" t="t" r="r" b="b"/>
            <a:pathLst>
              <a:path w="1674000" h="1251000">
                <a:moveTo>
                  <a:pt x="1674000" y="0"/>
                </a:moveTo>
                <a:lnTo>
                  <a:pt x="1674000" y="1251000"/>
                </a:lnTo>
                <a:lnTo>
                  <a:pt x="0" y="1251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Wert R5"/>
          <p:cNvSpPr txBox="1"/>
          <p:nvPr/>
        </p:nvSpPr>
        <p:spPr>
          <a:xfrm>
            <a:off x="1785600" y="1654200"/>
            <a:ext cx="288000" cy="100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±1 %</a:t>
            </a:r>
          </a:p>
        </p:txBody>
      </p:sp>
      <p:sp>
        <p:nvSpPr>
          <p:cNvPr id="48" name="R6 → – a. o. Ergebnis"/>
          <p:cNvSpPr/>
          <p:nvPr/>
        </p:nvSpPr>
        <p:spPr>
          <a:xfrm>
            <a:off x="1656000" y="511200"/>
            <a:ext cx="1998000" cy="1369800"/>
          </a:xfrm>
          <a:custGeom>
            <a:avLst/>
            <a:gdLst/>
            <a:ahLst/>
            <a:cxnLst/>
            <a:rect l="l" t="t" r="r" b="b"/>
            <a:pathLst>
              <a:path w="1998000" h="1369800">
                <a:moveTo>
                  <a:pt x="1998000" y="0"/>
                </a:moveTo>
                <a:lnTo>
                  <a:pt x="1998000" y="1369800"/>
                </a:lnTo>
                <a:lnTo>
                  <a:pt x="0" y="13698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Wert R6"/>
          <p:cNvSpPr txBox="1"/>
          <p:nvPr/>
        </p:nvSpPr>
        <p:spPr>
          <a:xfrm>
            <a:off x="1785600" y="1773000"/>
            <a:ext cx="288000" cy="1008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–200</a:t>
            </a:r>
          </a:p>
        </p:txBody>
      </p:sp>
      <p:sp>
        <p:nvSpPr>
          <p:cNvPr id="50" name="Simulationsergebnis"/>
          <p:cNvSpPr/>
          <p:nvPr/>
        </p:nvSpPr>
        <p:spPr>
          <a:xfrm>
            <a:off x="3960000" y="450000"/>
            <a:ext cx="1602000" cy="163800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51" name="Läufe"/>
          <p:cNvSpPr txBox="1"/>
          <p:nvPr/>
        </p:nvSpPr>
        <p:spPr>
          <a:xfrm>
            <a:off x="3996000" y="478800"/>
            <a:ext cx="720000" cy="10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5.000 Läufe</a:t>
            </a:r>
          </a:p>
        </p:txBody>
      </p:sp>
      <p:sp>
        <p:nvSpPr>
          <p:cNvPr id="52" name="Ausreißer"/>
          <p:cNvSpPr txBox="1"/>
          <p:nvPr/>
        </p:nvSpPr>
        <p:spPr>
          <a:xfrm>
            <a:off x="4806000" y="478800"/>
            <a:ext cx="720000" cy="10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17 Ausreißer</a:t>
            </a:r>
          </a:p>
        </p:txBody>
      </p:sp>
      <p:sp>
        <p:nvSpPr>
          <p:cNvPr id="53" name="Balken 1"/>
          <p:cNvSpPr/>
          <p:nvPr/>
        </p:nvSpPr>
        <p:spPr>
          <a:xfrm>
            <a:off x="4037400" y="1651896"/>
            <a:ext cx="45277" cy="22104"/>
          </a:xfrm>
          <a:custGeom>
            <a:avLst/>
            <a:gdLst/>
            <a:ahLst/>
            <a:cxnLst/>
            <a:rect l="l" t="t" r="r" b="b"/>
            <a:pathLst>
              <a:path w="45277" h="22104">
                <a:moveTo>
                  <a:pt x="0" y="22104"/>
                </a:moveTo>
                <a:lnTo>
                  <a:pt x="0" y="0"/>
                </a:lnTo>
                <a:lnTo>
                  <a:pt x="45277" y="0"/>
                </a:lnTo>
                <a:lnTo>
                  <a:pt x="45277" y="22104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Balken 2"/>
          <p:cNvSpPr/>
          <p:nvPr/>
        </p:nvSpPr>
        <p:spPr>
          <a:xfrm>
            <a:off x="4093477" y="1643937"/>
            <a:ext cx="45277" cy="30063"/>
          </a:xfrm>
          <a:custGeom>
            <a:avLst/>
            <a:gdLst/>
            <a:ahLst/>
            <a:cxnLst/>
            <a:rect l="l" t="t" r="r" b="b"/>
            <a:pathLst>
              <a:path w="45277" h="30063">
                <a:moveTo>
                  <a:pt x="0" y="30063"/>
                </a:moveTo>
                <a:lnTo>
                  <a:pt x="0" y="0"/>
                </a:lnTo>
                <a:lnTo>
                  <a:pt x="45277" y="0"/>
                </a:lnTo>
                <a:lnTo>
                  <a:pt x="45277" y="30063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Balken 3"/>
          <p:cNvSpPr/>
          <p:nvPr/>
        </p:nvSpPr>
        <p:spPr>
          <a:xfrm>
            <a:off x="4149554" y="1635868"/>
            <a:ext cx="45277" cy="38132"/>
          </a:xfrm>
          <a:custGeom>
            <a:avLst/>
            <a:gdLst/>
            <a:ahLst/>
            <a:cxnLst/>
            <a:rect l="l" t="t" r="r" b="b"/>
            <a:pathLst>
              <a:path w="45277" h="38132">
                <a:moveTo>
                  <a:pt x="0" y="38132"/>
                </a:moveTo>
                <a:lnTo>
                  <a:pt x="0" y="0"/>
                </a:lnTo>
                <a:lnTo>
                  <a:pt x="45277" y="0"/>
                </a:lnTo>
                <a:lnTo>
                  <a:pt x="45277" y="38132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Balken 4"/>
          <p:cNvSpPr/>
          <p:nvPr/>
        </p:nvSpPr>
        <p:spPr>
          <a:xfrm>
            <a:off x="4205631" y="1627606"/>
            <a:ext cx="45277" cy="46394"/>
          </a:xfrm>
          <a:custGeom>
            <a:avLst/>
            <a:gdLst/>
            <a:ahLst/>
            <a:cxnLst/>
            <a:rect l="l" t="t" r="r" b="b"/>
            <a:pathLst>
              <a:path w="45277" h="46394">
                <a:moveTo>
                  <a:pt x="0" y="46394"/>
                </a:moveTo>
                <a:lnTo>
                  <a:pt x="0" y="0"/>
                </a:lnTo>
                <a:lnTo>
                  <a:pt x="45277" y="0"/>
                </a:lnTo>
                <a:lnTo>
                  <a:pt x="45277" y="46394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Balken 5"/>
          <p:cNvSpPr/>
          <p:nvPr/>
        </p:nvSpPr>
        <p:spPr>
          <a:xfrm>
            <a:off x="4261708" y="1617524"/>
            <a:ext cx="45277" cy="56476"/>
          </a:xfrm>
          <a:custGeom>
            <a:avLst/>
            <a:gdLst/>
            <a:ahLst/>
            <a:cxnLst/>
            <a:rect l="l" t="t" r="r" b="b"/>
            <a:pathLst>
              <a:path w="45277" h="56476">
                <a:moveTo>
                  <a:pt x="0" y="56476"/>
                </a:moveTo>
                <a:lnTo>
                  <a:pt x="0" y="0"/>
                </a:lnTo>
                <a:lnTo>
                  <a:pt x="45277" y="0"/>
                </a:lnTo>
                <a:lnTo>
                  <a:pt x="45277" y="56476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Balken 6"/>
          <p:cNvSpPr/>
          <p:nvPr/>
        </p:nvSpPr>
        <p:spPr>
          <a:xfrm>
            <a:off x="4317785" y="1602084"/>
            <a:ext cx="45277" cy="71916"/>
          </a:xfrm>
          <a:custGeom>
            <a:avLst/>
            <a:gdLst/>
            <a:ahLst/>
            <a:cxnLst/>
            <a:rect l="l" t="t" r="r" b="b"/>
            <a:pathLst>
              <a:path w="45277" h="71916">
                <a:moveTo>
                  <a:pt x="0" y="71916"/>
                </a:moveTo>
                <a:lnTo>
                  <a:pt x="0" y="0"/>
                </a:lnTo>
                <a:lnTo>
                  <a:pt x="45277" y="0"/>
                </a:lnTo>
                <a:lnTo>
                  <a:pt x="45277" y="71916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Balken 7"/>
          <p:cNvSpPr/>
          <p:nvPr/>
        </p:nvSpPr>
        <p:spPr>
          <a:xfrm>
            <a:off x="4373862" y="1576275"/>
            <a:ext cx="45276" cy="97725"/>
          </a:xfrm>
          <a:custGeom>
            <a:avLst/>
            <a:gdLst/>
            <a:ahLst/>
            <a:cxnLst/>
            <a:rect l="l" t="t" r="r" b="b"/>
            <a:pathLst>
              <a:path w="45276" h="97725">
                <a:moveTo>
                  <a:pt x="0" y="97725"/>
                </a:moveTo>
                <a:lnTo>
                  <a:pt x="0" y="0"/>
                </a:lnTo>
                <a:lnTo>
                  <a:pt x="45276" y="0"/>
                </a:lnTo>
                <a:lnTo>
                  <a:pt x="45276" y="97725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Balken 8"/>
          <p:cNvSpPr/>
          <p:nvPr/>
        </p:nvSpPr>
        <p:spPr>
          <a:xfrm>
            <a:off x="4429938" y="1534933"/>
            <a:ext cx="45277" cy="139067"/>
          </a:xfrm>
          <a:custGeom>
            <a:avLst/>
            <a:gdLst/>
            <a:ahLst/>
            <a:cxnLst/>
            <a:rect l="l" t="t" r="r" b="b"/>
            <a:pathLst>
              <a:path w="45277" h="139067">
                <a:moveTo>
                  <a:pt x="0" y="139067"/>
                </a:moveTo>
                <a:lnTo>
                  <a:pt x="0" y="0"/>
                </a:lnTo>
                <a:lnTo>
                  <a:pt x="45277" y="0"/>
                </a:lnTo>
                <a:lnTo>
                  <a:pt x="45277" y="139067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Balken 9"/>
          <p:cNvSpPr/>
          <p:nvPr/>
        </p:nvSpPr>
        <p:spPr>
          <a:xfrm>
            <a:off x="4486015" y="1474641"/>
            <a:ext cx="45277" cy="199359"/>
          </a:xfrm>
          <a:custGeom>
            <a:avLst/>
            <a:gdLst/>
            <a:ahLst/>
            <a:cxnLst/>
            <a:rect l="l" t="t" r="r" b="b"/>
            <a:pathLst>
              <a:path w="45277" h="199359">
                <a:moveTo>
                  <a:pt x="0" y="199359"/>
                </a:moveTo>
                <a:lnTo>
                  <a:pt x="0" y="0"/>
                </a:lnTo>
                <a:lnTo>
                  <a:pt x="45277" y="0"/>
                </a:lnTo>
                <a:lnTo>
                  <a:pt x="45277" y="199359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Balken 10"/>
          <p:cNvSpPr/>
          <p:nvPr/>
        </p:nvSpPr>
        <p:spPr>
          <a:xfrm>
            <a:off x="4542092" y="1395685"/>
            <a:ext cx="45277" cy="278315"/>
          </a:xfrm>
          <a:custGeom>
            <a:avLst/>
            <a:gdLst/>
            <a:ahLst/>
            <a:cxnLst/>
            <a:rect l="l" t="t" r="r" b="b"/>
            <a:pathLst>
              <a:path w="45277" h="278315">
                <a:moveTo>
                  <a:pt x="0" y="278315"/>
                </a:moveTo>
                <a:lnTo>
                  <a:pt x="0" y="0"/>
                </a:lnTo>
                <a:lnTo>
                  <a:pt x="45277" y="0"/>
                </a:lnTo>
                <a:lnTo>
                  <a:pt x="45277" y="278315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Balken 11"/>
          <p:cNvSpPr/>
          <p:nvPr/>
        </p:nvSpPr>
        <p:spPr>
          <a:xfrm>
            <a:off x="4598169" y="1303377"/>
            <a:ext cx="45277" cy="370623"/>
          </a:xfrm>
          <a:custGeom>
            <a:avLst/>
            <a:gdLst/>
            <a:ahLst/>
            <a:cxnLst/>
            <a:rect l="l" t="t" r="r" b="b"/>
            <a:pathLst>
              <a:path w="45277" h="370623">
                <a:moveTo>
                  <a:pt x="0" y="370623"/>
                </a:moveTo>
                <a:lnTo>
                  <a:pt x="0" y="0"/>
                </a:lnTo>
                <a:lnTo>
                  <a:pt x="45277" y="0"/>
                </a:lnTo>
                <a:lnTo>
                  <a:pt x="45277" y="370623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Balken 12"/>
          <p:cNvSpPr/>
          <p:nvPr/>
        </p:nvSpPr>
        <p:spPr>
          <a:xfrm>
            <a:off x="4654246" y="1208123"/>
            <a:ext cx="45277" cy="465877"/>
          </a:xfrm>
          <a:custGeom>
            <a:avLst/>
            <a:gdLst/>
            <a:ahLst/>
            <a:cxnLst/>
            <a:rect l="l" t="t" r="r" b="b"/>
            <a:pathLst>
              <a:path w="45277" h="465877">
                <a:moveTo>
                  <a:pt x="0" y="465877"/>
                </a:moveTo>
                <a:lnTo>
                  <a:pt x="0" y="0"/>
                </a:lnTo>
                <a:lnTo>
                  <a:pt x="45277" y="0"/>
                </a:lnTo>
                <a:lnTo>
                  <a:pt x="45277" y="465877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Balken 13"/>
          <p:cNvSpPr/>
          <p:nvPr/>
        </p:nvSpPr>
        <p:spPr>
          <a:xfrm>
            <a:off x="4710323" y="1123842"/>
            <a:ext cx="45277" cy="550158"/>
          </a:xfrm>
          <a:custGeom>
            <a:avLst/>
            <a:gdLst/>
            <a:ahLst/>
            <a:cxnLst/>
            <a:rect l="l" t="t" r="r" b="b"/>
            <a:pathLst>
              <a:path w="45277" h="550158">
                <a:moveTo>
                  <a:pt x="0" y="550158"/>
                </a:moveTo>
                <a:lnTo>
                  <a:pt x="0" y="0"/>
                </a:lnTo>
                <a:lnTo>
                  <a:pt x="45277" y="0"/>
                </a:lnTo>
                <a:lnTo>
                  <a:pt x="45277" y="550158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Balken 14"/>
          <p:cNvSpPr/>
          <p:nvPr/>
        </p:nvSpPr>
        <p:spPr>
          <a:xfrm>
            <a:off x="4766400" y="1064873"/>
            <a:ext cx="45277" cy="609127"/>
          </a:xfrm>
          <a:custGeom>
            <a:avLst/>
            <a:gdLst/>
            <a:ahLst/>
            <a:cxnLst/>
            <a:rect l="l" t="t" r="r" b="b"/>
            <a:pathLst>
              <a:path w="45277" h="609127">
                <a:moveTo>
                  <a:pt x="0" y="609127"/>
                </a:moveTo>
                <a:lnTo>
                  <a:pt x="0" y="0"/>
                </a:lnTo>
                <a:lnTo>
                  <a:pt x="45277" y="0"/>
                </a:lnTo>
                <a:lnTo>
                  <a:pt x="45277" y="609127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Balken 15"/>
          <p:cNvSpPr/>
          <p:nvPr/>
        </p:nvSpPr>
        <p:spPr>
          <a:xfrm>
            <a:off x="4822477" y="1042193"/>
            <a:ext cx="45277" cy="631807"/>
          </a:xfrm>
          <a:custGeom>
            <a:avLst/>
            <a:gdLst/>
            <a:ahLst/>
            <a:cxnLst/>
            <a:rect l="l" t="t" r="r" b="b"/>
            <a:pathLst>
              <a:path w="45277" h="631807">
                <a:moveTo>
                  <a:pt x="0" y="631807"/>
                </a:moveTo>
                <a:lnTo>
                  <a:pt x="0" y="0"/>
                </a:lnTo>
                <a:lnTo>
                  <a:pt x="45277" y="0"/>
                </a:lnTo>
                <a:lnTo>
                  <a:pt x="45277" y="631807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Balken 16"/>
          <p:cNvSpPr/>
          <p:nvPr/>
        </p:nvSpPr>
        <p:spPr>
          <a:xfrm>
            <a:off x="4878554" y="992072"/>
            <a:ext cx="45277" cy="681928"/>
          </a:xfrm>
          <a:custGeom>
            <a:avLst/>
            <a:gdLst/>
            <a:ahLst/>
            <a:cxnLst/>
            <a:rect l="l" t="t" r="r" b="b"/>
            <a:pathLst>
              <a:path w="45277" h="681928">
                <a:moveTo>
                  <a:pt x="0" y="681928"/>
                </a:moveTo>
                <a:lnTo>
                  <a:pt x="0" y="0"/>
                </a:lnTo>
                <a:lnTo>
                  <a:pt x="45277" y="0"/>
                </a:lnTo>
                <a:lnTo>
                  <a:pt x="45277" y="681928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Balken 17"/>
          <p:cNvSpPr/>
          <p:nvPr/>
        </p:nvSpPr>
        <p:spPr>
          <a:xfrm>
            <a:off x="4934631" y="1053687"/>
            <a:ext cx="45277" cy="620313"/>
          </a:xfrm>
          <a:custGeom>
            <a:avLst/>
            <a:gdLst/>
            <a:ahLst/>
            <a:cxnLst/>
            <a:rect l="l" t="t" r="r" b="b"/>
            <a:pathLst>
              <a:path w="45277" h="620313">
                <a:moveTo>
                  <a:pt x="0" y="620313"/>
                </a:moveTo>
                <a:lnTo>
                  <a:pt x="0" y="0"/>
                </a:lnTo>
                <a:lnTo>
                  <a:pt x="45277" y="0"/>
                </a:lnTo>
                <a:lnTo>
                  <a:pt x="45277" y="620313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Balken 18"/>
          <p:cNvSpPr/>
          <p:nvPr/>
        </p:nvSpPr>
        <p:spPr>
          <a:xfrm>
            <a:off x="4990708" y="1145631"/>
            <a:ext cx="45277" cy="528369"/>
          </a:xfrm>
          <a:custGeom>
            <a:avLst/>
            <a:gdLst/>
            <a:ahLst/>
            <a:cxnLst/>
            <a:rect l="l" t="t" r="r" b="b"/>
            <a:pathLst>
              <a:path w="45277" h="528369">
                <a:moveTo>
                  <a:pt x="0" y="528369"/>
                </a:moveTo>
                <a:lnTo>
                  <a:pt x="0" y="0"/>
                </a:lnTo>
                <a:lnTo>
                  <a:pt x="45277" y="0"/>
                </a:lnTo>
                <a:lnTo>
                  <a:pt x="45277" y="528369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Balken 19"/>
          <p:cNvSpPr/>
          <p:nvPr/>
        </p:nvSpPr>
        <p:spPr>
          <a:xfrm>
            <a:off x="5046785" y="1252582"/>
            <a:ext cx="45277" cy="421418"/>
          </a:xfrm>
          <a:custGeom>
            <a:avLst/>
            <a:gdLst/>
            <a:ahLst/>
            <a:cxnLst/>
            <a:rect l="l" t="t" r="r" b="b"/>
            <a:pathLst>
              <a:path w="45277" h="421418">
                <a:moveTo>
                  <a:pt x="0" y="421418"/>
                </a:moveTo>
                <a:lnTo>
                  <a:pt x="0" y="0"/>
                </a:lnTo>
                <a:lnTo>
                  <a:pt x="45277" y="0"/>
                </a:lnTo>
                <a:lnTo>
                  <a:pt x="45277" y="421418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Balken 20"/>
          <p:cNvSpPr/>
          <p:nvPr/>
        </p:nvSpPr>
        <p:spPr>
          <a:xfrm>
            <a:off x="5102862" y="1359271"/>
            <a:ext cx="45276" cy="314729"/>
          </a:xfrm>
          <a:custGeom>
            <a:avLst/>
            <a:gdLst/>
            <a:ahLst/>
            <a:cxnLst/>
            <a:rect l="l" t="t" r="r" b="b"/>
            <a:pathLst>
              <a:path w="45276" h="314729">
                <a:moveTo>
                  <a:pt x="0" y="314729"/>
                </a:moveTo>
                <a:lnTo>
                  <a:pt x="0" y="0"/>
                </a:lnTo>
                <a:lnTo>
                  <a:pt x="45276" y="0"/>
                </a:lnTo>
                <a:lnTo>
                  <a:pt x="45276" y="314729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Balken 21"/>
          <p:cNvSpPr/>
          <p:nvPr/>
        </p:nvSpPr>
        <p:spPr>
          <a:xfrm>
            <a:off x="5158938" y="1453907"/>
            <a:ext cx="45277" cy="220093"/>
          </a:xfrm>
          <a:custGeom>
            <a:avLst/>
            <a:gdLst/>
            <a:ahLst/>
            <a:cxnLst/>
            <a:rect l="l" t="t" r="r" b="b"/>
            <a:pathLst>
              <a:path w="45277" h="220093">
                <a:moveTo>
                  <a:pt x="0" y="220093"/>
                </a:moveTo>
                <a:lnTo>
                  <a:pt x="0" y="0"/>
                </a:lnTo>
                <a:lnTo>
                  <a:pt x="45277" y="0"/>
                </a:lnTo>
                <a:lnTo>
                  <a:pt x="45277" y="220093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Balken 22"/>
          <p:cNvSpPr/>
          <p:nvPr/>
        </p:nvSpPr>
        <p:spPr>
          <a:xfrm>
            <a:off x="5215015" y="1529880"/>
            <a:ext cx="45277" cy="144120"/>
          </a:xfrm>
          <a:custGeom>
            <a:avLst/>
            <a:gdLst/>
            <a:ahLst/>
            <a:cxnLst/>
            <a:rect l="l" t="t" r="r" b="b"/>
            <a:pathLst>
              <a:path w="45277" h="144120">
                <a:moveTo>
                  <a:pt x="0" y="144120"/>
                </a:moveTo>
                <a:lnTo>
                  <a:pt x="0" y="0"/>
                </a:lnTo>
                <a:lnTo>
                  <a:pt x="45277" y="0"/>
                </a:lnTo>
                <a:lnTo>
                  <a:pt x="45277" y="144120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Balken 23"/>
          <p:cNvSpPr/>
          <p:nvPr/>
        </p:nvSpPr>
        <p:spPr>
          <a:xfrm>
            <a:off x="5271092" y="1585633"/>
            <a:ext cx="45277" cy="88367"/>
          </a:xfrm>
          <a:custGeom>
            <a:avLst/>
            <a:gdLst/>
            <a:ahLst/>
            <a:cxnLst/>
            <a:rect l="l" t="t" r="r" b="b"/>
            <a:pathLst>
              <a:path w="45277" h="88367">
                <a:moveTo>
                  <a:pt x="0" y="88367"/>
                </a:moveTo>
                <a:lnTo>
                  <a:pt x="0" y="0"/>
                </a:lnTo>
                <a:lnTo>
                  <a:pt x="45277" y="0"/>
                </a:lnTo>
                <a:lnTo>
                  <a:pt x="45277" y="88367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Balken 24"/>
          <p:cNvSpPr/>
          <p:nvPr/>
        </p:nvSpPr>
        <p:spPr>
          <a:xfrm>
            <a:off x="5327169" y="1623266"/>
            <a:ext cx="45277" cy="50734"/>
          </a:xfrm>
          <a:custGeom>
            <a:avLst/>
            <a:gdLst/>
            <a:ahLst/>
            <a:cxnLst/>
            <a:rect l="l" t="t" r="r" b="b"/>
            <a:pathLst>
              <a:path w="45277" h="50734">
                <a:moveTo>
                  <a:pt x="0" y="50734"/>
                </a:moveTo>
                <a:lnTo>
                  <a:pt x="0" y="0"/>
                </a:lnTo>
                <a:lnTo>
                  <a:pt x="45277" y="0"/>
                </a:lnTo>
                <a:lnTo>
                  <a:pt x="45277" y="50734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Balken 25"/>
          <p:cNvSpPr/>
          <p:nvPr/>
        </p:nvSpPr>
        <p:spPr>
          <a:xfrm>
            <a:off x="5383246" y="1646726"/>
            <a:ext cx="45277" cy="27274"/>
          </a:xfrm>
          <a:custGeom>
            <a:avLst/>
            <a:gdLst/>
            <a:ahLst/>
            <a:cxnLst/>
            <a:rect l="l" t="t" r="r" b="b"/>
            <a:pathLst>
              <a:path w="45277" h="27274">
                <a:moveTo>
                  <a:pt x="0" y="27274"/>
                </a:moveTo>
                <a:lnTo>
                  <a:pt x="0" y="0"/>
                </a:lnTo>
                <a:lnTo>
                  <a:pt x="45277" y="0"/>
                </a:lnTo>
                <a:lnTo>
                  <a:pt x="45277" y="27274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Balken 26"/>
          <p:cNvSpPr/>
          <p:nvPr/>
        </p:nvSpPr>
        <p:spPr>
          <a:xfrm>
            <a:off x="5439323" y="1656000"/>
            <a:ext cx="45277" cy="18000"/>
          </a:xfrm>
          <a:custGeom>
            <a:avLst/>
            <a:gdLst/>
            <a:ahLst/>
            <a:cxnLst/>
            <a:rect l="l" t="t" r="r" b="b"/>
            <a:pathLst>
              <a:path w="45277" h="18000">
                <a:moveTo>
                  <a:pt x="0" y="18000"/>
                </a:moveTo>
                <a:lnTo>
                  <a:pt x="0" y="0"/>
                </a:lnTo>
                <a:lnTo>
                  <a:pt x="45277" y="0"/>
                </a:lnTo>
                <a:lnTo>
                  <a:pt x="45277" y="18000"/>
                </a:lnTo>
                <a:close/>
              </a:path>
            </a:pathLst>
          </a:custGeom>
          <a:solidFill>
            <a:srgbClr val="9A9A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Achse"/>
          <p:cNvSpPr/>
          <p:nvPr/>
        </p:nvSpPr>
        <p:spPr>
          <a:xfrm>
            <a:off x="4032000" y="1674000"/>
            <a:ext cx="1458000" cy="0"/>
          </a:xfrm>
          <a:custGeom>
            <a:avLst/>
            <a:gdLst/>
            <a:ahLst/>
            <a:cxnLst/>
            <a:rect l="l" t="t" r="r" b="b"/>
            <a:pathLst>
              <a:path w="1458000" h="0">
                <a:moveTo>
                  <a:pt x="0" y="0"/>
                </a:moveTo>
                <a:lnTo>
                  <a:pt x="1458000" y="0"/>
                </a:lnTo>
              </a:path>
            </a:pathLst>
          </a:custGeom>
          <a:noFill/>
          <a:ln w="635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Teilstrich –200"/>
          <p:cNvSpPr/>
          <p:nvPr/>
        </p:nvSpPr>
        <p:spPr>
          <a:xfrm>
            <a:off x="4177800" y="1674000"/>
            <a:ext cx="0" cy="32400"/>
          </a:xfrm>
          <a:custGeom>
            <a:avLst/>
            <a:gdLst/>
            <a:ahLst/>
            <a:cxnLst/>
            <a:rect l="l" t="t" r="r" b="b"/>
            <a:pathLst>
              <a:path w="0" h="32400">
                <a:moveTo>
                  <a:pt x="0" y="0"/>
                </a:moveTo>
                <a:lnTo>
                  <a:pt x="0" y="32400"/>
                </a:lnTo>
              </a:path>
            </a:pathLst>
          </a:custGeom>
          <a:noFill/>
          <a:ln w="635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Wert –200"/>
          <p:cNvSpPr txBox="1"/>
          <p:nvPr/>
        </p:nvSpPr>
        <p:spPr>
          <a:xfrm>
            <a:off x="4069800" y="1710000"/>
            <a:ext cx="216000" cy="10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–200</a:t>
            </a:r>
          </a:p>
        </p:txBody>
      </p:sp>
      <p:sp>
        <p:nvSpPr>
          <p:cNvPr id="82" name="Teilstrich –100"/>
          <p:cNvSpPr/>
          <p:nvPr/>
        </p:nvSpPr>
        <p:spPr>
          <a:xfrm>
            <a:off x="4469400" y="1674000"/>
            <a:ext cx="0" cy="32400"/>
          </a:xfrm>
          <a:custGeom>
            <a:avLst/>
            <a:gdLst/>
            <a:ahLst/>
            <a:cxnLst/>
            <a:rect l="l" t="t" r="r" b="b"/>
            <a:pathLst>
              <a:path w="0" h="32400">
                <a:moveTo>
                  <a:pt x="0" y="0"/>
                </a:moveTo>
                <a:lnTo>
                  <a:pt x="0" y="32400"/>
                </a:lnTo>
              </a:path>
            </a:pathLst>
          </a:custGeom>
          <a:noFill/>
          <a:ln w="635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Wert –100"/>
          <p:cNvSpPr txBox="1"/>
          <p:nvPr/>
        </p:nvSpPr>
        <p:spPr>
          <a:xfrm>
            <a:off x="4361400" y="1710000"/>
            <a:ext cx="216000" cy="10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–100</a:t>
            </a:r>
          </a:p>
        </p:txBody>
      </p:sp>
      <p:sp>
        <p:nvSpPr>
          <p:cNvPr id="84" name="Teilstrich 0"/>
          <p:cNvSpPr/>
          <p:nvPr/>
        </p:nvSpPr>
        <p:spPr>
          <a:xfrm>
            <a:off x="4761000" y="1674000"/>
            <a:ext cx="0" cy="32400"/>
          </a:xfrm>
          <a:custGeom>
            <a:avLst/>
            <a:gdLst/>
            <a:ahLst/>
            <a:cxnLst/>
            <a:rect l="l" t="t" r="r" b="b"/>
            <a:pathLst>
              <a:path w="0" h="32400">
                <a:moveTo>
                  <a:pt x="0" y="0"/>
                </a:moveTo>
                <a:lnTo>
                  <a:pt x="0" y="32400"/>
                </a:lnTo>
              </a:path>
            </a:pathLst>
          </a:custGeom>
          <a:noFill/>
          <a:ln w="635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Wert 0"/>
          <p:cNvSpPr txBox="1"/>
          <p:nvPr/>
        </p:nvSpPr>
        <p:spPr>
          <a:xfrm>
            <a:off x="4653000" y="1710000"/>
            <a:ext cx="216000" cy="10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0</a:t>
            </a:r>
          </a:p>
        </p:txBody>
      </p:sp>
      <p:sp>
        <p:nvSpPr>
          <p:cNvPr id="86" name="Teilstrich 56"/>
          <p:cNvSpPr/>
          <p:nvPr/>
        </p:nvSpPr>
        <p:spPr>
          <a:xfrm>
            <a:off x="4924296" y="1674000"/>
            <a:ext cx="0" cy="32400"/>
          </a:xfrm>
          <a:custGeom>
            <a:avLst/>
            <a:gdLst/>
            <a:ahLst/>
            <a:cxnLst/>
            <a:rect l="l" t="t" r="r" b="b"/>
            <a:pathLst>
              <a:path w="0" h="32400">
                <a:moveTo>
                  <a:pt x="0" y="0"/>
                </a:moveTo>
                <a:lnTo>
                  <a:pt x="0" y="32400"/>
                </a:lnTo>
              </a:path>
            </a:pathLst>
          </a:custGeom>
          <a:noFill/>
          <a:ln w="635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Wert 56"/>
          <p:cNvSpPr txBox="1"/>
          <p:nvPr/>
        </p:nvSpPr>
        <p:spPr>
          <a:xfrm>
            <a:off x="4816296" y="1710000"/>
            <a:ext cx="216000" cy="10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56</a:t>
            </a:r>
          </a:p>
        </p:txBody>
      </p:sp>
      <p:sp>
        <p:nvSpPr>
          <p:cNvPr id="88" name="Teilstrich 200"/>
          <p:cNvSpPr/>
          <p:nvPr/>
        </p:nvSpPr>
        <p:spPr>
          <a:xfrm>
            <a:off x="5344200" y="1674000"/>
            <a:ext cx="0" cy="32400"/>
          </a:xfrm>
          <a:custGeom>
            <a:avLst/>
            <a:gdLst/>
            <a:ahLst/>
            <a:cxnLst/>
            <a:rect l="l" t="t" r="r" b="b"/>
            <a:pathLst>
              <a:path w="0" h="32400">
                <a:moveTo>
                  <a:pt x="0" y="0"/>
                </a:moveTo>
                <a:lnTo>
                  <a:pt x="0" y="32400"/>
                </a:lnTo>
              </a:path>
            </a:pathLst>
          </a:custGeom>
          <a:noFill/>
          <a:ln w="635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Wert 200"/>
          <p:cNvSpPr txBox="1"/>
          <p:nvPr/>
        </p:nvSpPr>
        <p:spPr>
          <a:xfrm>
            <a:off x="5236200" y="1710000"/>
            <a:ext cx="216000" cy="10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200</a:t>
            </a:r>
          </a:p>
        </p:txBody>
      </p:sp>
      <p:sp>
        <p:nvSpPr>
          <p:cNvPr id="90" name="Achsentitel"/>
          <p:cNvSpPr txBox="1"/>
          <p:nvPr/>
        </p:nvSpPr>
        <p:spPr>
          <a:xfrm>
            <a:off x="4032000" y="1825200"/>
            <a:ext cx="1458000" cy="1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1">
                <a:solidFill>
                  <a:srgbClr val="1A1A1A"/>
                </a:solidFill>
                <a:latin typeface="Arial"/>
              </a:rPr>
              <a:t>Gewinn vor Steuern</a:t>
            </a:r>
          </a:p>
        </p:txBody>
      </p:sp>
      <p:sp>
        <p:nvSpPr>
          <p:cNvPr id="91" name="Zielniveau-Linie"/>
          <p:cNvSpPr/>
          <p:nvPr/>
        </p:nvSpPr>
        <p:spPr>
          <a:xfrm>
            <a:off x="4352760" y="630000"/>
            <a:ext cx="0" cy="1044000"/>
          </a:xfrm>
          <a:custGeom>
            <a:avLst/>
            <a:gdLst/>
            <a:ahLst/>
            <a:cxnLst/>
            <a:rect l="l" t="t" r="r" b="b"/>
            <a:pathLst>
              <a:path w="0" h="1044000">
                <a:moveTo>
                  <a:pt x="0" y="0"/>
                </a:moveTo>
                <a:lnTo>
                  <a:pt x="0" y="1044000"/>
                </a:lnTo>
              </a:path>
            </a:pathLst>
          </a:custGeom>
          <a:noFill/>
          <a:ln w="1270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Erwartungswert-Linie"/>
          <p:cNvSpPr/>
          <p:nvPr/>
        </p:nvSpPr>
        <p:spPr>
          <a:xfrm>
            <a:off x="4924296" y="630000"/>
            <a:ext cx="0" cy="1044000"/>
          </a:xfrm>
          <a:custGeom>
            <a:avLst/>
            <a:gdLst/>
            <a:ahLst/>
            <a:cxnLst/>
            <a:rect l="l" t="t" r="r" b="b"/>
            <a:pathLst>
              <a:path w="0" h="1044000">
                <a:moveTo>
                  <a:pt x="0" y="0"/>
                </a:moveTo>
                <a:lnTo>
                  <a:pt x="0" y="1044000"/>
                </a:lnTo>
              </a:path>
            </a:pathLst>
          </a:custGeom>
          <a:noFill/>
          <a:ln w="1270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Null-Linie"/>
          <p:cNvSpPr/>
          <p:nvPr/>
        </p:nvSpPr>
        <p:spPr>
          <a:xfrm>
            <a:off x="4761000" y="752400"/>
            <a:ext cx="0" cy="921600"/>
          </a:xfrm>
          <a:custGeom>
            <a:avLst/>
            <a:gdLst/>
            <a:ahLst/>
            <a:cxnLst/>
            <a:rect l="l" t="t" r="r" b="b"/>
            <a:pathLst>
              <a:path w="0" h="921600">
                <a:moveTo>
                  <a:pt x="0" y="0"/>
                </a:moveTo>
                <a:lnTo>
                  <a:pt x="0" y="921600"/>
                </a:lnTo>
              </a:path>
            </a:pathLst>
          </a:custGeom>
          <a:noFill/>
          <a:ln w="9525">
            <a:solidFill>
              <a:srgbClr val="3A3F44"/>
            </a:solidFill>
            <a:prstDash val="sysDot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DVaR"/>
          <p:cNvSpPr/>
          <p:nvPr/>
        </p:nvSpPr>
        <p:spPr>
          <a:xfrm>
            <a:off x="4367160" y="673200"/>
            <a:ext cx="542736" cy="0"/>
          </a:xfrm>
          <a:custGeom>
            <a:avLst/>
            <a:gdLst/>
            <a:ahLst/>
            <a:cxnLst/>
            <a:rect l="l" t="t" r="r" b="b"/>
            <a:pathLst>
              <a:path w="542736" h="0">
                <a:moveTo>
                  <a:pt x="0" y="0"/>
                </a:moveTo>
                <a:lnTo>
                  <a:pt x="542736" y="0"/>
                </a:lnTo>
              </a:path>
            </a:pathLst>
          </a:custGeom>
          <a:noFill/>
          <a:ln w="9525">
            <a:solidFill>
              <a:srgbClr val="3A3F44"/>
            </a:solidFill>
            <a:prstDash val="sysDash"/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DVaR-Text"/>
          <p:cNvSpPr txBox="1"/>
          <p:nvPr/>
        </p:nvSpPr>
        <p:spPr>
          <a:xfrm>
            <a:off x="4460760" y="558000"/>
            <a:ext cx="355536" cy="10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1">
                <a:solidFill>
                  <a:srgbClr val="1A1A1A"/>
                </a:solidFill>
                <a:latin typeface="Arial"/>
              </a:rPr>
              <a:t>DVaR₁%</a:t>
            </a:r>
          </a:p>
        </p:txBody>
      </p:sp>
      <p:sp>
        <p:nvSpPr>
          <p:cNvPr id="96" name="EKB"/>
          <p:cNvSpPr/>
          <p:nvPr/>
        </p:nvSpPr>
        <p:spPr>
          <a:xfrm>
            <a:off x="4367160" y="788400"/>
            <a:ext cx="379440" cy="0"/>
          </a:xfrm>
          <a:custGeom>
            <a:avLst/>
            <a:gdLst/>
            <a:ahLst/>
            <a:cxnLst/>
            <a:rect l="l" t="t" r="r" b="b"/>
            <a:pathLst>
              <a:path w="379440" h="0">
                <a:moveTo>
                  <a:pt x="0" y="0"/>
                </a:moveTo>
                <a:lnTo>
                  <a:pt x="379440" y="0"/>
                </a:lnTo>
              </a:path>
            </a:pathLst>
          </a:custGeom>
          <a:noFill/>
          <a:ln w="9525">
            <a:solidFill>
              <a:srgbClr val="3A3F44"/>
            </a:solidFill>
            <a:prstDash val="sysDash"/>
            <a:round/>
            <a:headEnd type="triangle" w="med" len="med"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EKB-Text"/>
          <p:cNvSpPr txBox="1"/>
          <p:nvPr/>
        </p:nvSpPr>
        <p:spPr>
          <a:xfrm>
            <a:off x="4424760" y="684000"/>
            <a:ext cx="264240" cy="10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1">
                <a:solidFill>
                  <a:srgbClr val="1A1A1A"/>
                </a:solidFill>
                <a:latin typeface="Arial"/>
              </a:rPr>
              <a:t>EKB</a:t>
            </a:r>
          </a:p>
        </p:txBody>
      </p:sp>
      <p:sp>
        <p:nvSpPr>
          <p:cNvPr id="98" name="EK-Linie"/>
          <p:cNvSpPr/>
          <p:nvPr/>
        </p:nvSpPr>
        <p:spPr>
          <a:xfrm>
            <a:off x="4469400" y="1152000"/>
            <a:ext cx="0" cy="522000"/>
          </a:xfrm>
          <a:custGeom>
            <a:avLst/>
            <a:gdLst/>
            <a:ahLst/>
            <a:cxnLst/>
            <a:rect l="l" t="t" r="r" b="b"/>
            <a:pathLst>
              <a:path w="0" h="522000">
                <a:moveTo>
                  <a:pt x="0" y="0"/>
                </a:moveTo>
                <a:lnTo>
                  <a:pt x="0" y="522000"/>
                </a:lnTo>
              </a:path>
            </a:pathLst>
          </a:custGeom>
          <a:noFill/>
          <a:ln w="15240">
            <a:solidFill>
              <a:srgbClr val="C6282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EK"/>
          <p:cNvSpPr/>
          <p:nvPr/>
        </p:nvSpPr>
        <p:spPr>
          <a:xfrm>
            <a:off x="4347000" y="982800"/>
            <a:ext cx="244800" cy="165600"/>
          </a:xfrm>
          <a:prstGeom prst="roundRect">
            <a:avLst>
              <a:gd name="adj" fmla="val 17391"/>
            </a:avLst>
          </a:prstGeom>
          <a:solidFill>
            <a:srgbClr val="CFCFCF"/>
          </a:solidFill>
          <a:ln w="6350">
            <a:solidFill>
              <a:srgbClr val="8A8A8A"/>
            </a:solidFill>
            <a:round/>
          </a:ln>
        </p:spPr>
        <p:txBody>
          <a:bodyPr rtlCol="0" anchor="ctr" lIns="32400" rIns="32400" tIns="21600" bIns="216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1">
                <a:solidFill>
                  <a:srgbClr val="1A1A1A"/>
                </a:solidFill>
                <a:latin typeface="Arial"/>
              </a:rPr>
              <a:t>EK</a:t>
            </a:r>
          </a:p>
        </p:txBody>
      </p:sp>
      <p:sp>
        <p:nvSpPr>
          <p:cNvPr id="100" name="Zielniveau"/>
          <p:cNvSpPr txBox="1"/>
          <p:nvPr/>
        </p:nvSpPr>
        <p:spPr>
          <a:xfrm>
            <a:off x="3960000" y="18000"/>
            <a:ext cx="1602000" cy="237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0" i="1">
                <a:solidFill>
                  <a:srgbClr val="1A1A1A"/>
                </a:solidFill>
                <a:latin typeface="Arial"/>
              </a:rPr>
              <a:t>Zielniveau (hier 1 %) ist ratingabhängig.</a:t>
            </a:r>
          </a:p>
        </p:txBody>
      </p:sp>
      <p:sp>
        <p:nvSpPr>
          <p:cNvPr id="101" name="Marke Zielniveau"/>
          <p:cNvSpPr/>
          <p:nvPr/>
        </p:nvSpPr>
        <p:spPr>
          <a:xfrm>
            <a:off x="4280760" y="273600"/>
            <a:ext cx="144000" cy="187200"/>
          </a:xfrm>
          <a:custGeom>
            <a:avLst/>
            <a:gdLst/>
            <a:ahLst/>
            <a:cxnLst/>
            <a:rect l="l" t="t" r="r" b="b"/>
            <a:pathLst>
              <a:path w="144000" h="187200">
                <a:moveTo>
                  <a:pt x="0" y="0"/>
                </a:moveTo>
                <a:lnTo>
                  <a:pt x="144000" y="0"/>
                </a:lnTo>
                <a:lnTo>
                  <a:pt x="72000" y="187200"/>
                </a:lnTo>
                <a:close/>
              </a:path>
            </a:pathLst>
          </a:cu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Kasten Finanzrating"/>
          <p:cNvSpPr/>
          <p:nvPr/>
        </p:nvSpPr>
        <p:spPr>
          <a:xfrm>
            <a:off x="18000" y="2340000"/>
            <a:ext cx="1188000" cy="11340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103" name="Finanzrating"/>
          <p:cNvSpPr txBox="1"/>
          <p:nvPr/>
        </p:nvSpPr>
        <p:spPr>
          <a:xfrm>
            <a:off x="46800" y="2361600"/>
            <a:ext cx="11304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1" i="0">
                <a:solidFill>
                  <a:srgbClr val="1A1A1A"/>
                </a:solidFill>
                <a:latin typeface="Arial"/>
              </a:rPr>
              <a:t>Finanzrating</a:t>
            </a:r>
          </a:p>
        </p:txBody>
      </p:sp>
      <p:sp>
        <p:nvSpPr>
          <p:cNvPr id="104" name="Achsen Finanzrating"/>
          <p:cNvSpPr/>
          <p:nvPr/>
        </p:nvSpPr>
        <p:spPr>
          <a:xfrm>
            <a:off x="234000" y="2613600"/>
            <a:ext cx="792000" cy="630000"/>
          </a:xfrm>
          <a:custGeom>
            <a:avLst/>
            <a:gdLst/>
            <a:ahLst/>
            <a:cxnLst/>
            <a:rect l="l" t="t" r="r" b="b"/>
            <a:pathLst>
              <a:path w="792000" h="630000">
                <a:moveTo>
                  <a:pt x="0" y="0"/>
                </a:moveTo>
                <a:lnTo>
                  <a:pt x="0" y="630000"/>
                </a:lnTo>
                <a:lnTo>
                  <a:pt x="792000" y="630000"/>
                </a:lnTo>
              </a:path>
            </a:pathLst>
          </a:custGeom>
          <a:noFill/>
          <a:ln w="635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y 6"/>
          <p:cNvSpPr txBox="1"/>
          <p:nvPr/>
        </p:nvSpPr>
        <p:spPr>
          <a:xfrm>
            <a:off x="28800" y="2566800"/>
            <a:ext cx="194400" cy="9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6</a:t>
            </a:r>
          </a:p>
        </p:txBody>
      </p:sp>
      <p:sp>
        <p:nvSpPr>
          <p:cNvPr id="106" name="y 3"/>
          <p:cNvSpPr txBox="1"/>
          <p:nvPr/>
        </p:nvSpPr>
        <p:spPr>
          <a:xfrm>
            <a:off x="28800" y="2881800"/>
            <a:ext cx="194400" cy="9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sp>
        <p:nvSpPr>
          <p:cNvPr id="107" name="y 0"/>
          <p:cNvSpPr txBox="1"/>
          <p:nvPr/>
        </p:nvSpPr>
        <p:spPr>
          <a:xfrm>
            <a:off x="28800" y="3196800"/>
            <a:ext cx="194400" cy="9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0</a:t>
            </a:r>
          </a:p>
        </p:txBody>
      </p:sp>
      <p:sp>
        <p:nvSpPr>
          <p:cNvPr id="108" name="Jahr 2008"/>
          <p:cNvSpPr txBox="1"/>
          <p:nvPr/>
        </p:nvSpPr>
        <p:spPr>
          <a:xfrm>
            <a:off x="90000" y="3272400"/>
            <a:ext cx="288000" cy="10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2008</a:t>
            </a:r>
          </a:p>
        </p:txBody>
      </p:sp>
      <p:sp>
        <p:nvSpPr>
          <p:cNvPr id="109" name="Jahr 2012"/>
          <p:cNvSpPr txBox="1"/>
          <p:nvPr/>
        </p:nvSpPr>
        <p:spPr>
          <a:xfrm>
            <a:off x="354000" y="3272400"/>
            <a:ext cx="288000" cy="10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2012</a:t>
            </a:r>
          </a:p>
        </p:txBody>
      </p:sp>
      <p:sp>
        <p:nvSpPr>
          <p:cNvPr id="110" name="Jahr 2016"/>
          <p:cNvSpPr txBox="1"/>
          <p:nvPr/>
        </p:nvSpPr>
        <p:spPr>
          <a:xfrm>
            <a:off x="618000" y="3272400"/>
            <a:ext cx="288000" cy="10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2016</a:t>
            </a:r>
          </a:p>
        </p:txBody>
      </p:sp>
      <p:sp>
        <p:nvSpPr>
          <p:cNvPr id="111" name="Jahr 2020"/>
          <p:cNvSpPr txBox="1"/>
          <p:nvPr/>
        </p:nvSpPr>
        <p:spPr>
          <a:xfrm>
            <a:off x="882000" y="3272400"/>
            <a:ext cx="288000" cy="10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2020</a:t>
            </a:r>
          </a:p>
        </p:txBody>
      </p:sp>
      <p:sp>
        <p:nvSpPr>
          <p:cNvPr id="112" name="Fächer außen Finanzrating"/>
          <p:cNvSpPr/>
          <p:nvPr/>
        </p:nvSpPr>
        <p:spPr>
          <a:xfrm>
            <a:off x="432000" y="2758500"/>
            <a:ext cx="594000" cy="425250"/>
          </a:xfrm>
          <a:custGeom>
            <a:avLst/>
            <a:gdLst/>
            <a:ahLst/>
            <a:cxnLst/>
            <a:rect l="l" t="t" r="r" b="b"/>
            <a:pathLst>
              <a:path w="594000" h="425250">
                <a:moveTo>
                  <a:pt x="0" y="170100"/>
                </a:moveTo>
                <a:lnTo>
                  <a:pt x="66000" y="151200"/>
                </a:lnTo>
                <a:lnTo>
                  <a:pt x="132000" y="132300"/>
                </a:lnTo>
                <a:lnTo>
                  <a:pt x="198000" y="113400"/>
                </a:lnTo>
                <a:lnTo>
                  <a:pt x="264000" y="94500"/>
                </a:lnTo>
                <a:lnTo>
                  <a:pt x="330000" y="75600"/>
                </a:lnTo>
                <a:lnTo>
                  <a:pt x="396000" y="56700"/>
                </a:lnTo>
                <a:lnTo>
                  <a:pt x="462000" y="37800"/>
                </a:lnTo>
                <a:lnTo>
                  <a:pt x="528000" y="18900"/>
                </a:lnTo>
                <a:lnTo>
                  <a:pt x="594000" y="0"/>
                </a:lnTo>
                <a:lnTo>
                  <a:pt x="594000" y="425250"/>
                </a:lnTo>
                <a:lnTo>
                  <a:pt x="528000" y="396900"/>
                </a:lnTo>
                <a:lnTo>
                  <a:pt x="462000" y="368550"/>
                </a:lnTo>
                <a:lnTo>
                  <a:pt x="396000" y="340200"/>
                </a:lnTo>
                <a:lnTo>
                  <a:pt x="330000" y="311850"/>
                </a:lnTo>
                <a:lnTo>
                  <a:pt x="264000" y="283500"/>
                </a:lnTo>
                <a:lnTo>
                  <a:pt x="198000" y="255150"/>
                </a:lnTo>
                <a:lnTo>
                  <a:pt x="132000" y="226800"/>
                </a:lnTo>
                <a:lnTo>
                  <a:pt x="66000" y="198450"/>
                </a:lnTo>
                <a:lnTo>
                  <a:pt x="0" y="170100"/>
                </a:lnTo>
                <a:close/>
              </a:path>
            </a:pathLst>
          </a:custGeom>
          <a:solidFill>
            <a:srgbClr val="DAD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Fächer innen Finanzrating"/>
          <p:cNvSpPr/>
          <p:nvPr/>
        </p:nvSpPr>
        <p:spPr>
          <a:xfrm>
            <a:off x="432000" y="2843550"/>
            <a:ext cx="594000" cy="255150"/>
          </a:xfrm>
          <a:custGeom>
            <a:avLst/>
            <a:gdLst/>
            <a:ahLst/>
            <a:cxnLst/>
            <a:rect l="l" t="t" r="r" b="b"/>
            <a:pathLst>
              <a:path w="594000" h="255150">
                <a:moveTo>
                  <a:pt x="0" y="85050"/>
                </a:moveTo>
                <a:lnTo>
                  <a:pt x="66000" y="75600"/>
                </a:lnTo>
                <a:lnTo>
                  <a:pt x="132000" y="66150"/>
                </a:lnTo>
                <a:lnTo>
                  <a:pt x="198000" y="56700"/>
                </a:lnTo>
                <a:lnTo>
                  <a:pt x="264000" y="47250"/>
                </a:lnTo>
                <a:lnTo>
                  <a:pt x="330000" y="37800"/>
                </a:lnTo>
                <a:lnTo>
                  <a:pt x="396000" y="28350"/>
                </a:lnTo>
                <a:lnTo>
                  <a:pt x="462000" y="18900"/>
                </a:lnTo>
                <a:lnTo>
                  <a:pt x="528000" y="9450"/>
                </a:lnTo>
                <a:lnTo>
                  <a:pt x="594000" y="0"/>
                </a:lnTo>
                <a:lnTo>
                  <a:pt x="594000" y="255150"/>
                </a:lnTo>
                <a:lnTo>
                  <a:pt x="528000" y="236250"/>
                </a:lnTo>
                <a:lnTo>
                  <a:pt x="462000" y="217350"/>
                </a:lnTo>
                <a:lnTo>
                  <a:pt x="396000" y="198450"/>
                </a:lnTo>
                <a:lnTo>
                  <a:pt x="330000" y="179550"/>
                </a:lnTo>
                <a:lnTo>
                  <a:pt x="264000" y="160650"/>
                </a:lnTo>
                <a:lnTo>
                  <a:pt x="198000" y="141750"/>
                </a:lnTo>
                <a:lnTo>
                  <a:pt x="132000" y="122850"/>
                </a:lnTo>
                <a:lnTo>
                  <a:pt x="66000" y="103950"/>
                </a:lnTo>
                <a:lnTo>
                  <a:pt x="0" y="85050"/>
                </a:lnTo>
                <a:close/>
              </a:path>
            </a:pathLst>
          </a:custGeom>
          <a:solidFill>
            <a:srgbClr val="B5B5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Verlauf Finanzrating"/>
          <p:cNvSpPr/>
          <p:nvPr/>
        </p:nvSpPr>
        <p:spPr>
          <a:xfrm>
            <a:off x="234000" y="2853000"/>
            <a:ext cx="792000" cy="132300"/>
          </a:xfrm>
          <a:custGeom>
            <a:avLst/>
            <a:gdLst/>
            <a:ahLst/>
            <a:cxnLst/>
            <a:rect l="l" t="t" r="r" b="b"/>
            <a:pathLst>
              <a:path w="792000" h="132300">
                <a:moveTo>
                  <a:pt x="0" y="0"/>
                </a:moveTo>
                <a:lnTo>
                  <a:pt x="66000" y="25200"/>
                </a:lnTo>
                <a:lnTo>
                  <a:pt x="132000" y="50400"/>
                </a:lnTo>
                <a:lnTo>
                  <a:pt x="198000" y="75600"/>
                </a:lnTo>
                <a:lnTo>
                  <a:pt x="264000" y="81900"/>
                </a:lnTo>
                <a:lnTo>
                  <a:pt x="330000" y="88200"/>
                </a:lnTo>
                <a:lnTo>
                  <a:pt x="396000" y="94500"/>
                </a:lnTo>
                <a:lnTo>
                  <a:pt x="462000" y="100800"/>
                </a:lnTo>
                <a:lnTo>
                  <a:pt x="528000" y="107100"/>
                </a:lnTo>
                <a:lnTo>
                  <a:pt x="594000" y="113400"/>
                </a:lnTo>
                <a:lnTo>
                  <a:pt x="660000" y="119700"/>
                </a:lnTo>
                <a:lnTo>
                  <a:pt x="726000" y="126000"/>
                </a:lnTo>
                <a:lnTo>
                  <a:pt x="792000" y="132300"/>
                </a:lnTo>
              </a:path>
            </a:pathLst>
          </a:custGeom>
          <a:noFill/>
          <a:ln w="1143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Kasten Freier Cashflow nach Steuern"/>
          <p:cNvSpPr/>
          <p:nvPr/>
        </p:nvSpPr>
        <p:spPr>
          <a:xfrm>
            <a:off x="4536000" y="2340000"/>
            <a:ext cx="1026000" cy="11340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116" name="Freier Cashflow nach Steuern"/>
          <p:cNvSpPr txBox="1"/>
          <p:nvPr/>
        </p:nvSpPr>
        <p:spPr>
          <a:xfrm>
            <a:off x="4564800" y="2361600"/>
            <a:ext cx="9684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1" i="0">
                <a:solidFill>
                  <a:srgbClr val="1A1A1A"/>
                </a:solidFill>
                <a:latin typeface="Arial"/>
              </a:rPr>
              <a:t>Freier Cashflow nach</a:t>
            </a:r>
            <a:br>
              <a:rPr lang="de-DE" sz="6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1" i="0">
                <a:solidFill>
                  <a:srgbClr val="1A1A1A"/>
                </a:solidFill>
                <a:latin typeface="Arial"/>
              </a:rPr>
              <a:t>Steuern</a:t>
            </a:r>
          </a:p>
        </p:txBody>
      </p:sp>
      <p:sp>
        <p:nvSpPr>
          <p:cNvPr id="117" name="Achsen Freier Cashflow nach Steuern"/>
          <p:cNvSpPr/>
          <p:nvPr/>
        </p:nvSpPr>
        <p:spPr>
          <a:xfrm>
            <a:off x="4752000" y="2613600"/>
            <a:ext cx="630000" cy="630000"/>
          </a:xfrm>
          <a:custGeom>
            <a:avLst/>
            <a:gdLst/>
            <a:ahLst/>
            <a:cxnLst/>
            <a:rect l="l" t="t" r="r" b="b"/>
            <a:pathLst>
              <a:path w="630000" h="630000">
                <a:moveTo>
                  <a:pt x="0" y="0"/>
                </a:moveTo>
                <a:lnTo>
                  <a:pt x="0" y="630000"/>
                </a:lnTo>
                <a:lnTo>
                  <a:pt x="630000" y="630000"/>
                </a:lnTo>
              </a:path>
            </a:pathLst>
          </a:custGeom>
          <a:noFill/>
          <a:ln w="635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y +"/>
          <p:cNvSpPr txBox="1"/>
          <p:nvPr/>
        </p:nvSpPr>
        <p:spPr>
          <a:xfrm>
            <a:off x="4546800" y="2566800"/>
            <a:ext cx="194400" cy="9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+</a:t>
            </a:r>
          </a:p>
        </p:txBody>
      </p:sp>
      <p:sp>
        <p:nvSpPr>
          <p:cNvPr id="119" name="y 0"/>
          <p:cNvSpPr txBox="1"/>
          <p:nvPr/>
        </p:nvSpPr>
        <p:spPr>
          <a:xfrm>
            <a:off x="4546800" y="2881800"/>
            <a:ext cx="194400" cy="9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0</a:t>
            </a:r>
          </a:p>
        </p:txBody>
      </p:sp>
      <p:sp>
        <p:nvSpPr>
          <p:cNvPr id="120" name="y –"/>
          <p:cNvSpPr txBox="1"/>
          <p:nvPr/>
        </p:nvSpPr>
        <p:spPr>
          <a:xfrm>
            <a:off x="4546800" y="3196800"/>
            <a:ext cx="194400" cy="9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–</a:t>
            </a:r>
          </a:p>
        </p:txBody>
      </p:sp>
      <p:sp>
        <p:nvSpPr>
          <p:cNvPr id="121" name="Jahr 2008"/>
          <p:cNvSpPr txBox="1"/>
          <p:nvPr/>
        </p:nvSpPr>
        <p:spPr>
          <a:xfrm>
            <a:off x="4608000" y="3272400"/>
            <a:ext cx="288000" cy="10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2008</a:t>
            </a:r>
          </a:p>
        </p:txBody>
      </p:sp>
      <p:sp>
        <p:nvSpPr>
          <p:cNvPr id="122" name="Jahr 2012"/>
          <p:cNvSpPr txBox="1"/>
          <p:nvPr/>
        </p:nvSpPr>
        <p:spPr>
          <a:xfrm>
            <a:off x="4818000" y="3272400"/>
            <a:ext cx="288000" cy="10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2012</a:t>
            </a:r>
          </a:p>
        </p:txBody>
      </p:sp>
      <p:sp>
        <p:nvSpPr>
          <p:cNvPr id="123" name="Jahr 2016"/>
          <p:cNvSpPr txBox="1"/>
          <p:nvPr/>
        </p:nvSpPr>
        <p:spPr>
          <a:xfrm>
            <a:off x="5028000" y="3272400"/>
            <a:ext cx="288000" cy="10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2016</a:t>
            </a:r>
          </a:p>
        </p:txBody>
      </p:sp>
      <p:sp>
        <p:nvSpPr>
          <p:cNvPr id="124" name="Jahr 2020"/>
          <p:cNvSpPr txBox="1"/>
          <p:nvPr/>
        </p:nvSpPr>
        <p:spPr>
          <a:xfrm>
            <a:off x="5238000" y="3272400"/>
            <a:ext cx="288000" cy="100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2020</a:t>
            </a:r>
          </a:p>
        </p:txBody>
      </p:sp>
      <p:sp>
        <p:nvSpPr>
          <p:cNvPr id="125" name="Fächer außen Freier Cashflow nach Steuern"/>
          <p:cNvSpPr/>
          <p:nvPr/>
        </p:nvSpPr>
        <p:spPr>
          <a:xfrm>
            <a:off x="4909500" y="2673450"/>
            <a:ext cx="472500" cy="453600"/>
          </a:xfrm>
          <a:custGeom>
            <a:avLst/>
            <a:gdLst/>
            <a:ahLst/>
            <a:cxnLst/>
            <a:rect l="l" t="t" r="r" b="b"/>
            <a:pathLst>
              <a:path w="472500" h="453600">
                <a:moveTo>
                  <a:pt x="0" y="255150"/>
                </a:moveTo>
                <a:lnTo>
                  <a:pt x="52500" y="226800"/>
                </a:lnTo>
                <a:lnTo>
                  <a:pt x="105000" y="198450"/>
                </a:lnTo>
                <a:lnTo>
                  <a:pt x="157500" y="170100"/>
                </a:lnTo>
                <a:lnTo>
                  <a:pt x="210000" y="141750"/>
                </a:lnTo>
                <a:lnTo>
                  <a:pt x="262500" y="113400"/>
                </a:lnTo>
                <a:lnTo>
                  <a:pt x="315000" y="85050"/>
                </a:lnTo>
                <a:lnTo>
                  <a:pt x="367500" y="56700"/>
                </a:lnTo>
                <a:lnTo>
                  <a:pt x="420000" y="28350"/>
                </a:lnTo>
                <a:lnTo>
                  <a:pt x="472500" y="0"/>
                </a:lnTo>
                <a:lnTo>
                  <a:pt x="472500" y="453600"/>
                </a:lnTo>
                <a:lnTo>
                  <a:pt x="420000" y="431550"/>
                </a:lnTo>
                <a:lnTo>
                  <a:pt x="367500" y="409500"/>
                </a:lnTo>
                <a:lnTo>
                  <a:pt x="315000" y="387450"/>
                </a:lnTo>
                <a:lnTo>
                  <a:pt x="262500" y="365400"/>
                </a:lnTo>
                <a:lnTo>
                  <a:pt x="210000" y="343350"/>
                </a:lnTo>
                <a:lnTo>
                  <a:pt x="157500" y="321300"/>
                </a:lnTo>
                <a:lnTo>
                  <a:pt x="105000" y="299250"/>
                </a:lnTo>
                <a:lnTo>
                  <a:pt x="52500" y="277200"/>
                </a:lnTo>
                <a:lnTo>
                  <a:pt x="0" y="255150"/>
                </a:lnTo>
                <a:close/>
              </a:path>
            </a:pathLst>
          </a:custGeom>
          <a:solidFill>
            <a:srgbClr val="DADA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Fächer innen Freier Cashflow nach Steuern"/>
          <p:cNvSpPr/>
          <p:nvPr/>
        </p:nvSpPr>
        <p:spPr>
          <a:xfrm>
            <a:off x="4909500" y="2758500"/>
            <a:ext cx="472500" cy="283500"/>
          </a:xfrm>
          <a:custGeom>
            <a:avLst/>
            <a:gdLst/>
            <a:ahLst/>
            <a:cxnLst/>
            <a:rect l="l" t="t" r="r" b="b"/>
            <a:pathLst>
              <a:path w="472500" h="283500">
                <a:moveTo>
                  <a:pt x="0" y="170100"/>
                </a:moveTo>
                <a:lnTo>
                  <a:pt x="52500" y="151200"/>
                </a:lnTo>
                <a:lnTo>
                  <a:pt x="105000" y="132300"/>
                </a:lnTo>
                <a:lnTo>
                  <a:pt x="157500" y="113400"/>
                </a:lnTo>
                <a:lnTo>
                  <a:pt x="210000" y="94500"/>
                </a:lnTo>
                <a:lnTo>
                  <a:pt x="262500" y="75600"/>
                </a:lnTo>
                <a:lnTo>
                  <a:pt x="315000" y="56700"/>
                </a:lnTo>
                <a:lnTo>
                  <a:pt x="367500" y="37800"/>
                </a:lnTo>
                <a:lnTo>
                  <a:pt x="420000" y="18900"/>
                </a:lnTo>
                <a:lnTo>
                  <a:pt x="472500" y="0"/>
                </a:lnTo>
                <a:lnTo>
                  <a:pt x="472500" y="283500"/>
                </a:lnTo>
                <a:lnTo>
                  <a:pt x="420000" y="270900"/>
                </a:lnTo>
                <a:lnTo>
                  <a:pt x="367500" y="258300"/>
                </a:lnTo>
                <a:lnTo>
                  <a:pt x="315000" y="245700"/>
                </a:lnTo>
                <a:lnTo>
                  <a:pt x="262500" y="233100"/>
                </a:lnTo>
                <a:lnTo>
                  <a:pt x="210000" y="220500"/>
                </a:lnTo>
                <a:lnTo>
                  <a:pt x="157500" y="207900"/>
                </a:lnTo>
                <a:lnTo>
                  <a:pt x="105000" y="195300"/>
                </a:lnTo>
                <a:lnTo>
                  <a:pt x="52500" y="182700"/>
                </a:lnTo>
                <a:lnTo>
                  <a:pt x="0" y="170100"/>
                </a:lnTo>
                <a:close/>
              </a:path>
            </a:pathLst>
          </a:custGeom>
          <a:solidFill>
            <a:srgbClr val="B5B5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Verlauf Freier Cashflow nach Steuern"/>
          <p:cNvSpPr/>
          <p:nvPr/>
        </p:nvSpPr>
        <p:spPr>
          <a:xfrm>
            <a:off x="4752000" y="2815434"/>
            <a:ext cx="630000" cy="207666"/>
          </a:xfrm>
          <a:custGeom>
            <a:avLst/>
            <a:gdLst/>
            <a:ahLst/>
            <a:cxnLst/>
            <a:rect l="l" t="t" r="r" b="b"/>
            <a:pathLst>
              <a:path w="630000" h="207666">
                <a:moveTo>
                  <a:pt x="0" y="207666"/>
                </a:moveTo>
                <a:lnTo>
                  <a:pt x="52500" y="207666"/>
                </a:lnTo>
                <a:lnTo>
                  <a:pt x="105000" y="207666"/>
                </a:lnTo>
                <a:lnTo>
                  <a:pt x="157500" y="207666"/>
                </a:lnTo>
                <a:lnTo>
                  <a:pt x="210000" y="149084"/>
                </a:lnTo>
                <a:lnTo>
                  <a:pt x="262500" y="112876"/>
                </a:lnTo>
                <a:lnTo>
                  <a:pt x="315000" y="88155"/>
                </a:lnTo>
                <a:lnTo>
                  <a:pt x="367500" y="69332"/>
                </a:lnTo>
                <a:lnTo>
                  <a:pt x="420000" y="53537"/>
                </a:lnTo>
                <a:lnTo>
                  <a:pt x="472500" y="39297"/>
                </a:lnTo>
                <a:lnTo>
                  <a:pt x="525000" y="25855"/>
                </a:lnTo>
                <a:lnTo>
                  <a:pt x="577500" y="12822"/>
                </a:lnTo>
                <a:lnTo>
                  <a:pt x="630000" y="0"/>
                </a:lnTo>
              </a:path>
            </a:pathLst>
          </a:custGeom>
          <a:noFill/>
          <a:ln w="11430">
            <a:solidFill>
              <a:srgbClr val="3A3F44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Ratingtabelle"/>
          <p:cNvSpPr/>
          <p:nvPr/>
        </p:nvSpPr>
        <p:spPr>
          <a:xfrm>
            <a:off x="1404000" y="2340000"/>
            <a:ext cx="1224000" cy="113400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6350">
            <a:solidFill>
              <a:srgbClr val="9A9A9A"/>
            </a:solidFill>
            <a:round/>
          </a:ln>
        </p:spPr>
        <p:txBody>
          <a:bodyPr rtlCol="0" anchor="ctr"/>
          <a:lstStyle/>
          <a:p/>
        </p:txBody>
      </p:sp>
      <p:sp>
        <p:nvSpPr>
          <p:cNvPr id="129" name="Titel Ratingtabelle"/>
          <p:cNvSpPr txBox="1"/>
          <p:nvPr/>
        </p:nvSpPr>
        <p:spPr>
          <a:xfrm>
            <a:off x="1432800" y="2361600"/>
            <a:ext cx="11664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"/>
              </a:lnSpc>
              <a:buNone/>
            </a:pPr>
            <a:r>
              <a:rPr lang="de-DE" sz="600" b="1" i="0">
                <a:solidFill>
                  <a:srgbClr val="1A1A1A"/>
                </a:solidFill>
                <a:latin typeface="Arial"/>
              </a:rPr>
              <a:t>Ratingnote und</a:t>
            </a:r>
            <a:br>
              <a:rPr lang="de-DE" sz="6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1" i="0">
                <a:solidFill>
                  <a:srgbClr val="1A1A1A"/>
                </a:solidFill>
                <a:latin typeface="Arial"/>
              </a:rPr>
              <a:t>Ausfallwahrscheinlichkeit</a:t>
            </a:r>
          </a:p>
        </p:txBody>
      </p:sp>
      <p:sp>
        <p:nvSpPr>
          <p:cNvPr id="130" name="Tabellenkopf"/>
          <p:cNvSpPr/>
          <p:nvPr/>
        </p:nvSpPr>
        <p:spPr>
          <a:xfrm>
            <a:off x="1476000" y="2606400"/>
            <a:ext cx="1080000" cy="111600"/>
          </a:xfrm>
          <a:prstGeom prst="rect">
            <a:avLst/>
          </a:prstGeom>
          <a:solidFill>
            <a:srgbClr val="3A3F4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1" name="Kopf Note"/>
          <p:cNvSpPr txBox="1"/>
          <p:nvPr/>
        </p:nvSpPr>
        <p:spPr>
          <a:xfrm>
            <a:off x="1530000" y="2606400"/>
            <a:ext cx="432000" cy="11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1" i="0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132" name="Kopf PD"/>
          <p:cNvSpPr txBox="1"/>
          <p:nvPr/>
        </p:nvSpPr>
        <p:spPr>
          <a:xfrm>
            <a:off x="2016000" y="2606400"/>
            <a:ext cx="486000" cy="11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1" i="0">
                <a:solidFill>
                  <a:srgbClr val="FFFFFF"/>
                </a:solidFill>
                <a:latin typeface="Arial"/>
              </a:rPr>
              <a:t>PD</a:t>
            </a:r>
          </a:p>
        </p:txBody>
      </p:sp>
      <p:sp>
        <p:nvSpPr>
          <p:cNvPr id="133" name="Klasse AAA"/>
          <p:cNvSpPr txBox="1"/>
          <p:nvPr/>
        </p:nvSpPr>
        <p:spPr>
          <a:xfrm>
            <a:off x="1530000" y="2718000"/>
            <a:ext cx="432000" cy="11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AAA</a:t>
            </a:r>
          </a:p>
        </p:txBody>
      </p:sp>
      <p:sp>
        <p:nvSpPr>
          <p:cNvPr id="134" name="PD AAA"/>
          <p:cNvSpPr txBox="1"/>
          <p:nvPr/>
        </p:nvSpPr>
        <p:spPr>
          <a:xfrm>
            <a:off x="2016000" y="2718000"/>
            <a:ext cx="486000" cy="11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0,01 %</a:t>
            </a:r>
          </a:p>
        </p:txBody>
      </p:sp>
      <p:sp>
        <p:nvSpPr>
          <p:cNvPr id="135" name="Linie AAA"/>
          <p:cNvSpPr/>
          <p:nvPr/>
        </p:nvSpPr>
        <p:spPr>
          <a:xfrm>
            <a:off x="1476000" y="2829600"/>
            <a:ext cx="1080000" cy="0"/>
          </a:xfrm>
          <a:custGeom>
            <a:avLst/>
            <a:gdLst/>
            <a:ahLst/>
            <a:cxnLst/>
            <a:rect l="l" t="t" r="r" b="b"/>
            <a:pathLst>
              <a:path w="1080000" h="0">
                <a:moveTo>
                  <a:pt x="0" y="0"/>
                </a:moveTo>
                <a:lnTo>
                  <a:pt x="1080000" y="0"/>
                </a:lnTo>
              </a:path>
            </a:pathLst>
          </a:custGeom>
          <a:noFill/>
          <a:ln w="5080">
            <a:solidFill>
              <a:srgbClr val="B5B5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Klasse AA"/>
          <p:cNvSpPr txBox="1"/>
          <p:nvPr/>
        </p:nvSpPr>
        <p:spPr>
          <a:xfrm>
            <a:off x="1530000" y="2829600"/>
            <a:ext cx="432000" cy="11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AA</a:t>
            </a:r>
          </a:p>
        </p:txBody>
      </p:sp>
      <p:sp>
        <p:nvSpPr>
          <p:cNvPr id="137" name="PD AA"/>
          <p:cNvSpPr txBox="1"/>
          <p:nvPr/>
        </p:nvSpPr>
        <p:spPr>
          <a:xfrm>
            <a:off x="2016000" y="2829600"/>
            <a:ext cx="486000" cy="11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0,03 %</a:t>
            </a:r>
          </a:p>
        </p:txBody>
      </p:sp>
      <p:sp>
        <p:nvSpPr>
          <p:cNvPr id="138" name="Linie AA"/>
          <p:cNvSpPr/>
          <p:nvPr/>
        </p:nvSpPr>
        <p:spPr>
          <a:xfrm>
            <a:off x="1476000" y="2941200"/>
            <a:ext cx="1080000" cy="0"/>
          </a:xfrm>
          <a:custGeom>
            <a:avLst/>
            <a:gdLst/>
            <a:ahLst/>
            <a:cxnLst/>
            <a:rect l="l" t="t" r="r" b="b"/>
            <a:pathLst>
              <a:path w="1080000" h="0">
                <a:moveTo>
                  <a:pt x="0" y="0"/>
                </a:moveTo>
                <a:lnTo>
                  <a:pt x="1080000" y="0"/>
                </a:lnTo>
              </a:path>
            </a:pathLst>
          </a:custGeom>
          <a:noFill/>
          <a:ln w="5080">
            <a:solidFill>
              <a:srgbClr val="B5B5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Klasse A"/>
          <p:cNvSpPr txBox="1"/>
          <p:nvPr/>
        </p:nvSpPr>
        <p:spPr>
          <a:xfrm>
            <a:off x="1530000" y="2941200"/>
            <a:ext cx="432000" cy="11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A</a:t>
            </a:r>
          </a:p>
        </p:txBody>
      </p:sp>
      <p:sp>
        <p:nvSpPr>
          <p:cNvPr id="140" name="PD A"/>
          <p:cNvSpPr txBox="1"/>
          <p:nvPr/>
        </p:nvSpPr>
        <p:spPr>
          <a:xfrm>
            <a:off x="2016000" y="2941200"/>
            <a:ext cx="486000" cy="11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0,06 %</a:t>
            </a:r>
          </a:p>
        </p:txBody>
      </p:sp>
      <p:sp>
        <p:nvSpPr>
          <p:cNvPr id="141" name="Linie A"/>
          <p:cNvSpPr/>
          <p:nvPr/>
        </p:nvSpPr>
        <p:spPr>
          <a:xfrm>
            <a:off x="1476000" y="3052800"/>
            <a:ext cx="1080000" cy="0"/>
          </a:xfrm>
          <a:custGeom>
            <a:avLst/>
            <a:gdLst/>
            <a:ahLst/>
            <a:cxnLst/>
            <a:rect l="l" t="t" r="r" b="b"/>
            <a:pathLst>
              <a:path w="1080000" h="0">
                <a:moveTo>
                  <a:pt x="0" y="0"/>
                </a:moveTo>
                <a:lnTo>
                  <a:pt x="1080000" y="0"/>
                </a:lnTo>
              </a:path>
            </a:pathLst>
          </a:custGeom>
          <a:noFill/>
          <a:ln w="5080">
            <a:solidFill>
              <a:srgbClr val="B5B5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Klasse BBB"/>
          <p:cNvSpPr txBox="1"/>
          <p:nvPr/>
        </p:nvSpPr>
        <p:spPr>
          <a:xfrm>
            <a:off x="1530000" y="3052800"/>
            <a:ext cx="432000" cy="11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BBB</a:t>
            </a:r>
          </a:p>
        </p:txBody>
      </p:sp>
      <p:sp>
        <p:nvSpPr>
          <p:cNvPr id="143" name="PD BBB"/>
          <p:cNvSpPr txBox="1"/>
          <p:nvPr/>
        </p:nvSpPr>
        <p:spPr>
          <a:xfrm>
            <a:off x="2016000" y="3052800"/>
            <a:ext cx="486000" cy="11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0,22 %</a:t>
            </a:r>
          </a:p>
        </p:txBody>
      </p:sp>
      <p:sp>
        <p:nvSpPr>
          <p:cNvPr id="144" name="Linie BBB"/>
          <p:cNvSpPr/>
          <p:nvPr/>
        </p:nvSpPr>
        <p:spPr>
          <a:xfrm>
            <a:off x="1476000" y="3164400"/>
            <a:ext cx="1080000" cy="0"/>
          </a:xfrm>
          <a:custGeom>
            <a:avLst/>
            <a:gdLst/>
            <a:ahLst/>
            <a:cxnLst/>
            <a:rect l="l" t="t" r="r" b="b"/>
            <a:pathLst>
              <a:path w="1080000" h="0">
                <a:moveTo>
                  <a:pt x="0" y="0"/>
                </a:moveTo>
                <a:lnTo>
                  <a:pt x="1080000" y="0"/>
                </a:lnTo>
              </a:path>
            </a:pathLst>
          </a:custGeom>
          <a:noFill/>
          <a:ln w="5080">
            <a:solidFill>
              <a:srgbClr val="B5B5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Klasse BB"/>
          <p:cNvSpPr txBox="1"/>
          <p:nvPr/>
        </p:nvSpPr>
        <p:spPr>
          <a:xfrm>
            <a:off x="1530000" y="3164400"/>
            <a:ext cx="432000" cy="11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BB</a:t>
            </a:r>
          </a:p>
        </p:txBody>
      </p:sp>
      <p:sp>
        <p:nvSpPr>
          <p:cNvPr id="146" name="PD BB"/>
          <p:cNvSpPr txBox="1"/>
          <p:nvPr/>
        </p:nvSpPr>
        <p:spPr>
          <a:xfrm>
            <a:off x="2016000" y="3164400"/>
            <a:ext cx="486000" cy="11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1,17 %</a:t>
            </a:r>
          </a:p>
        </p:txBody>
      </p:sp>
      <p:sp>
        <p:nvSpPr>
          <p:cNvPr id="147" name="Linie BB"/>
          <p:cNvSpPr/>
          <p:nvPr/>
        </p:nvSpPr>
        <p:spPr>
          <a:xfrm>
            <a:off x="1476000" y="3276000"/>
            <a:ext cx="1080000" cy="0"/>
          </a:xfrm>
          <a:custGeom>
            <a:avLst/>
            <a:gdLst/>
            <a:ahLst/>
            <a:cxnLst/>
            <a:rect l="l" t="t" r="r" b="b"/>
            <a:pathLst>
              <a:path w="1080000" h="0">
                <a:moveTo>
                  <a:pt x="0" y="0"/>
                </a:moveTo>
                <a:lnTo>
                  <a:pt x="1080000" y="0"/>
                </a:lnTo>
              </a:path>
            </a:pathLst>
          </a:custGeom>
          <a:noFill/>
          <a:ln w="5080">
            <a:solidFill>
              <a:srgbClr val="B5B5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Klasse B+"/>
          <p:cNvSpPr txBox="1"/>
          <p:nvPr/>
        </p:nvSpPr>
        <p:spPr>
          <a:xfrm>
            <a:off x="1530000" y="3276000"/>
            <a:ext cx="432000" cy="11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B+</a:t>
            </a:r>
          </a:p>
        </p:txBody>
      </p:sp>
      <p:sp>
        <p:nvSpPr>
          <p:cNvPr id="149" name="PD B+"/>
          <p:cNvSpPr txBox="1"/>
          <p:nvPr/>
        </p:nvSpPr>
        <p:spPr>
          <a:xfrm>
            <a:off x="2016000" y="3276000"/>
            <a:ext cx="486000" cy="11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708"/>
              </a:lnSpc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3,51 %</a:t>
            </a:r>
          </a:p>
        </p:txBody>
      </p:sp>
      <p:sp>
        <p:nvSpPr>
          <p:cNvPr id="150" name="Linie B+"/>
          <p:cNvSpPr/>
          <p:nvPr/>
        </p:nvSpPr>
        <p:spPr>
          <a:xfrm>
            <a:off x="1476000" y="3387600"/>
            <a:ext cx="1080000" cy="0"/>
          </a:xfrm>
          <a:custGeom>
            <a:avLst/>
            <a:gdLst/>
            <a:ahLst/>
            <a:cxnLst/>
            <a:rect l="l" t="t" r="r" b="b"/>
            <a:pathLst>
              <a:path w="1080000" h="0">
                <a:moveTo>
                  <a:pt x="0" y="0"/>
                </a:moveTo>
                <a:lnTo>
                  <a:pt x="1080000" y="0"/>
                </a:lnTo>
              </a:path>
            </a:pathLst>
          </a:custGeom>
          <a:noFill/>
          <a:ln w="5080">
            <a:solidFill>
              <a:srgbClr val="B5B5B5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Schätzung PD"/>
          <p:cNvSpPr/>
          <p:nvPr/>
        </p:nvSpPr>
        <p:spPr>
          <a:xfrm>
            <a:off x="2844000" y="2340000"/>
            <a:ext cx="1512000" cy="1134000"/>
          </a:xfrm>
          <a:prstGeom prst="roundRect">
            <a:avLst>
              <a:gd name="adj" fmla="val 2540"/>
            </a:avLst>
          </a:prstGeom>
          <a:solidFill>
            <a:srgbClr val="EFEFEF"/>
          </a:solidFill>
          <a:ln w="6350">
            <a:solidFill>
              <a:srgbClr val="9A9A9A"/>
            </a:solidFill>
            <a:round/>
          </a:ln>
        </p:spPr>
        <p:txBody>
          <a:bodyPr rtlCol="0" anchor="ctr" lIns="57600" rIns="57600" tIns="36000" bIns="36000" wrap="square">
            <a:noAutofit/>
          </a:bodyPr>
          <a:lstStyle/>
          <a:p>
            <a:pPr algn="ctr">
              <a:lnSpc>
                <a:spcPts val="826"/>
              </a:lnSpc>
              <a:buNone/>
            </a:pPr>
            <a:r>
              <a:rPr lang="de-DE" sz="700" b="1" i="0">
                <a:solidFill>
                  <a:srgbClr val="1A1A1A"/>
                </a:solidFill>
                <a:latin typeface="Arial"/>
              </a:rPr>
              <a:t>Schätzung der</a:t>
            </a:r>
            <a:br>
              <a:rPr lang="de-DE" sz="700" b="1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700" b="1" i="0">
                <a:solidFill>
                  <a:srgbClr val="1A1A1A"/>
                </a:solidFill>
                <a:latin typeface="Arial"/>
              </a:rPr>
              <a:t>Ausfallwahrscheinlichkeit (PD)</a:t>
            </a:r>
          </a:p>
          <a:p>
            <a:pPr algn="l">
              <a:lnSpc>
                <a:spcPts val="708"/>
              </a:lnSpc>
              <a:spcBef>
                <a:spcPts val="300"/>
              </a:spcBef>
              <a:buNone/>
            </a:pPr>
            <a:r>
              <a:rPr lang="de-DE" sz="600" b="0" i="0">
                <a:solidFill>
                  <a:srgbClr val="1A1A1A"/>
                </a:solidFill>
                <a:latin typeface="Arial"/>
              </a:rPr>
              <a:t>In wie viel % der simulierten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Zukunftsszenarien tritt (1)</a:t>
            </a:r>
            <a:br>
              <a:rPr lang="de-DE" sz="600" b="0" i="0">
                <a:solidFill>
                  <a:srgbClr val="1A1A1A"/>
                </a:solidFill>
                <a:latin typeface="Arial"/>
                <a:cs typeface="Arial"/>
              </a:rPr>
            </a:br>
            <a:r>
              <a:rPr lang="de-DE" sz="600" b="0" i="0">
                <a:solidFill>
                  <a:srgbClr val="1A1A1A"/>
                </a:solidFill>
                <a:latin typeface="Arial"/>
              </a:rPr>
              <a:t>Überschuldung oder (2) Illiquidität ein?</a:t>
            </a:r>
          </a:p>
          <a:p>
            <a:pPr algn="l">
              <a:lnSpc>
                <a:spcPts val="708"/>
              </a:lnSpc>
              <a:spcBef>
                <a:spcPts val="300"/>
              </a:spcBef>
              <a:buNone/>
            </a:pPr>
            <a:r>
              <a:rPr lang="de-DE" sz="600" b="0" i="1">
                <a:solidFill>
                  <a:srgbClr val="1A1A1A"/>
                </a:solidFill>
                <a:latin typeface="Arial"/>
              </a:rPr>
              <a:t>Zuordnung einer Ratingnote möglich!</a:t>
            </a:r>
          </a:p>
        </p:txBody>
      </p:sp>
      <p:sp>
        <p:nvSpPr>
          <p:cNvPr id="152" name="Gewinn → Simulation"/>
          <p:cNvSpPr/>
          <p:nvPr/>
        </p:nvSpPr>
        <p:spPr>
          <a:xfrm>
            <a:off x="1656000" y="1999800"/>
            <a:ext cx="2304000" cy="0"/>
          </a:xfrm>
          <a:custGeom>
            <a:avLst/>
            <a:gdLst/>
            <a:ahLst/>
            <a:cxnLst/>
            <a:rect l="l" t="t" r="r" b="b"/>
            <a:pathLst>
              <a:path w="2304000" h="0">
                <a:moveTo>
                  <a:pt x="0" y="0"/>
                </a:moveTo>
                <a:lnTo>
                  <a:pt x="230400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Simulation → Schätzung"/>
          <p:cNvSpPr/>
          <p:nvPr/>
        </p:nvSpPr>
        <p:spPr>
          <a:xfrm>
            <a:off x="3600000" y="2088000"/>
            <a:ext cx="869400" cy="252000"/>
          </a:xfrm>
          <a:custGeom>
            <a:avLst/>
            <a:gdLst/>
            <a:ahLst/>
            <a:cxnLst/>
            <a:rect l="l" t="t" r="r" b="b"/>
            <a:pathLst>
              <a:path w="869400" h="252000">
                <a:moveTo>
                  <a:pt x="869400" y="0"/>
                </a:moveTo>
                <a:lnTo>
                  <a:pt x="869400" y="108000"/>
                </a:lnTo>
                <a:lnTo>
                  <a:pt x="0" y="108000"/>
                </a:lnTo>
                <a:lnTo>
                  <a:pt x="0" y="252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Simulation → Cashflow"/>
          <p:cNvSpPr/>
          <p:nvPr/>
        </p:nvSpPr>
        <p:spPr>
          <a:xfrm>
            <a:off x="5049000" y="2088000"/>
            <a:ext cx="0" cy="252000"/>
          </a:xfrm>
          <a:custGeom>
            <a:avLst/>
            <a:gdLst/>
            <a:ahLst/>
            <a:cxnLst/>
            <a:rect l="l" t="t" r="r" b="b"/>
            <a:pathLst>
              <a:path w="0" h="252000">
                <a:moveTo>
                  <a:pt x="0" y="0"/>
                </a:moveTo>
                <a:lnTo>
                  <a:pt x="0" y="252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Schätzung → Ratingtabelle"/>
          <p:cNvSpPr/>
          <p:nvPr/>
        </p:nvSpPr>
        <p:spPr>
          <a:xfrm>
            <a:off x="2628000" y="2907000"/>
            <a:ext cx="216000" cy="0"/>
          </a:xfrm>
          <a:custGeom>
            <a:avLst/>
            <a:gdLst/>
            <a:ahLst/>
            <a:cxnLst/>
            <a:rect l="l" t="t" r="r" b="b"/>
            <a:pathLst>
              <a:path w="216000" h="0">
                <a:moveTo>
                  <a:pt x="216000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Ratingtabelle → Finanzrating"/>
          <p:cNvSpPr/>
          <p:nvPr/>
        </p:nvSpPr>
        <p:spPr>
          <a:xfrm>
            <a:off x="612000" y="2196000"/>
            <a:ext cx="1404000" cy="144000"/>
          </a:xfrm>
          <a:custGeom>
            <a:avLst/>
            <a:gdLst/>
            <a:ahLst/>
            <a:cxnLst/>
            <a:rect l="l" t="t" r="r" b="b"/>
            <a:pathLst>
              <a:path w="1404000" h="144000">
                <a:moveTo>
                  <a:pt x="1404000" y="144000"/>
                </a:moveTo>
                <a:lnTo>
                  <a:pt x="1404000" y="0"/>
                </a:lnTo>
                <a:lnTo>
                  <a:pt x="0" y="0"/>
                </a:lnTo>
                <a:lnTo>
                  <a:pt x="0" y="144000"/>
                </a:lnTo>
              </a:path>
            </a:pathLst>
          </a:custGeom>
          <a:noFill/>
          <a:ln w="9525">
            <a:solidFill>
              <a:srgbClr val="3A3F44"/>
            </a:solidFill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