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53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Würfel oben"/>
          <p:cNvSpPr/>
          <p:nvPr/>
        </p:nvSpPr>
        <p:spPr>
          <a:xfrm>
            <a:off x="1188000" y="403200"/>
            <a:ext cx="1440000" cy="280800"/>
          </a:xfrm>
          <a:custGeom>
            <a:avLst/>
            <a:gdLst/>
            <a:ahLst/>
            <a:cxnLst/>
            <a:rect l="l" t="t" r="r" b="b"/>
            <a:pathLst>
              <a:path w="1440000" h="280800">
                <a:moveTo>
                  <a:pt x="0" y="280800"/>
                </a:moveTo>
                <a:lnTo>
                  <a:pt x="1008000" y="280800"/>
                </a:lnTo>
                <a:lnTo>
                  <a:pt x="1440000" y="0"/>
                </a:lnTo>
                <a:lnTo>
                  <a:pt x="432000" y="0"/>
                </a:lnTo>
                <a:close/>
              </a:path>
            </a:pathLst>
          </a:custGeom>
          <a:solidFill>
            <a:srgbClr val="EFEF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Würfel rechts"/>
          <p:cNvSpPr/>
          <p:nvPr/>
        </p:nvSpPr>
        <p:spPr>
          <a:xfrm>
            <a:off x="2196000" y="403200"/>
            <a:ext cx="432000" cy="1540800"/>
          </a:xfrm>
          <a:custGeom>
            <a:avLst/>
            <a:gdLst/>
            <a:ahLst/>
            <a:cxnLst/>
            <a:rect l="l" t="t" r="r" b="b"/>
            <a:pathLst>
              <a:path w="432000" h="1540800">
                <a:moveTo>
                  <a:pt x="0" y="280800"/>
                </a:moveTo>
                <a:lnTo>
                  <a:pt x="432000" y="0"/>
                </a:lnTo>
                <a:lnTo>
                  <a:pt x="432000" y="1260000"/>
                </a:lnTo>
                <a:lnTo>
                  <a:pt x="0" y="1540800"/>
                </a:lnTo>
                <a:close/>
              </a:path>
            </a:pathLst>
          </a:cu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Würfel vorn"/>
          <p:cNvSpPr/>
          <p:nvPr/>
        </p:nvSpPr>
        <p:spPr>
          <a:xfrm>
            <a:off x="1188000" y="684000"/>
            <a:ext cx="1008000" cy="1260000"/>
          </a:xfrm>
          <a:custGeom>
            <a:avLst/>
            <a:gdLst/>
            <a:ahLst/>
            <a:cxnLst/>
            <a:rect l="l" t="t" r="r" b="b"/>
            <a:pathLst>
              <a:path w="1008000" h="1260000">
                <a:moveTo>
                  <a:pt x="0" y="0"/>
                </a:moveTo>
                <a:lnTo>
                  <a:pt x="1008000" y="0"/>
                </a:lnTo>
                <a:lnTo>
                  <a:pt x="1008000" y="1260000"/>
                </a:lnTo>
                <a:lnTo>
                  <a:pt x="0" y="126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Würfel Raster vorn"/>
          <p:cNvSpPr/>
          <p:nvPr/>
        </p:nvSpPr>
        <p:spPr>
          <a:xfrm>
            <a:off x="1440000" y="684000"/>
            <a:ext cx="0" cy="1260000"/>
          </a:xfrm>
          <a:custGeom>
            <a:avLst/>
            <a:gdLst/>
            <a:ahLst/>
            <a:cxnLst/>
            <a:rect l="l" t="t" r="r" b="b"/>
            <a:pathLst>
              <a:path w="0" h="1260000">
                <a:moveTo>
                  <a:pt x="0" y="0"/>
                </a:moveTo>
                <a:lnTo>
                  <a:pt x="0" y="12600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Würfel Raster vorn"/>
          <p:cNvSpPr/>
          <p:nvPr/>
        </p:nvSpPr>
        <p:spPr>
          <a:xfrm>
            <a:off x="1692000" y="684000"/>
            <a:ext cx="0" cy="1260000"/>
          </a:xfrm>
          <a:custGeom>
            <a:avLst/>
            <a:gdLst/>
            <a:ahLst/>
            <a:cxnLst/>
            <a:rect l="l" t="t" r="r" b="b"/>
            <a:pathLst>
              <a:path w="0" h="1260000">
                <a:moveTo>
                  <a:pt x="0" y="0"/>
                </a:moveTo>
                <a:lnTo>
                  <a:pt x="0" y="12600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Würfel Raster vorn"/>
          <p:cNvSpPr/>
          <p:nvPr/>
        </p:nvSpPr>
        <p:spPr>
          <a:xfrm>
            <a:off x="1944000" y="684000"/>
            <a:ext cx="0" cy="1260000"/>
          </a:xfrm>
          <a:custGeom>
            <a:avLst/>
            <a:gdLst/>
            <a:ahLst/>
            <a:cxnLst/>
            <a:rect l="l" t="t" r="r" b="b"/>
            <a:pathLst>
              <a:path w="0" h="1260000">
                <a:moveTo>
                  <a:pt x="0" y="0"/>
                </a:moveTo>
                <a:lnTo>
                  <a:pt x="0" y="12600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Würfel Raster vorn"/>
          <p:cNvSpPr/>
          <p:nvPr/>
        </p:nvSpPr>
        <p:spPr>
          <a:xfrm>
            <a:off x="1188000" y="936000"/>
            <a:ext cx="1008000" cy="0"/>
          </a:xfrm>
          <a:custGeom>
            <a:avLst/>
            <a:gdLst/>
            <a:ahLst/>
            <a:cxnLst/>
            <a:rect l="l" t="t" r="r" b="b"/>
            <a:pathLst>
              <a:path w="1008000" h="0">
                <a:moveTo>
                  <a:pt x="0" y="0"/>
                </a:moveTo>
                <a:lnTo>
                  <a:pt x="1008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Würfel Raster vorn"/>
          <p:cNvSpPr/>
          <p:nvPr/>
        </p:nvSpPr>
        <p:spPr>
          <a:xfrm>
            <a:off x="1188000" y="1188000"/>
            <a:ext cx="1008000" cy="0"/>
          </a:xfrm>
          <a:custGeom>
            <a:avLst/>
            <a:gdLst/>
            <a:ahLst/>
            <a:cxnLst/>
            <a:rect l="l" t="t" r="r" b="b"/>
            <a:pathLst>
              <a:path w="1008000" h="0">
                <a:moveTo>
                  <a:pt x="0" y="0"/>
                </a:moveTo>
                <a:lnTo>
                  <a:pt x="1008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Würfel Raster vorn"/>
          <p:cNvSpPr/>
          <p:nvPr/>
        </p:nvSpPr>
        <p:spPr>
          <a:xfrm>
            <a:off x="1188000" y="1440000"/>
            <a:ext cx="1008000" cy="0"/>
          </a:xfrm>
          <a:custGeom>
            <a:avLst/>
            <a:gdLst/>
            <a:ahLst/>
            <a:cxnLst/>
            <a:rect l="l" t="t" r="r" b="b"/>
            <a:pathLst>
              <a:path w="1008000" h="0">
                <a:moveTo>
                  <a:pt x="0" y="0"/>
                </a:moveTo>
                <a:lnTo>
                  <a:pt x="1008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Würfel Raster vorn"/>
          <p:cNvSpPr/>
          <p:nvPr/>
        </p:nvSpPr>
        <p:spPr>
          <a:xfrm>
            <a:off x="1188000" y="1692000"/>
            <a:ext cx="1008000" cy="0"/>
          </a:xfrm>
          <a:custGeom>
            <a:avLst/>
            <a:gdLst/>
            <a:ahLst/>
            <a:cxnLst/>
            <a:rect l="l" t="t" r="r" b="b"/>
            <a:pathLst>
              <a:path w="1008000" h="0">
                <a:moveTo>
                  <a:pt x="0" y="0"/>
                </a:moveTo>
                <a:lnTo>
                  <a:pt x="1008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Würfel Raster oben"/>
          <p:cNvSpPr/>
          <p:nvPr/>
        </p:nvSpPr>
        <p:spPr>
          <a:xfrm>
            <a:off x="1440000" y="403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Würfel Raster oben"/>
          <p:cNvSpPr/>
          <p:nvPr/>
        </p:nvSpPr>
        <p:spPr>
          <a:xfrm>
            <a:off x="1692000" y="403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Würfel Raster oben"/>
          <p:cNvSpPr/>
          <p:nvPr/>
        </p:nvSpPr>
        <p:spPr>
          <a:xfrm>
            <a:off x="1944000" y="403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Würfel Raster oben"/>
          <p:cNvSpPr/>
          <p:nvPr/>
        </p:nvSpPr>
        <p:spPr>
          <a:xfrm>
            <a:off x="1332000" y="590400"/>
            <a:ext cx="1008000" cy="0"/>
          </a:xfrm>
          <a:custGeom>
            <a:avLst/>
            <a:gdLst/>
            <a:ahLst/>
            <a:cxnLst/>
            <a:rect l="l" t="t" r="r" b="b"/>
            <a:pathLst>
              <a:path w="1008000" h="0">
                <a:moveTo>
                  <a:pt x="0" y="0"/>
                </a:moveTo>
                <a:lnTo>
                  <a:pt x="1008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Würfel Raster oben"/>
          <p:cNvSpPr/>
          <p:nvPr/>
        </p:nvSpPr>
        <p:spPr>
          <a:xfrm>
            <a:off x="1476000" y="496800"/>
            <a:ext cx="1008000" cy="0"/>
          </a:xfrm>
          <a:custGeom>
            <a:avLst/>
            <a:gdLst/>
            <a:ahLst/>
            <a:cxnLst/>
            <a:rect l="l" t="t" r="r" b="b"/>
            <a:pathLst>
              <a:path w="1008000" h="0">
                <a:moveTo>
                  <a:pt x="0" y="0"/>
                </a:moveTo>
                <a:lnTo>
                  <a:pt x="1008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Würfel Raster rechts"/>
          <p:cNvSpPr/>
          <p:nvPr/>
        </p:nvSpPr>
        <p:spPr>
          <a:xfrm>
            <a:off x="2196000" y="655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Würfel Raster rechts"/>
          <p:cNvSpPr/>
          <p:nvPr/>
        </p:nvSpPr>
        <p:spPr>
          <a:xfrm>
            <a:off x="2196000" y="907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Würfel Raster rechts"/>
          <p:cNvSpPr/>
          <p:nvPr/>
        </p:nvSpPr>
        <p:spPr>
          <a:xfrm>
            <a:off x="2196000" y="1159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Würfel Raster rechts"/>
          <p:cNvSpPr/>
          <p:nvPr/>
        </p:nvSpPr>
        <p:spPr>
          <a:xfrm>
            <a:off x="2196000" y="1411200"/>
            <a:ext cx="432000" cy="280800"/>
          </a:xfrm>
          <a:custGeom>
            <a:avLst/>
            <a:gdLst/>
            <a:ahLst/>
            <a:cxnLst/>
            <a:rect l="l" t="t" r="r" b="b"/>
            <a:pathLst>
              <a:path w="432000" h="280800">
                <a:moveTo>
                  <a:pt x="0" y="280800"/>
                </a:moveTo>
                <a:lnTo>
                  <a:pt x="4320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Würfel Raster rechts"/>
          <p:cNvSpPr/>
          <p:nvPr/>
        </p:nvSpPr>
        <p:spPr>
          <a:xfrm>
            <a:off x="2340000" y="590400"/>
            <a:ext cx="0" cy="1260000"/>
          </a:xfrm>
          <a:custGeom>
            <a:avLst/>
            <a:gdLst/>
            <a:ahLst/>
            <a:cxnLst/>
            <a:rect l="l" t="t" r="r" b="b"/>
            <a:pathLst>
              <a:path w="0" h="1260000">
                <a:moveTo>
                  <a:pt x="0" y="0"/>
                </a:moveTo>
                <a:lnTo>
                  <a:pt x="0" y="12600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Würfel Raster rechts"/>
          <p:cNvSpPr/>
          <p:nvPr/>
        </p:nvSpPr>
        <p:spPr>
          <a:xfrm>
            <a:off x="2484000" y="496800"/>
            <a:ext cx="0" cy="1260000"/>
          </a:xfrm>
          <a:custGeom>
            <a:avLst/>
            <a:gdLst/>
            <a:ahLst/>
            <a:cxnLst/>
            <a:rect l="l" t="t" r="r" b="b"/>
            <a:pathLst>
              <a:path w="0" h="1260000">
                <a:moveTo>
                  <a:pt x="0" y="0"/>
                </a:moveTo>
                <a:lnTo>
                  <a:pt x="0" y="12600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ürfel Umriss"/>
          <p:cNvSpPr/>
          <p:nvPr/>
        </p:nvSpPr>
        <p:spPr>
          <a:xfrm>
            <a:off x="1188000" y="403200"/>
            <a:ext cx="1440000" cy="1540800"/>
          </a:xfrm>
          <a:custGeom>
            <a:avLst/>
            <a:gdLst/>
            <a:ahLst/>
            <a:cxnLst/>
            <a:rect l="l" t="t" r="r" b="b"/>
            <a:pathLst>
              <a:path w="1440000" h="1540800">
                <a:moveTo>
                  <a:pt x="0" y="280800"/>
                </a:moveTo>
                <a:lnTo>
                  <a:pt x="432000" y="0"/>
                </a:lnTo>
                <a:lnTo>
                  <a:pt x="1440000" y="0"/>
                </a:lnTo>
                <a:lnTo>
                  <a:pt x="1440000" y="1260000"/>
                </a:lnTo>
                <a:lnTo>
                  <a:pt x="1008000" y="1540800"/>
                </a:lnTo>
                <a:lnTo>
                  <a:pt x="0" y="1540800"/>
                </a:lnTo>
                <a:close/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ürfel Kante oben"/>
          <p:cNvSpPr/>
          <p:nvPr/>
        </p:nvSpPr>
        <p:spPr>
          <a:xfrm>
            <a:off x="1188000" y="403200"/>
            <a:ext cx="1440000" cy="280800"/>
          </a:xfrm>
          <a:custGeom>
            <a:avLst/>
            <a:gdLst/>
            <a:ahLst/>
            <a:cxnLst/>
            <a:rect l="l" t="t" r="r" b="b"/>
            <a:pathLst>
              <a:path w="1440000" h="280800">
                <a:moveTo>
                  <a:pt x="0" y="280800"/>
                </a:moveTo>
                <a:lnTo>
                  <a:pt x="1008000" y="280800"/>
                </a:lnTo>
                <a:lnTo>
                  <a:pt x="1440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Würfel Kante vorn"/>
          <p:cNvSpPr/>
          <p:nvPr/>
        </p:nvSpPr>
        <p:spPr>
          <a:xfrm>
            <a:off x="2196000" y="684000"/>
            <a:ext cx="0" cy="1260000"/>
          </a:xfrm>
          <a:custGeom>
            <a:avLst/>
            <a:gdLst/>
            <a:ahLst/>
            <a:cxnLst/>
            <a:rect l="l" t="t" r="r" b="b"/>
            <a:pathLst>
              <a:path w="0" h="1260000">
                <a:moveTo>
                  <a:pt x="0" y="0"/>
                </a:moveTo>
                <a:lnTo>
                  <a:pt x="0" y="126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Kennzahlen"/>
          <p:cNvSpPr/>
          <p:nvPr/>
        </p:nvSpPr>
        <p:spPr>
          <a:xfrm>
            <a:off x="1339200" y="1224000"/>
            <a:ext cx="705600" cy="1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Kennzahlen</a:t>
            </a:r>
          </a:p>
        </p:txBody>
      </p:sp>
      <p:sp>
        <p:nvSpPr>
          <p:cNvPr id="27" name="Dimension Produkt"/>
          <p:cNvSpPr/>
          <p:nvPr/>
        </p:nvSpPr>
        <p:spPr>
          <a:xfrm>
            <a:off x="864000" y="684000"/>
            <a:ext cx="1332000" cy="0"/>
          </a:xfrm>
          <a:custGeom>
            <a:avLst/>
            <a:gdLst/>
            <a:ahLst/>
            <a:cxnLst/>
            <a:rect l="l" t="t" r="r" b="b"/>
            <a:pathLst>
              <a:path w="1332000" h="0">
                <a:moveTo>
                  <a:pt x="1332000" y="0"/>
                </a:moveTo>
                <a:lnTo>
                  <a:pt x="0" y="0"/>
                </a:lnTo>
              </a:path>
            </a:pathLst>
          </a:custGeom>
          <a:noFill/>
          <a:ln w="1587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Dimension Zeit"/>
          <p:cNvSpPr/>
          <p:nvPr/>
        </p:nvSpPr>
        <p:spPr>
          <a:xfrm>
            <a:off x="2196000" y="684000"/>
            <a:ext cx="0" cy="1548000"/>
          </a:xfrm>
          <a:custGeom>
            <a:avLst/>
            <a:gdLst/>
            <a:ahLst/>
            <a:cxnLst/>
            <a:rect l="l" t="t" r="r" b="b"/>
            <a:pathLst>
              <a:path w="0" h="1548000">
                <a:moveTo>
                  <a:pt x="0" y="0"/>
                </a:moveTo>
                <a:lnTo>
                  <a:pt x="0" y="1548000"/>
                </a:lnTo>
              </a:path>
            </a:pathLst>
          </a:custGeom>
          <a:noFill/>
          <a:ln w="1587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Dimension Region"/>
          <p:cNvSpPr/>
          <p:nvPr/>
        </p:nvSpPr>
        <p:spPr>
          <a:xfrm>
            <a:off x="2196000" y="248760"/>
            <a:ext cx="669600" cy="435240"/>
          </a:xfrm>
          <a:custGeom>
            <a:avLst/>
            <a:gdLst/>
            <a:ahLst/>
            <a:cxnLst/>
            <a:rect l="l" t="t" r="r" b="b"/>
            <a:pathLst>
              <a:path w="669600" h="435240">
                <a:moveTo>
                  <a:pt x="0" y="435240"/>
                </a:moveTo>
                <a:lnTo>
                  <a:pt x="669600" y="0"/>
                </a:lnTo>
              </a:path>
            </a:pathLst>
          </a:custGeom>
          <a:noFill/>
          <a:ln w="1587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Beschriftung Produkt"/>
          <p:cNvSpPr txBox="1"/>
          <p:nvPr/>
        </p:nvSpPr>
        <p:spPr>
          <a:xfrm>
            <a:off x="18000" y="342000"/>
            <a:ext cx="79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885"/>
              </a:lnSpc>
              <a:buNone/>
            </a:pPr>
            <a:r>
              <a:rPr lang="de-DE" sz="750" b="1" i="0">
                <a:solidFill>
                  <a:srgbClr val="1A1A1A"/>
                </a:solidFill>
                <a:latin typeface="Arial"/>
              </a:rPr>
              <a:t>Dimension</a:t>
            </a:r>
            <a:br>
              <a:rPr lang="de-DE" sz="75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50" b="1" i="0">
                <a:solidFill>
                  <a:srgbClr val="1A1A1A"/>
                </a:solidFill>
                <a:latin typeface="Arial"/>
              </a:rPr>
              <a:t>Produkt</a:t>
            </a:r>
          </a:p>
        </p:txBody>
      </p:sp>
      <p:sp>
        <p:nvSpPr>
          <p:cNvPr id="31" name="Beschriftung Region"/>
          <p:cNvSpPr txBox="1"/>
          <p:nvPr/>
        </p:nvSpPr>
        <p:spPr>
          <a:xfrm>
            <a:off x="2919600" y="122760"/>
            <a:ext cx="864000" cy="25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1A1A1A"/>
                </a:solidFill>
                <a:latin typeface="Arial"/>
              </a:rPr>
              <a:t>Dimension</a:t>
            </a:r>
            <a:br>
              <a:rPr lang="de-DE" sz="75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50" b="1" i="0">
                <a:solidFill>
                  <a:srgbClr val="1A1A1A"/>
                </a:solidFill>
                <a:latin typeface="Arial"/>
              </a:rPr>
              <a:t>Region</a:t>
            </a:r>
          </a:p>
        </p:txBody>
      </p:sp>
      <p:sp>
        <p:nvSpPr>
          <p:cNvPr id="32" name="Beschriftung Zeit"/>
          <p:cNvSpPr txBox="1"/>
          <p:nvPr/>
        </p:nvSpPr>
        <p:spPr>
          <a:xfrm>
            <a:off x="1764000" y="2253600"/>
            <a:ext cx="864000" cy="25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85"/>
              </a:lnSpc>
              <a:buNone/>
            </a:pPr>
            <a:r>
              <a:rPr lang="de-DE" sz="750" b="1" i="0">
                <a:solidFill>
                  <a:srgbClr val="1A1A1A"/>
                </a:solidFill>
                <a:latin typeface="Arial"/>
              </a:rPr>
              <a:t>Dimension</a:t>
            </a:r>
            <a:br>
              <a:rPr lang="de-DE" sz="75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50" b="1" i="0">
                <a:solidFill>
                  <a:srgbClr val="1A1A1A"/>
                </a:solidFill>
                <a:latin typeface="Arial"/>
              </a:rPr>
              <a:t>Zeit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