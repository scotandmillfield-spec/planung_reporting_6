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24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ürfel oben"/>
          <p:cNvSpPr/>
          <p:nvPr/>
        </p:nvSpPr>
        <p:spPr>
          <a:xfrm>
            <a:off x="1602000" y="313200"/>
            <a:ext cx="1440000" cy="280800"/>
          </a:xfrm>
          <a:custGeom>
            <a:avLst/>
            <a:gdLst/>
            <a:ahLst/>
            <a:cxnLst/>
            <a:rect l="l" t="t" r="r" b="b"/>
            <a:pathLst>
              <a:path w="1440000" h="280800">
                <a:moveTo>
                  <a:pt x="0" y="280800"/>
                </a:moveTo>
                <a:lnTo>
                  <a:pt x="1008000" y="280800"/>
                </a:lnTo>
                <a:lnTo>
                  <a:pt x="1440000" y="0"/>
                </a:lnTo>
                <a:lnTo>
                  <a:pt x="432000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Würfel rechts"/>
          <p:cNvSpPr/>
          <p:nvPr/>
        </p:nvSpPr>
        <p:spPr>
          <a:xfrm>
            <a:off x="2610000" y="313200"/>
            <a:ext cx="432000" cy="1540800"/>
          </a:xfrm>
          <a:custGeom>
            <a:avLst/>
            <a:gdLst/>
            <a:ahLst/>
            <a:cxnLst/>
            <a:rect l="l" t="t" r="r" b="b"/>
            <a:pathLst>
              <a:path w="432000" h="1540800">
                <a:moveTo>
                  <a:pt x="0" y="280800"/>
                </a:moveTo>
                <a:lnTo>
                  <a:pt x="432000" y="0"/>
                </a:lnTo>
                <a:lnTo>
                  <a:pt x="432000" y="1260000"/>
                </a:lnTo>
                <a:lnTo>
                  <a:pt x="0" y="1540800"/>
                </a:lnTo>
                <a:close/>
              </a:path>
            </a:pathLst>
          </a:custGeom>
          <a:solidFill>
            <a:srgbClr val="CFCF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ürfel vorn"/>
          <p:cNvSpPr/>
          <p:nvPr/>
        </p:nvSpPr>
        <p:spPr>
          <a:xfrm>
            <a:off x="1602000" y="594000"/>
            <a:ext cx="1008000" cy="1260000"/>
          </a:xfrm>
          <a:custGeom>
            <a:avLst/>
            <a:gdLst/>
            <a:ahLst/>
            <a:cxnLst/>
            <a:rect l="l" t="t" r="r" b="b"/>
            <a:pathLst>
              <a:path w="1008000" h="1260000">
                <a:moveTo>
                  <a:pt x="0" y="0"/>
                </a:moveTo>
                <a:lnTo>
                  <a:pt x="1008000" y="0"/>
                </a:lnTo>
                <a:lnTo>
                  <a:pt x="1008000" y="1260000"/>
                </a:lnTo>
                <a:lnTo>
                  <a:pt x="0" y="126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Würfel Raster vorn"/>
          <p:cNvSpPr/>
          <p:nvPr/>
        </p:nvSpPr>
        <p:spPr>
          <a:xfrm>
            <a:off x="1854000" y="5940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Würfel Raster vorn"/>
          <p:cNvSpPr/>
          <p:nvPr/>
        </p:nvSpPr>
        <p:spPr>
          <a:xfrm>
            <a:off x="2106000" y="5940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Würfel Raster vorn"/>
          <p:cNvSpPr/>
          <p:nvPr/>
        </p:nvSpPr>
        <p:spPr>
          <a:xfrm>
            <a:off x="2358000" y="5940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Würfel Raster vorn"/>
          <p:cNvSpPr/>
          <p:nvPr/>
        </p:nvSpPr>
        <p:spPr>
          <a:xfrm>
            <a:off x="1602000" y="8460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Würfel Raster vorn"/>
          <p:cNvSpPr/>
          <p:nvPr/>
        </p:nvSpPr>
        <p:spPr>
          <a:xfrm>
            <a:off x="1602000" y="10980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Würfel Raster vorn"/>
          <p:cNvSpPr/>
          <p:nvPr/>
        </p:nvSpPr>
        <p:spPr>
          <a:xfrm>
            <a:off x="1602000" y="13500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Würfel Raster vorn"/>
          <p:cNvSpPr/>
          <p:nvPr/>
        </p:nvSpPr>
        <p:spPr>
          <a:xfrm>
            <a:off x="1602000" y="16020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Würfel Raster oben"/>
          <p:cNvSpPr/>
          <p:nvPr/>
        </p:nvSpPr>
        <p:spPr>
          <a:xfrm>
            <a:off x="1854000" y="313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Würfel Raster oben"/>
          <p:cNvSpPr/>
          <p:nvPr/>
        </p:nvSpPr>
        <p:spPr>
          <a:xfrm>
            <a:off x="2106000" y="313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Würfel Raster oben"/>
          <p:cNvSpPr/>
          <p:nvPr/>
        </p:nvSpPr>
        <p:spPr>
          <a:xfrm>
            <a:off x="2358000" y="313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Würfel Raster oben"/>
          <p:cNvSpPr/>
          <p:nvPr/>
        </p:nvSpPr>
        <p:spPr>
          <a:xfrm>
            <a:off x="1746000" y="5004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Würfel Raster oben"/>
          <p:cNvSpPr/>
          <p:nvPr/>
        </p:nvSpPr>
        <p:spPr>
          <a:xfrm>
            <a:off x="1890000" y="406800"/>
            <a:ext cx="1008000" cy="0"/>
          </a:xfrm>
          <a:custGeom>
            <a:avLst/>
            <a:gdLst/>
            <a:ahLst/>
            <a:cxnLst/>
            <a:rect l="l" t="t" r="r" b="b"/>
            <a:pathLst>
              <a:path w="1008000" h="0">
                <a:moveTo>
                  <a:pt x="0" y="0"/>
                </a:moveTo>
                <a:lnTo>
                  <a:pt x="1008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Würfel Raster rechts"/>
          <p:cNvSpPr/>
          <p:nvPr/>
        </p:nvSpPr>
        <p:spPr>
          <a:xfrm>
            <a:off x="2610000" y="565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Würfel Raster rechts"/>
          <p:cNvSpPr/>
          <p:nvPr/>
        </p:nvSpPr>
        <p:spPr>
          <a:xfrm>
            <a:off x="2610000" y="817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Würfel Raster rechts"/>
          <p:cNvSpPr/>
          <p:nvPr/>
        </p:nvSpPr>
        <p:spPr>
          <a:xfrm>
            <a:off x="2610000" y="1069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ürfel Raster rechts"/>
          <p:cNvSpPr/>
          <p:nvPr/>
        </p:nvSpPr>
        <p:spPr>
          <a:xfrm>
            <a:off x="2610000" y="1321200"/>
            <a:ext cx="432000" cy="280800"/>
          </a:xfrm>
          <a:custGeom>
            <a:avLst/>
            <a:gdLst/>
            <a:ahLst/>
            <a:cxnLst/>
            <a:rect l="l" t="t" r="r" b="b"/>
            <a:pathLst>
              <a:path w="432000" h="280800">
                <a:moveTo>
                  <a:pt x="0" y="280800"/>
                </a:moveTo>
                <a:lnTo>
                  <a:pt x="432000" y="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Würfel Raster rechts"/>
          <p:cNvSpPr/>
          <p:nvPr/>
        </p:nvSpPr>
        <p:spPr>
          <a:xfrm>
            <a:off x="2754000" y="5004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Würfel Raster rechts"/>
          <p:cNvSpPr/>
          <p:nvPr/>
        </p:nvSpPr>
        <p:spPr>
          <a:xfrm>
            <a:off x="2898000" y="4068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Würfel Umriss"/>
          <p:cNvSpPr/>
          <p:nvPr/>
        </p:nvSpPr>
        <p:spPr>
          <a:xfrm>
            <a:off x="1602000" y="313200"/>
            <a:ext cx="1440000" cy="1540800"/>
          </a:xfrm>
          <a:custGeom>
            <a:avLst/>
            <a:gdLst/>
            <a:ahLst/>
            <a:cxnLst/>
            <a:rect l="l" t="t" r="r" b="b"/>
            <a:pathLst>
              <a:path w="1440000" h="1540800">
                <a:moveTo>
                  <a:pt x="0" y="280800"/>
                </a:moveTo>
                <a:lnTo>
                  <a:pt x="432000" y="0"/>
                </a:lnTo>
                <a:lnTo>
                  <a:pt x="1440000" y="0"/>
                </a:lnTo>
                <a:lnTo>
                  <a:pt x="1440000" y="1260000"/>
                </a:lnTo>
                <a:lnTo>
                  <a:pt x="1008000" y="1540800"/>
                </a:lnTo>
                <a:lnTo>
                  <a:pt x="0" y="1540800"/>
                </a:lnTo>
                <a:close/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Würfel Kante oben"/>
          <p:cNvSpPr/>
          <p:nvPr/>
        </p:nvSpPr>
        <p:spPr>
          <a:xfrm>
            <a:off x="1602000" y="313200"/>
            <a:ext cx="1440000" cy="280800"/>
          </a:xfrm>
          <a:custGeom>
            <a:avLst/>
            <a:gdLst/>
            <a:ahLst/>
            <a:cxnLst/>
            <a:rect l="l" t="t" r="r" b="b"/>
            <a:pathLst>
              <a:path w="1440000" h="280800">
                <a:moveTo>
                  <a:pt x="0" y="280800"/>
                </a:moveTo>
                <a:lnTo>
                  <a:pt x="1008000" y="280800"/>
                </a:lnTo>
                <a:lnTo>
                  <a:pt x="1440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Würfel Kante vorn"/>
          <p:cNvSpPr/>
          <p:nvPr/>
        </p:nvSpPr>
        <p:spPr>
          <a:xfrm>
            <a:off x="2610000" y="594000"/>
            <a:ext cx="0" cy="1260000"/>
          </a:xfrm>
          <a:custGeom>
            <a:avLst/>
            <a:gdLst/>
            <a:ahLst/>
            <a:cxnLst/>
            <a:rect l="l" t="t" r="r" b="b"/>
            <a:pathLst>
              <a:path w="0" h="1260000">
                <a:moveTo>
                  <a:pt x="0" y="0"/>
                </a:moveTo>
                <a:lnTo>
                  <a:pt x="0" y="1260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Kennzahlen"/>
          <p:cNvSpPr/>
          <p:nvPr/>
        </p:nvSpPr>
        <p:spPr>
          <a:xfrm>
            <a:off x="1753200" y="1141857"/>
            <a:ext cx="705600" cy="1642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lIns="7200" rIns="7200" tIns="3600" bIns="3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Kennzahlen</a:t>
            </a:r>
          </a:p>
        </p:txBody>
      </p:sp>
      <p:sp>
        <p:nvSpPr>
          <p:cNvPr id="27" name="Dimension Produkt"/>
          <p:cNvSpPr/>
          <p:nvPr/>
        </p:nvSpPr>
        <p:spPr>
          <a:xfrm>
            <a:off x="1350000" y="594000"/>
            <a:ext cx="1260000" cy="0"/>
          </a:xfrm>
          <a:custGeom>
            <a:avLst/>
            <a:gdLst/>
            <a:ahLst/>
            <a:cxnLst/>
            <a:rect l="l" t="t" r="r" b="b"/>
            <a:pathLst>
              <a:path w="1260000" h="0">
                <a:moveTo>
                  <a:pt x="1260000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Dimension Region"/>
          <p:cNvSpPr/>
          <p:nvPr/>
        </p:nvSpPr>
        <p:spPr>
          <a:xfrm>
            <a:off x="2610000" y="158760"/>
            <a:ext cx="669600" cy="435240"/>
          </a:xfrm>
          <a:custGeom>
            <a:avLst/>
            <a:gdLst/>
            <a:ahLst/>
            <a:cxnLst/>
            <a:rect l="l" t="t" r="r" b="b"/>
            <a:pathLst>
              <a:path w="669600" h="435240">
                <a:moveTo>
                  <a:pt x="0" y="435240"/>
                </a:moveTo>
                <a:lnTo>
                  <a:pt x="669600" y="0"/>
                </a:lnTo>
              </a:path>
            </a:pathLst>
          </a:custGeom>
          <a:noFill/>
          <a:ln w="1587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Dimension Zeit"/>
          <p:cNvSpPr/>
          <p:nvPr/>
        </p:nvSpPr>
        <p:spPr>
          <a:xfrm>
            <a:off x="2610000" y="594000"/>
            <a:ext cx="0" cy="1548000"/>
          </a:xfrm>
          <a:custGeom>
            <a:avLst/>
            <a:gdLst/>
            <a:ahLst/>
            <a:cxnLst/>
            <a:rect l="l" t="t" r="r" b="b"/>
            <a:pathLst>
              <a:path w="0" h="1548000">
                <a:moveTo>
                  <a:pt x="0" y="0"/>
                </a:moveTo>
                <a:lnTo>
                  <a:pt x="0" y="1548000"/>
                </a:lnTo>
              </a:path>
            </a:pathLst>
          </a:custGeom>
          <a:noFill/>
          <a:ln w="1587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eschriftung Produkt"/>
          <p:cNvSpPr txBox="1"/>
          <p:nvPr/>
        </p:nvSpPr>
        <p:spPr>
          <a:xfrm>
            <a:off x="1035898" y="630000"/>
            <a:ext cx="530102" cy="2430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5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50" b="1" i="0">
                <a:solidFill>
                  <a:srgbClr val="1A1A1A"/>
                </a:solidFill>
                <a:latin typeface="Arial"/>
              </a:rPr>
              <a:t>Produkt</a:t>
            </a:r>
          </a:p>
        </p:txBody>
      </p:sp>
      <p:sp>
        <p:nvSpPr>
          <p:cNvPr id="31" name="Beschriftung Region"/>
          <p:cNvSpPr txBox="1"/>
          <p:nvPr/>
        </p:nvSpPr>
        <p:spPr>
          <a:xfrm>
            <a:off x="3322800" y="37253"/>
            <a:ext cx="530102" cy="24301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5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50" b="1" i="0">
                <a:solidFill>
                  <a:srgbClr val="1A1A1A"/>
                </a:solidFill>
                <a:latin typeface="Arial"/>
              </a:rPr>
              <a:t>Region</a:t>
            </a:r>
          </a:p>
        </p:txBody>
      </p:sp>
      <p:sp>
        <p:nvSpPr>
          <p:cNvPr id="32" name="Beschriftung Zeit"/>
          <p:cNvSpPr txBox="1"/>
          <p:nvPr/>
        </p:nvSpPr>
        <p:spPr>
          <a:xfrm>
            <a:off x="2344949" y="2163600"/>
            <a:ext cx="530102" cy="2430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1" i="0">
                <a:solidFill>
                  <a:srgbClr val="1A1A1A"/>
                </a:solidFill>
                <a:latin typeface="Arial"/>
              </a:rPr>
              <a:t>Dimension</a:t>
            </a:r>
            <a:br>
              <a:rPr lang="de-DE" sz="75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50" b="1" i="0">
                <a:solidFill>
                  <a:srgbClr val="1A1A1A"/>
                </a:solidFill>
                <a:latin typeface="Arial"/>
              </a:rPr>
              <a:t>Zeit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