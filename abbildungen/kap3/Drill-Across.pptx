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580000" cy="3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Region oben"/>
          <p:cNvSpPr/>
          <p:nvPr/>
        </p:nvSpPr>
        <p:spPr>
          <a:xfrm>
            <a:off x="540000" y="25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  <a:lnTo>
                  <a:pt x="329143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Region rechts"/>
          <p:cNvSpPr/>
          <p:nvPr/>
        </p:nvSpPr>
        <p:spPr>
          <a:xfrm>
            <a:off x="1116000" y="254057"/>
            <a:ext cx="329143" cy="933943"/>
          </a:xfrm>
          <a:custGeom>
            <a:avLst/>
            <a:gdLst/>
            <a:ahLst/>
            <a:cxnLst/>
            <a:rect l="l" t="t" r="r" b="b"/>
            <a:pathLst>
              <a:path w="329143" h="933943">
                <a:moveTo>
                  <a:pt x="0" y="213943"/>
                </a:moveTo>
                <a:lnTo>
                  <a:pt x="329143" y="0"/>
                </a:lnTo>
                <a:lnTo>
                  <a:pt x="329143" y="720000"/>
                </a:lnTo>
                <a:lnTo>
                  <a:pt x="0" y="933943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Region vorn"/>
          <p:cNvSpPr/>
          <p:nvPr/>
        </p:nvSpPr>
        <p:spPr>
          <a:xfrm>
            <a:off x="540000" y="468000"/>
            <a:ext cx="576000" cy="720000"/>
          </a:xfrm>
          <a:custGeom>
            <a:avLst/>
            <a:gdLst/>
            <a:ahLst/>
            <a:cxnLst/>
            <a:rect l="l" t="t" r="r" b="b"/>
            <a:pathLst>
              <a:path w="576000" h="720000">
                <a:moveTo>
                  <a:pt x="0" y="0"/>
                </a:moveTo>
                <a:lnTo>
                  <a:pt x="576000" y="0"/>
                </a:lnTo>
                <a:lnTo>
                  <a:pt x="576000" y="720000"/>
                </a:lnTo>
                <a:lnTo>
                  <a:pt x="0" y="7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Region Raster vorn"/>
          <p:cNvSpPr/>
          <p:nvPr/>
        </p:nvSpPr>
        <p:spPr>
          <a:xfrm>
            <a:off x="684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Region Raster vorn"/>
          <p:cNvSpPr/>
          <p:nvPr/>
        </p:nvSpPr>
        <p:spPr>
          <a:xfrm>
            <a:off x="828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Region Raster vorn"/>
          <p:cNvSpPr/>
          <p:nvPr/>
        </p:nvSpPr>
        <p:spPr>
          <a:xfrm>
            <a:off x="972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Region Raster vorn"/>
          <p:cNvSpPr/>
          <p:nvPr/>
        </p:nvSpPr>
        <p:spPr>
          <a:xfrm>
            <a:off x="540000" y="612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Region Raster vorn"/>
          <p:cNvSpPr/>
          <p:nvPr/>
        </p:nvSpPr>
        <p:spPr>
          <a:xfrm>
            <a:off x="540000" y="756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Region Raster vorn"/>
          <p:cNvSpPr/>
          <p:nvPr/>
        </p:nvSpPr>
        <p:spPr>
          <a:xfrm>
            <a:off x="540000" y="900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Region Raster vorn"/>
          <p:cNvSpPr/>
          <p:nvPr/>
        </p:nvSpPr>
        <p:spPr>
          <a:xfrm>
            <a:off x="540000" y="1044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Region Raster oben"/>
          <p:cNvSpPr/>
          <p:nvPr/>
        </p:nvSpPr>
        <p:spPr>
          <a:xfrm>
            <a:off x="684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Region Raster oben"/>
          <p:cNvSpPr/>
          <p:nvPr/>
        </p:nvSpPr>
        <p:spPr>
          <a:xfrm>
            <a:off x="828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Region Raster oben"/>
          <p:cNvSpPr/>
          <p:nvPr/>
        </p:nvSpPr>
        <p:spPr>
          <a:xfrm>
            <a:off x="972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Region Raster oben"/>
          <p:cNvSpPr/>
          <p:nvPr/>
        </p:nvSpPr>
        <p:spPr>
          <a:xfrm>
            <a:off x="622286" y="414514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Region Raster oben"/>
          <p:cNvSpPr/>
          <p:nvPr/>
        </p:nvSpPr>
        <p:spPr>
          <a:xfrm>
            <a:off x="704571" y="361029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Region Raster oben"/>
          <p:cNvSpPr/>
          <p:nvPr/>
        </p:nvSpPr>
        <p:spPr>
          <a:xfrm>
            <a:off x="786857" y="307543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Region Raster rechts"/>
          <p:cNvSpPr/>
          <p:nvPr/>
        </p:nvSpPr>
        <p:spPr>
          <a:xfrm>
            <a:off x="1116000" y="398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Region Raster rechts"/>
          <p:cNvSpPr/>
          <p:nvPr/>
        </p:nvSpPr>
        <p:spPr>
          <a:xfrm>
            <a:off x="1116000" y="54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Region Raster rechts"/>
          <p:cNvSpPr/>
          <p:nvPr/>
        </p:nvSpPr>
        <p:spPr>
          <a:xfrm>
            <a:off x="1116000" y="686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Region Raster rechts"/>
          <p:cNvSpPr/>
          <p:nvPr/>
        </p:nvSpPr>
        <p:spPr>
          <a:xfrm>
            <a:off x="1116000" y="830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Region Raster rechts"/>
          <p:cNvSpPr/>
          <p:nvPr/>
        </p:nvSpPr>
        <p:spPr>
          <a:xfrm>
            <a:off x="1198286" y="414514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Region Raster rechts"/>
          <p:cNvSpPr/>
          <p:nvPr/>
        </p:nvSpPr>
        <p:spPr>
          <a:xfrm>
            <a:off x="1280571" y="361029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Region Raster rechts"/>
          <p:cNvSpPr/>
          <p:nvPr/>
        </p:nvSpPr>
        <p:spPr>
          <a:xfrm>
            <a:off x="1362857" y="307543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Region Auswahl vorn"/>
          <p:cNvSpPr/>
          <p:nvPr/>
        </p:nvSpPr>
        <p:spPr>
          <a:xfrm>
            <a:off x="828000" y="46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ürfel Region Auswahl vorn"/>
          <p:cNvSpPr/>
          <p:nvPr/>
        </p:nvSpPr>
        <p:spPr>
          <a:xfrm>
            <a:off x="828000" y="61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ürfel Region Auswahl vorn"/>
          <p:cNvSpPr/>
          <p:nvPr/>
        </p:nvSpPr>
        <p:spPr>
          <a:xfrm>
            <a:off x="828000" y="75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Würfel Region Auswahl vorn"/>
          <p:cNvSpPr/>
          <p:nvPr/>
        </p:nvSpPr>
        <p:spPr>
          <a:xfrm>
            <a:off x="972000" y="46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ürfel Region Auswahl vorn"/>
          <p:cNvSpPr/>
          <p:nvPr/>
        </p:nvSpPr>
        <p:spPr>
          <a:xfrm>
            <a:off x="972000" y="61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Würfel Region Auswahl vorn"/>
          <p:cNvSpPr/>
          <p:nvPr/>
        </p:nvSpPr>
        <p:spPr>
          <a:xfrm>
            <a:off x="972000" y="75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ürfel Region Auswahl oben"/>
          <p:cNvSpPr/>
          <p:nvPr/>
        </p:nvSpPr>
        <p:spPr>
          <a:xfrm>
            <a:off x="828000" y="41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Würfel Region Auswahl oben"/>
          <p:cNvSpPr/>
          <p:nvPr/>
        </p:nvSpPr>
        <p:spPr>
          <a:xfrm>
            <a:off x="910286" y="36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Würfel Region Auswahl oben"/>
          <p:cNvSpPr/>
          <p:nvPr/>
        </p:nvSpPr>
        <p:spPr>
          <a:xfrm>
            <a:off x="992571" y="30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Würfel Region Auswahl oben"/>
          <p:cNvSpPr/>
          <p:nvPr/>
        </p:nvSpPr>
        <p:spPr>
          <a:xfrm>
            <a:off x="1074857" y="25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Würfel Region Auswahl oben"/>
          <p:cNvSpPr/>
          <p:nvPr/>
        </p:nvSpPr>
        <p:spPr>
          <a:xfrm>
            <a:off x="972000" y="41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Würfel Region Auswahl oben"/>
          <p:cNvSpPr/>
          <p:nvPr/>
        </p:nvSpPr>
        <p:spPr>
          <a:xfrm>
            <a:off x="1054286" y="36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Würfel Region Auswahl oben"/>
          <p:cNvSpPr/>
          <p:nvPr/>
        </p:nvSpPr>
        <p:spPr>
          <a:xfrm>
            <a:off x="1136571" y="30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Würfel Region Auswahl oben"/>
          <p:cNvSpPr/>
          <p:nvPr/>
        </p:nvSpPr>
        <p:spPr>
          <a:xfrm>
            <a:off x="1218857" y="25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Würfel Region Auswahl rechts"/>
          <p:cNvSpPr/>
          <p:nvPr/>
        </p:nvSpPr>
        <p:spPr>
          <a:xfrm>
            <a:off x="1116000" y="414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Würfel Region Auswahl rechts"/>
          <p:cNvSpPr/>
          <p:nvPr/>
        </p:nvSpPr>
        <p:spPr>
          <a:xfrm>
            <a:off x="1198286" y="361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Würfel Region Auswahl rechts"/>
          <p:cNvSpPr/>
          <p:nvPr/>
        </p:nvSpPr>
        <p:spPr>
          <a:xfrm>
            <a:off x="1280571" y="307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Würfel Region Auswahl rechts"/>
          <p:cNvSpPr/>
          <p:nvPr/>
        </p:nvSpPr>
        <p:spPr>
          <a:xfrm>
            <a:off x="1362857" y="254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Würfel Region Auswahl rechts"/>
          <p:cNvSpPr/>
          <p:nvPr/>
        </p:nvSpPr>
        <p:spPr>
          <a:xfrm>
            <a:off x="1116000" y="558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Würfel Region Auswahl rechts"/>
          <p:cNvSpPr/>
          <p:nvPr/>
        </p:nvSpPr>
        <p:spPr>
          <a:xfrm>
            <a:off x="1198286" y="505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Würfel Region Auswahl rechts"/>
          <p:cNvSpPr/>
          <p:nvPr/>
        </p:nvSpPr>
        <p:spPr>
          <a:xfrm>
            <a:off x="1280571" y="451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Würfel Region Auswahl rechts"/>
          <p:cNvSpPr/>
          <p:nvPr/>
        </p:nvSpPr>
        <p:spPr>
          <a:xfrm>
            <a:off x="1362857" y="398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Würfel Region Auswahl rechts"/>
          <p:cNvSpPr/>
          <p:nvPr/>
        </p:nvSpPr>
        <p:spPr>
          <a:xfrm>
            <a:off x="1116000" y="702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Würfel Region Auswahl rechts"/>
          <p:cNvSpPr/>
          <p:nvPr/>
        </p:nvSpPr>
        <p:spPr>
          <a:xfrm>
            <a:off x="1198286" y="649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Würfel Region Auswahl rechts"/>
          <p:cNvSpPr/>
          <p:nvPr/>
        </p:nvSpPr>
        <p:spPr>
          <a:xfrm>
            <a:off x="1280571" y="595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Würfel Region Auswahl rechts"/>
          <p:cNvSpPr/>
          <p:nvPr/>
        </p:nvSpPr>
        <p:spPr>
          <a:xfrm>
            <a:off x="1362857" y="542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Würfel Region Umriss"/>
          <p:cNvSpPr/>
          <p:nvPr/>
        </p:nvSpPr>
        <p:spPr>
          <a:xfrm>
            <a:off x="540000" y="254057"/>
            <a:ext cx="905143" cy="933943"/>
          </a:xfrm>
          <a:custGeom>
            <a:avLst/>
            <a:gdLst/>
            <a:ahLst/>
            <a:cxnLst/>
            <a:rect l="l" t="t" r="r" b="b"/>
            <a:pathLst>
              <a:path w="905143" h="933943">
                <a:moveTo>
                  <a:pt x="0" y="213943"/>
                </a:moveTo>
                <a:lnTo>
                  <a:pt x="329143" y="0"/>
                </a:lnTo>
                <a:lnTo>
                  <a:pt x="905143" y="0"/>
                </a:lnTo>
                <a:lnTo>
                  <a:pt x="905143" y="720000"/>
                </a:lnTo>
                <a:lnTo>
                  <a:pt x="576000" y="933943"/>
                </a:lnTo>
                <a:lnTo>
                  <a:pt x="0" y="933943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Würfel Region Kante oben"/>
          <p:cNvSpPr/>
          <p:nvPr/>
        </p:nvSpPr>
        <p:spPr>
          <a:xfrm>
            <a:off x="540000" y="25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Würfel Region Kante vorn"/>
          <p:cNvSpPr/>
          <p:nvPr/>
        </p:nvSpPr>
        <p:spPr>
          <a:xfrm>
            <a:off x="1116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Würfel Region Kennzahlen"/>
          <p:cNvSpPr/>
          <p:nvPr/>
        </p:nvSpPr>
        <p:spPr>
          <a:xfrm>
            <a:off x="626400" y="922913"/>
            <a:ext cx="403200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55" name="Dimension Region"/>
          <p:cNvSpPr/>
          <p:nvPr/>
        </p:nvSpPr>
        <p:spPr>
          <a:xfrm>
            <a:off x="396000" y="468000"/>
            <a:ext cx="720000" cy="0"/>
          </a:xfrm>
          <a:custGeom>
            <a:avLst/>
            <a:gdLst/>
            <a:ahLst/>
            <a:cxnLst/>
            <a:rect l="l" t="t" r="r" b="b"/>
            <a:pathLst>
              <a:path w="720000" h="0">
                <a:moveTo>
                  <a:pt x="720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Dimension Produkt"/>
          <p:cNvSpPr/>
          <p:nvPr/>
        </p:nvSpPr>
        <p:spPr>
          <a:xfrm>
            <a:off x="1116000" y="179177"/>
            <a:ext cx="444343" cy="288823"/>
          </a:xfrm>
          <a:custGeom>
            <a:avLst/>
            <a:gdLst/>
            <a:ahLst/>
            <a:cxnLst/>
            <a:rect l="l" t="t" r="r" b="b"/>
            <a:pathLst>
              <a:path w="444343" h="288823">
                <a:moveTo>
                  <a:pt x="0" y="288823"/>
                </a:moveTo>
                <a:lnTo>
                  <a:pt x="444343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Dimension Zeit"/>
          <p:cNvSpPr/>
          <p:nvPr/>
        </p:nvSpPr>
        <p:spPr>
          <a:xfrm>
            <a:off x="1116000" y="468000"/>
            <a:ext cx="0" cy="900000"/>
          </a:xfrm>
          <a:custGeom>
            <a:avLst/>
            <a:gdLst/>
            <a:ahLst/>
            <a:cxnLst/>
            <a:rect l="l" t="t" r="r" b="b"/>
            <a:pathLst>
              <a:path w="0" h="900000">
                <a:moveTo>
                  <a:pt x="0" y="0"/>
                </a:moveTo>
                <a:lnTo>
                  <a:pt x="0" y="900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eschriftung Region"/>
          <p:cNvSpPr txBox="1"/>
          <p:nvPr/>
        </p:nvSpPr>
        <p:spPr>
          <a:xfrm>
            <a:off x="6358" y="504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59" name="Beschriftung Produkt"/>
          <p:cNvSpPr txBox="1"/>
          <p:nvPr/>
        </p:nvSpPr>
        <p:spPr>
          <a:xfrm>
            <a:off x="1603543" y="6529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60" name="Beschriftung Zeit"/>
          <p:cNvSpPr txBox="1"/>
          <p:nvPr/>
        </p:nvSpPr>
        <p:spPr>
          <a:xfrm>
            <a:off x="867179" y="1389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61" name="Würfel Kunde oben"/>
          <p:cNvSpPr/>
          <p:nvPr/>
        </p:nvSpPr>
        <p:spPr>
          <a:xfrm>
            <a:off x="540000" y="1892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  <a:lnTo>
                  <a:pt x="329143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Würfel Kunde rechts"/>
          <p:cNvSpPr/>
          <p:nvPr/>
        </p:nvSpPr>
        <p:spPr>
          <a:xfrm>
            <a:off x="1116000" y="1892057"/>
            <a:ext cx="329143" cy="933943"/>
          </a:xfrm>
          <a:custGeom>
            <a:avLst/>
            <a:gdLst/>
            <a:ahLst/>
            <a:cxnLst/>
            <a:rect l="l" t="t" r="r" b="b"/>
            <a:pathLst>
              <a:path w="329143" h="933943">
                <a:moveTo>
                  <a:pt x="0" y="213943"/>
                </a:moveTo>
                <a:lnTo>
                  <a:pt x="329143" y="0"/>
                </a:lnTo>
                <a:lnTo>
                  <a:pt x="329143" y="720000"/>
                </a:lnTo>
                <a:lnTo>
                  <a:pt x="0" y="933943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Würfel Kunde vorn"/>
          <p:cNvSpPr/>
          <p:nvPr/>
        </p:nvSpPr>
        <p:spPr>
          <a:xfrm>
            <a:off x="540000" y="2106000"/>
            <a:ext cx="576000" cy="720000"/>
          </a:xfrm>
          <a:custGeom>
            <a:avLst/>
            <a:gdLst/>
            <a:ahLst/>
            <a:cxnLst/>
            <a:rect l="l" t="t" r="r" b="b"/>
            <a:pathLst>
              <a:path w="576000" h="720000">
                <a:moveTo>
                  <a:pt x="0" y="0"/>
                </a:moveTo>
                <a:lnTo>
                  <a:pt x="576000" y="0"/>
                </a:lnTo>
                <a:lnTo>
                  <a:pt x="576000" y="720000"/>
                </a:lnTo>
                <a:lnTo>
                  <a:pt x="0" y="7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Würfel Kunde Raster vorn"/>
          <p:cNvSpPr/>
          <p:nvPr/>
        </p:nvSpPr>
        <p:spPr>
          <a:xfrm>
            <a:off x="684000" y="2106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Würfel Kunde Raster vorn"/>
          <p:cNvSpPr/>
          <p:nvPr/>
        </p:nvSpPr>
        <p:spPr>
          <a:xfrm>
            <a:off x="828000" y="2106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Würfel Kunde Raster vorn"/>
          <p:cNvSpPr/>
          <p:nvPr/>
        </p:nvSpPr>
        <p:spPr>
          <a:xfrm>
            <a:off x="972000" y="2106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Würfel Kunde Raster vorn"/>
          <p:cNvSpPr/>
          <p:nvPr/>
        </p:nvSpPr>
        <p:spPr>
          <a:xfrm>
            <a:off x="540000" y="2250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Würfel Kunde Raster vorn"/>
          <p:cNvSpPr/>
          <p:nvPr/>
        </p:nvSpPr>
        <p:spPr>
          <a:xfrm>
            <a:off x="540000" y="2394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Würfel Kunde Raster vorn"/>
          <p:cNvSpPr/>
          <p:nvPr/>
        </p:nvSpPr>
        <p:spPr>
          <a:xfrm>
            <a:off x="540000" y="2538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Würfel Kunde Raster vorn"/>
          <p:cNvSpPr/>
          <p:nvPr/>
        </p:nvSpPr>
        <p:spPr>
          <a:xfrm>
            <a:off x="540000" y="2682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Würfel Kunde Raster oben"/>
          <p:cNvSpPr/>
          <p:nvPr/>
        </p:nvSpPr>
        <p:spPr>
          <a:xfrm>
            <a:off x="684000" y="189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Würfel Kunde Raster oben"/>
          <p:cNvSpPr/>
          <p:nvPr/>
        </p:nvSpPr>
        <p:spPr>
          <a:xfrm>
            <a:off x="828000" y="189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Würfel Kunde Raster oben"/>
          <p:cNvSpPr/>
          <p:nvPr/>
        </p:nvSpPr>
        <p:spPr>
          <a:xfrm>
            <a:off x="972000" y="189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Würfel Kunde Raster oben"/>
          <p:cNvSpPr/>
          <p:nvPr/>
        </p:nvSpPr>
        <p:spPr>
          <a:xfrm>
            <a:off x="622286" y="2052514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Würfel Kunde Raster oben"/>
          <p:cNvSpPr/>
          <p:nvPr/>
        </p:nvSpPr>
        <p:spPr>
          <a:xfrm>
            <a:off x="704571" y="1999029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Würfel Kunde Raster oben"/>
          <p:cNvSpPr/>
          <p:nvPr/>
        </p:nvSpPr>
        <p:spPr>
          <a:xfrm>
            <a:off x="786857" y="1945543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Würfel Kunde Raster rechts"/>
          <p:cNvSpPr/>
          <p:nvPr/>
        </p:nvSpPr>
        <p:spPr>
          <a:xfrm>
            <a:off x="1116000" y="2036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Würfel Kunde Raster rechts"/>
          <p:cNvSpPr/>
          <p:nvPr/>
        </p:nvSpPr>
        <p:spPr>
          <a:xfrm>
            <a:off x="1116000" y="2180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Würfel Kunde Raster rechts"/>
          <p:cNvSpPr/>
          <p:nvPr/>
        </p:nvSpPr>
        <p:spPr>
          <a:xfrm>
            <a:off x="1116000" y="232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Würfel Kunde Raster rechts"/>
          <p:cNvSpPr/>
          <p:nvPr/>
        </p:nvSpPr>
        <p:spPr>
          <a:xfrm>
            <a:off x="1116000" y="2468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Würfel Kunde Raster rechts"/>
          <p:cNvSpPr/>
          <p:nvPr/>
        </p:nvSpPr>
        <p:spPr>
          <a:xfrm>
            <a:off x="1198286" y="2052514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Würfel Kunde Raster rechts"/>
          <p:cNvSpPr/>
          <p:nvPr/>
        </p:nvSpPr>
        <p:spPr>
          <a:xfrm>
            <a:off x="1280571" y="1999029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Würfel Kunde Raster rechts"/>
          <p:cNvSpPr/>
          <p:nvPr/>
        </p:nvSpPr>
        <p:spPr>
          <a:xfrm>
            <a:off x="1362857" y="1945543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Würfel Kunde Auswahl vorn"/>
          <p:cNvSpPr/>
          <p:nvPr/>
        </p:nvSpPr>
        <p:spPr>
          <a:xfrm>
            <a:off x="540000" y="210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Würfel Kunde Auswahl vorn"/>
          <p:cNvSpPr/>
          <p:nvPr/>
        </p:nvSpPr>
        <p:spPr>
          <a:xfrm>
            <a:off x="540000" y="2250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Würfel Kunde Auswahl vorn"/>
          <p:cNvSpPr/>
          <p:nvPr/>
        </p:nvSpPr>
        <p:spPr>
          <a:xfrm>
            <a:off x="540000" y="2394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Würfel Kunde Auswahl vorn"/>
          <p:cNvSpPr/>
          <p:nvPr/>
        </p:nvSpPr>
        <p:spPr>
          <a:xfrm>
            <a:off x="684000" y="210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Würfel Kunde Auswahl vorn"/>
          <p:cNvSpPr/>
          <p:nvPr/>
        </p:nvSpPr>
        <p:spPr>
          <a:xfrm>
            <a:off x="684000" y="2250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Würfel Kunde Auswahl vorn"/>
          <p:cNvSpPr/>
          <p:nvPr/>
        </p:nvSpPr>
        <p:spPr>
          <a:xfrm>
            <a:off x="684000" y="2394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Würfel Kunde Auswahl vorn"/>
          <p:cNvSpPr/>
          <p:nvPr/>
        </p:nvSpPr>
        <p:spPr>
          <a:xfrm>
            <a:off x="828000" y="210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Würfel Kunde Auswahl vorn"/>
          <p:cNvSpPr/>
          <p:nvPr/>
        </p:nvSpPr>
        <p:spPr>
          <a:xfrm>
            <a:off x="828000" y="2250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Würfel Kunde Auswahl vorn"/>
          <p:cNvSpPr/>
          <p:nvPr/>
        </p:nvSpPr>
        <p:spPr>
          <a:xfrm>
            <a:off x="828000" y="2394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Würfel Kunde Auswahl vorn"/>
          <p:cNvSpPr/>
          <p:nvPr/>
        </p:nvSpPr>
        <p:spPr>
          <a:xfrm>
            <a:off x="972000" y="210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Würfel Kunde Auswahl vorn"/>
          <p:cNvSpPr/>
          <p:nvPr/>
        </p:nvSpPr>
        <p:spPr>
          <a:xfrm>
            <a:off x="972000" y="2250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Würfel Kunde Auswahl vorn"/>
          <p:cNvSpPr/>
          <p:nvPr/>
        </p:nvSpPr>
        <p:spPr>
          <a:xfrm>
            <a:off x="972000" y="2394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Würfel Kunde Auswahl oben"/>
          <p:cNvSpPr/>
          <p:nvPr/>
        </p:nvSpPr>
        <p:spPr>
          <a:xfrm>
            <a:off x="540000" y="2052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Würfel Kunde Auswahl oben"/>
          <p:cNvSpPr/>
          <p:nvPr/>
        </p:nvSpPr>
        <p:spPr>
          <a:xfrm>
            <a:off x="622286" y="1999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Würfel Kunde Auswahl oben"/>
          <p:cNvSpPr/>
          <p:nvPr/>
        </p:nvSpPr>
        <p:spPr>
          <a:xfrm>
            <a:off x="704571" y="1945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Würfel Kunde Auswahl oben"/>
          <p:cNvSpPr/>
          <p:nvPr/>
        </p:nvSpPr>
        <p:spPr>
          <a:xfrm>
            <a:off x="786857" y="1892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Würfel Kunde Auswahl oben"/>
          <p:cNvSpPr/>
          <p:nvPr/>
        </p:nvSpPr>
        <p:spPr>
          <a:xfrm>
            <a:off x="684000" y="2052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Würfel Kunde Auswahl oben"/>
          <p:cNvSpPr/>
          <p:nvPr/>
        </p:nvSpPr>
        <p:spPr>
          <a:xfrm>
            <a:off x="766286" y="1999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Würfel Kunde Auswahl oben"/>
          <p:cNvSpPr/>
          <p:nvPr/>
        </p:nvSpPr>
        <p:spPr>
          <a:xfrm>
            <a:off x="848571" y="1945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Würfel Kunde Auswahl oben"/>
          <p:cNvSpPr/>
          <p:nvPr/>
        </p:nvSpPr>
        <p:spPr>
          <a:xfrm>
            <a:off x="930857" y="1892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Würfel Kunde Auswahl oben"/>
          <p:cNvSpPr/>
          <p:nvPr/>
        </p:nvSpPr>
        <p:spPr>
          <a:xfrm>
            <a:off x="828000" y="2052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Würfel Kunde Auswahl oben"/>
          <p:cNvSpPr/>
          <p:nvPr/>
        </p:nvSpPr>
        <p:spPr>
          <a:xfrm>
            <a:off x="910286" y="1999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Würfel Kunde Auswahl oben"/>
          <p:cNvSpPr/>
          <p:nvPr/>
        </p:nvSpPr>
        <p:spPr>
          <a:xfrm>
            <a:off x="992571" y="1945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Würfel Kunde Auswahl oben"/>
          <p:cNvSpPr/>
          <p:nvPr/>
        </p:nvSpPr>
        <p:spPr>
          <a:xfrm>
            <a:off x="1074857" y="1892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Würfel Kunde Auswahl oben"/>
          <p:cNvSpPr/>
          <p:nvPr/>
        </p:nvSpPr>
        <p:spPr>
          <a:xfrm>
            <a:off x="972000" y="2052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Würfel Kunde Auswahl oben"/>
          <p:cNvSpPr/>
          <p:nvPr/>
        </p:nvSpPr>
        <p:spPr>
          <a:xfrm>
            <a:off x="1054286" y="1999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Würfel Kunde Auswahl oben"/>
          <p:cNvSpPr/>
          <p:nvPr/>
        </p:nvSpPr>
        <p:spPr>
          <a:xfrm>
            <a:off x="1136571" y="1945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Würfel Kunde Auswahl oben"/>
          <p:cNvSpPr/>
          <p:nvPr/>
        </p:nvSpPr>
        <p:spPr>
          <a:xfrm>
            <a:off x="1218857" y="1892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Würfel Kunde Auswahl rechts"/>
          <p:cNvSpPr/>
          <p:nvPr/>
        </p:nvSpPr>
        <p:spPr>
          <a:xfrm>
            <a:off x="1116000" y="2052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Würfel Kunde Auswahl rechts"/>
          <p:cNvSpPr/>
          <p:nvPr/>
        </p:nvSpPr>
        <p:spPr>
          <a:xfrm>
            <a:off x="1198286" y="1999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Würfel Kunde Auswahl rechts"/>
          <p:cNvSpPr/>
          <p:nvPr/>
        </p:nvSpPr>
        <p:spPr>
          <a:xfrm>
            <a:off x="1280571" y="1945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Würfel Kunde Auswahl rechts"/>
          <p:cNvSpPr/>
          <p:nvPr/>
        </p:nvSpPr>
        <p:spPr>
          <a:xfrm>
            <a:off x="1362857" y="1892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Würfel Kunde Auswahl rechts"/>
          <p:cNvSpPr/>
          <p:nvPr/>
        </p:nvSpPr>
        <p:spPr>
          <a:xfrm>
            <a:off x="1116000" y="2196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Würfel Kunde Auswahl rechts"/>
          <p:cNvSpPr/>
          <p:nvPr/>
        </p:nvSpPr>
        <p:spPr>
          <a:xfrm>
            <a:off x="1198286" y="2143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Würfel Kunde Auswahl rechts"/>
          <p:cNvSpPr/>
          <p:nvPr/>
        </p:nvSpPr>
        <p:spPr>
          <a:xfrm>
            <a:off x="1280571" y="2089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Würfel Kunde Auswahl rechts"/>
          <p:cNvSpPr/>
          <p:nvPr/>
        </p:nvSpPr>
        <p:spPr>
          <a:xfrm>
            <a:off x="1362857" y="2036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Würfel Kunde Auswahl rechts"/>
          <p:cNvSpPr/>
          <p:nvPr/>
        </p:nvSpPr>
        <p:spPr>
          <a:xfrm>
            <a:off x="1116000" y="2340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Würfel Kunde Auswahl rechts"/>
          <p:cNvSpPr/>
          <p:nvPr/>
        </p:nvSpPr>
        <p:spPr>
          <a:xfrm>
            <a:off x="1198286" y="2287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Würfel Kunde Auswahl rechts"/>
          <p:cNvSpPr/>
          <p:nvPr/>
        </p:nvSpPr>
        <p:spPr>
          <a:xfrm>
            <a:off x="1280571" y="2233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Würfel Kunde Auswahl rechts"/>
          <p:cNvSpPr/>
          <p:nvPr/>
        </p:nvSpPr>
        <p:spPr>
          <a:xfrm>
            <a:off x="1362857" y="2180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Würfel Kunde Umriss"/>
          <p:cNvSpPr/>
          <p:nvPr/>
        </p:nvSpPr>
        <p:spPr>
          <a:xfrm>
            <a:off x="540000" y="1892057"/>
            <a:ext cx="905143" cy="933943"/>
          </a:xfrm>
          <a:custGeom>
            <a:avLst/>
            <a:gdLst/>
            <a:ahLst/>
            <a:cxnLst/>
            <a:rect l="l" t="t" r="r" b="b"/>
            <a:pathLst>
              <a:path w="905143" h="933943">
                <a:moveTo>
                  <a:pt x="0" y="213943"/>
                </a:moveTo>
                <a:lnTo>
                  <a:pt x="329143" y="0"/>
                </a:lnTo>
                <a:lnTo>
                  <a:pt x="905143" y="0"/>
                </a:lnTo>
                <a:lnTo>
                  <a:pt x="905143" y="720000"/>
                </a:lnTo>
                <a:lnTo>
                  <a:pt x="576000" y="933943"/>
                </a:lnTo>
                <a:lnTo>
                  <a:pt x="0" y="933943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Würfel Kunde Kante oben"/>
          <p:cNvSpPr/>
          <p:nvPr/>
        </p:nvSpPr>
        <p:spPr>
          <a:xfrm>
            <a:off x="540000" y="1892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Würfel Kunde Kante vorn"/>
          <p:cNvSpPr/>
          <p:nvPr/>
        </p:nvSpPr>
        <p:spPr>
          <a:xfrm>
            <a:off x="1116000" y="2106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Würfel Kunde Kennzahlen"/>
          <p:cNvSpPr/>
          <p:nvPr/>
        </p:nvSpPr>
        <p:spPr>
          <a:xfrm>
            <a:off x="626400" y="2560913"/>
            <a:ext cx="403200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128" name="Dimension Kunde"/>
          <p:cNvSpPr/>
          <p:nvPr/>
        </p:nvSpPr>
        <p:spPr>
          <a:xfrm>
            <a:off x="396000" y="2106000"/>
            <a:ext cx="720000" cy="0"/>
          </a:xfrm>
          <a:custGeom>
            <a:avLst/>
            <a:gdLst/>
            <a:ahLst/>
            <a:cxnLst/>
            <a:rect l="l" t="t" r="r" b="b"/>
            <a:pathLst>
              <a:path w="720000" h="0">
                <a:moveTo>
                  <a:pt x="720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62828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Dimension Produkt"/>
          <p:cNvSpPr/>
          <p:nvPr/>
        </p:nvSpPr>
        <p:spPr>
          <a:xfrm>
            <a:off x="1116000" y="1817177"/>
            <a:ext cx="444343" cy="288823"/>
          </a:xfrm>
          <a:custGeom>
            <a:avLst/>
            <a:gdLst/>
            <a:ahLst/>
            <a:cxnLst/>
            <a:rect l="l" t="t" r="r" b="b"/>
            <a:pathLst>
              <a:path w="444343" h="288823">
                <a:moveTo>
                  <a:pt x="0" y="288823"/>
                </a:moveTo>
                <a:lnTo>
                  <a:pt x="444343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Dimension Zeit"/>
          <p:cNvSpPr/>
          <p:nvPr/>
        </p:nvSpPr>
        <p:spPr>
          <a:xfrm>
            <a:off x="1116000" y="2106000"/>
            <a:ext cx="0" cy="900000"/>
          </a:xfrm>
          <a:custGeom>
            <a:avLst/>
            <a:gdLst/>
            <a:ahLst/>
            <a:cxnLst/>
            <a:rect l="l" t="t" r="r" b="b"/>
            <a:pathLst>
              <a:path w="0" h="900000">
                <a:moveTo>
                  <a:pt x="0" y="0"/>
                </a:moveTo>
                <a:lnTo>
                  <a:pt x="0" y="900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eschriftung Kunde"/>
          <p:cNvSpPr txBox="1"/>
          <p:nvPr/>
        </p:nvSpPr>
        <p:spPr>
          <a:xfrm>
            <a:off x="6358" y="2142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C62828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C62828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C62828"/>
                </a:solidFill>
                <a:latin typeface="Arial"/>
              </a:rPr>
              <a:t>Kunde</a:t>
            </a:r>
          </a:p>
        </p:txBody>
      </p:sp>
      <p:sp>
        <p:nvSpPr>
          <p:cNvPr id="132" name="Beschriftung Produkt"/>
          <p:cNvSpPr txBox="1"/>
          <p:nvPr/>
        </p:nvSpPr>
        <p:spPr>
          <a:xfrm>
            <a:off x="1603543" y="170329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133" name="Beschriftung Zeit"/>
          <p:cNvSpPr txBox="1"/>
          <p:nvPr/>
        </p:nvSpPr>
        <p:spPr>
          <a:xfrm>
            <a:off x="867179" y="3027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134" name="Drill-Across"/>
          <p:cNvSpPr/>
          <p:nvPr/>
        </p:nvSpPr>
        <p:spPr>
          <a:xfrm>
            <a:off x="252000" y="767773"/>
            <a:ext cx="0" cy="1352627"/>
          </a:xfrm>
          <a:custGeom>
            <a:avLst/>
            <a:gdLst/>
            <a:ahLst/>
            <a:cxnLst/>
            <a:rect l="l" t="t" r="r" b="b"/>
            <a:pathLst>
              <a:path w="0" h="1352627">
                <a:moveTo>
                  <a:pt x="0" y="0"/>
                </a:moveTo>
                <a:lnTo>
                  <a:pt x="0" y="1352627"/>
                </a:lnTo>
              </a:path>
            </a:pathLst>
          </a:custGeom>
          <a:noFill/>
          <a:ln w="12700">
            <a:solidFill>
              <a:srgbClr val="C62828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Beschriftung Drill-Across"/>
          <p:cNvSpPr txBox="1"/>
          <p:nvPr/>
        </p:nvSpPr>
        <p:spPr>
          <a:xfrm>
            <a:off x="302400" y="1588087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C62828"/>
                </a:solidFill>
                <a:latin typeface="Arial"/>
              </a:rPr>
              <a:t>Drill-Across</a:t>
            </a:r>
          </a:p>
        </p:txBody>
      </p:sp>
      <p:sp>
        <p:nvSpPr>
          <p:cNvPr id="136" name="Umsatztabelle Linie oben"/>
          <p:cNvSpPr/>
          <p:nvPr/>
        </p:nvSpPr>
        <p:spPr>
          <a:xfrm>
            <a:off x="2376000" y="72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Umsatztabelle Linie Kopf"/>
          <p:cNvSpPr/>
          <p:nvPr/>
        </p:nvSpPr>
        <p:spPr>
          <a:xfrm>
            <a:off x="2376000" y="324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Umsatztabelle Haarlinie"/>
          <p:cNvSpPr/>
          <p:nvPr/>
        </p:nvSpPr>
        <p:spPr>
          <a:xfrm>
            <a:off x="2376000" y="612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Umsatztabelle Haarlinie"/>
          <p:cNvSpPr/>
          <p:nvPr/>
        </p:nvSpPr>
        <p:spPr>
          <a:xfrm>
            <a:off x="2376000" y="900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Umsatztabelle Linie Summe"/>
          <p:cNvSpPr/>
          <p:nvPr/>
        </p:nvSpPr>
        <p:spPr>
          <a:xfrm>
            <a:off x="2376000" y="1188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Umsatztabelle Linie unten"/>
          <p:cNvSpPr/>
          <p:nvPr/>
        </p:nvSpPr>
        <p:spPr>
          <a:xfrm>
            <a:off x="2376000" y="1476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Umsatztabelle Kopf Umsatz in €"/>
          <p:cNvSpPr txBox="1"/>
          <p:nvPr/>
        </p:nvSpPr>
        <p:spPr>
          <a:xfrm>
            <a:off x="2397600" y="72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Umsatz in €</a:t>
            </a:r>
          </a:p>
        </p:txBody>
      </p:sp>
      <p:sp>
        <p:nvSpPr>
          <p:cNvPr id="143" name="Umsatztabelle Kopf Summe"/>
          <p:cNvSpPr txBox="1"/>
          <p:nvPr/>
        </p:nvSpPr>
        <p:spPr>
          <a:xfrm>
            <a:off x="3117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Summe</a:t>
            </a:r>
          </a:p>
        </p:txBody>
      </p:sp>
      <p:sp>
        <p:nvSpPr>
          <p:cNvPr id="144" name="Umsatztabelle Kopf Deutschland"/>
          <p:cNvSpPr txBox="1"/>
          <p:nvPr/>
        </p:nvSpPr>
        <p:spPr>
          <a:xfrm>
            <a:off x="3945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Deutschland</a:t>
            </a:r>
          </a:p>
        </p:txBody>
      </p:sp>
      <p:sp>
        <p:nvSpPr>
          <p:cNvPr id="145" name="Umsatztabelle Kopf Frankreich"/>
          <p:cNvSpPr txBox="1"/>
          <p:nvPr/>
        </p:nvSpPr>
        <p:spPr>
          <a:xfrm>
            <a:off x="4773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Frankreich</a:t>
            </a:r>
          </a:p>
        </p:txBody>
      </p:sp>
      <p:sp>
        <p:nvSpPr>
          <p:cNvPr id="146" name="Umsatztabelle Januar"/>
          <p:cNvSpPr txBox="1"/>
          <p:nvPr/>
        </p:nvSpPr>
        <p:spPr>
          <a:xfrm>
            <a:off x="2397600" y="324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Januar</a:t>
            </a:r>
          </a:p>
        </p:txBody>
      </p:sp>
      <p:sp>
        <p:nvSpPr>
          <p:cNvPr id="147" name="Umsatztabelle Februar"/>
          <p:cNvSpPr txBox="1"/>
          <p:nvPr/>
        </p:nvSpPr>
        <p:spPr>
          <a:xfrm>
            <a:off x="2397600" y="612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Februar</a:t>
            </a:r>
          </a:p>
        </p:txBody>
      </p:sp>
      <p:sp>
        <p:nvSpPr>
          <p:cNvPr id="148" name="Umsatztabelle März"/>
          <p:cNvSpPr txBox="1"/>
          <p:nvPr/>
        </p:nvSpPr>
        <p:spPr>
          <a:xfrm>
            <a:off x="2397600" y="900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März</a:t>
            </a:r>
          </a:p>
        </p:txBody>
      </p:sp>
      <p:sp>
        <p:nvSpPr>
          <p:cNvPr id="149" name="Umsatztabelle 1. Quartal"/>
          <p:cNvSpPr txBox="1"/>
          <p:nvPr/>
        </p:nvSpPr>
        <p:spPr>
          <a:xfrm>
            <a:off x="2397600" y="1188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 Quartal</a:t>
            </a:r>
          </a:p>
        </p:txBody>
      </p:sp>
      <p:sp>
        <p:nvSpPr>
          <p:cNvPr id="150" name="Umsatztabelle Roll-Up Januar"/>
          <p:cNvSpPr/>
          <p:nvPr/>
        </p:nvSpPr>
        <p:spPr>
          <a:xfrm>
            <a:off x="3667555" y="468000"/>
            <a:ext cx="1390332" cy="0"/>
          </a:xfrm>
          <a:custGeom>
            <a:avLst/>
            <a:gdLst/>
            <a:ahLst/>
            <a:cxnLst/>
            <a:rect l="l" t="t" r="r" b="b"/>
            <a:pathLst>
              <a:path w="1390332" h="0">
                <a:moveTo>
                  <a:pt x="13903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Umsatztabelle Roll-Up Februar"/>
          <p:cNvSpPr/>
          <p:nvPr/>
        </p:nvSpPr>
        <p:spPr>
          <a:xfrm>
            <a:off x="3667555" y="756000"/>
            <a:ext cx="1390332" cy="0"/>
          </a:xfrm>
          <a:custGeom>
            <a:avLst/>
            <a:gdLst/>
            <a:ahLst/>
            <a:cxnLst/>
            <a:rect l="l" t="t" r="r" b="b"/>
            <a:pathLst>
              <a:path w="1390332" h="0">
                <a:moveTo>
                  <a:pt x="13903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Umsatztabelle Roll-Up März"/>
          <p:cNvSpPr/>
          <p:nvPr/>
        </p:nvSpPr>
        <p:spPr>
          <a:xfrm>
            <a:off x="3667555" y="10440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13408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Umsatztabelle Roll-Up Quartal"/>
          <p:cNvSpPr/>
          <p:nvPr/>
        </p:nvSpPr>
        <p:spPr>
          <a:xfrm>
            <a:off x="3667555" y="13032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13408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Umsatztabelle Drill-Down Quartal"/>
          <p:cNvSpPr/>
          <p:nvPr/>
        </p:nvSpPr>
        <p:spPr>
          <a:xfrm>
            <a:off x="3667555" y="13608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0" y="0"/>
                </a:moveTo>
                <a:lnTo>
                  <a:pt x="134089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Umsatztabelle Roll-Up Deutschland"/>
          <p:cNvSpPr/>
          <p:nvPr/>
        </p:nvSpPr>
        <p:spPr>
          <a:xfrm>
            <a:off x="43380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Umsatztabelle Roll-Up Frankreich"/>
          <p:cNvSpPr/>
          <p:nvPr/>
        </p:nvSpPr>
        <p:spPr>
          <a:xfrm>
            <a:off x="51660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Umsatztabelle Drill-Down Summe"/>
          <p:cNvSpPr/>
          <p:nvPr/>
        </p:nvSpPr>
        <p:spPr>
          <a:xfrm>
            <a:off x="34236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7429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Umsatztabelle Roll-Up Summe"/>
          <p:cNvSpPr/>
          <p:nvPr/>
        </p:nvSpPr>
        <p:spPr>
          <a:xfrm>
            <a:off x="35964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Umsatztabelle Wert Januar Summe"/>
          <p:cNvSpPr/>
          <p:nvPr/>
        </p:nvSpPr>
        <p:spPr>
          <a:xfrm>
            <a:off x="3352445" y="40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160" name="Umsatztabelle Wert Januar Deutschland"/>
          <p:cNvSpPr/>
          <p:nvPr/>
        </p:nvSpPr>
        <p:spPr>
          <a:xfrm>
            <a:off x="4180445" y="40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13.000</a:t>
            </a:r>
          </a:p>
        </p:txBody>
      </p:sp>
      <p:sp>
        <p:nvSpPr>
          <p:cNvPr id="161" name="Umsatztabelle Wert Januar Frankreich"/>
          <p:cNvSpPr/>
          <p:nvPr/>
        </p:nvSpPr>
        <p:spPr>
          <a:xfrm>
            <a:off x="5057887" y="407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162" name="Umsatztabelle Wert Februar Summe"/>
          <p:cNvSpPr/>
          <p:nvPr/>
        </p:nvSpPr>
        <p:spPr>
          <a:xfrm>
            <a:off x="3352445" y="695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15.000</a:t>
            </a:r>
          </a:p>
        </p:txBody>
      </p:sp>
      <p:sp>
        <p:nvSpPr>
          <p:cNvPr id="163" name="Umsatztabelle Wert Februar Deutschland"/>
          <p:cNvSpPr/>
          <p:nvPr/>
        </p:nvSpPr>
        <p:spPr>
          <a:xfrm>
            <a:off x="42298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164" name="Umsatztabelle Wert Februar Frankreich"/>
          <p:cNvSpPr/>
          <p:nvPr/>
        </p:nvSpPr>
        <p:spPr>
          <a:xfrm>
            <a:off x="50578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8.000</a:t>
            </a:r>
          </a:p>
        </p:txBody>
      </p:sp>
      <p:sp>
        <p:nvSpPr>
          <p:cNvPr id="165" name="Umsatztabelle Wert März Summe"/>
          <p:cNvSpPr/>
          <p:nvPr/>
        </p:nvSpPr>
        <p:spPr>
          <a:xfrm>
            <a:off x="3352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22.000</a:t>
            </a:r>
          </a:p>
        </p:txBody>
      </p:sp>
      <p:sp>
        <p:nvSpPr>
          <p:cNvPr id="166" name="Umsatztabelle Wert März Deutschland"/>
          <p:cNvSpPr/>
          <p:nvPr/>
        </p:nvSpPr>
        <p:spPr>
          <a:xfrm>
            <a:off x="4180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12.000</a:t>
            </a:r>
          </a:p>
        </p:txBody>
      </p:sp>
      <p:sp>
        <p:nvSpPr>
          <p:cNvPr id="167" name="Umsatztabelle Wert März Frankreich"/>
          <p:cNvSpPr/>
          <p:nvPr/>
        </p:nvSpPr>
        <p:spPr>
          <a:xfrm>
            <a:off x="5008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10.000</a:t>
            </a:r>
          </a:p>
        </p:txBody>
      </p:sp>
      <p:sp>
        <p:nvSpPr>
          <p:cNvPr id="168" name="Umsatztabelle Wert 1. Quartal Summe"/>
          <p:cNvSpPr/>
          <p:nvPr/>
        </p:nvSpPr>
        <p:spPr>
          <a:xfrm>
            <a:off x="3352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57.000</a:t>
            </a:r>
          </a:p>
        </p:txBody>
      </p:sp>
      <p:sp>
        <p:nvSpPr>
          <p:cNvPr id="169" name="Umsatztabelle Wert 1. Quartal Deutschland"/>
          <p:cNvSpPr/>
          <p:nvPr/>
        </p:nvSpPr>
        <p:spPr>
          <a:xfrm>
            <a:off x="4180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32.000</a:t>
            </a:r>
          </a:p>
        </p:txBody>
      </p:sp>
      <p:sp>
        <p:nvSpPr>
          <p:cNvPr id="170" name="Umsatztabelle Wert 1. Quartal Frankreich"/>
          <p:cNvSpPr/>
          <p:nvPr/>
        </p:nvSpPr>
        <p:spPr>
          <a:xfrm>
            <a:off x="5008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25.000</a:t>
            </a:r>
          </a:p>
        </p:txBody>
      </p:sp>
      <p:sp>
        <p:nvSpPr>
          <p:cNvPr id="171" name="Produkttabelle Linie oben"/>
          <p:cNvSpPr/>
          <p:nvPr/>
        </p:nvSpPr>
        <p:spPr>
          <a:xfrm>
            <a:off x="2538000" y="1728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Produkttabelle Linie Kopf"/>
          <p:cNvSpPr/>
          <p:nvPr/>
        </p:nvSpPr>
        <p:spPr>
          <a:xfrm>
            <a:off x="2538000" y="1944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Produkttabelle Haarlinie"/>
          <p:cNvSpPr/>
          <p:nvPr/>
        </p:nvSpPr>
        <p:spPr>
          <a:xfrm>
            <a:off x="2538000" y="2196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Produkttabelle Haarlinie"/>
          <p:cNvSpPr/>
          <p:nvPr/>
        </p:nvSpPr>
        <p:spPr>
          <a:xfrm>
            <a:off x="2538000" y="2448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Produkttabelle Haarlinie"/>
          <p:cNvSpPr/>
          <p:nvPr/>
        </p:nvSpPr>
        <p:spPr>
          <a:xfrm>
            <a:off x="2538000" y="2700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Produkttabelle Linie Summe"/>
          <p:cNvSpPr/>
          <p:nvPr/>
        </p:nvSpPr>
        <p:spPr>
          <a:xfrm>
            <a:off x="2538000" y="2952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Produkttabelle Linie unten"/>
          <p:cNvSpPr/>
          <p:nvPr/>
        </p:nvSpPr>
        <p:spPr>
          <a:xfrm>
            <a:off x="2538000" y="3204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Produkttabelle Kopf"/>
          <p:cNvSpPr txBox="1"/>
          <p:nvPr/>
        </p:nvSpPr>
        <p:spPr>
          <a:xfrm>
            <a:off x="2559600" y="1728000"/>
            <a:ext cx="6768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179" name="Produkttabelle City Bike"/>
          <p:cNvSpPr txBox="1"/>
          <p:nvPr/>
        </p:nvSpPr>
        <p:spPr>
          <a:xfrm>
            <a:off x="2559600" y="1944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City Bike</a:t>
            </a:r>
          </a:p>
        </p:txBody>
      </p:sp>
      <p:sp>
        <p:nvSpPr>
          <p:cNvPr id="180" name="Produkttabelle Mountain Bike"/>
          <p:cNvSpPr txBox="1"/>
          <p:nvPr/>
        </p:nvSpPr>
        <p:spPr>
          <a:xfrm>
            <a:off x="2559600" y="2196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Mountain Bike</a:t>
            </a:r>
          </a:p>
        </p:txBody>
      </p:sp>
      <p:sp>
        <p:nvSpPr>
          <p:cNvPr id="181" name="Produkttabelle Racing Bike"/>
          <p:cNvSpPr txBox="1"/>
          <p:nvPr/>
        </p:nvSpPr>
        <p:spPr>
          <a:xfrm>
            <a:off x="2559600" y="2448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Racing Bike</a:t>
            </a:r>
          </a:p>
        </p:txBody>
      </p:sp>
      <p:sp>
        <p:nvSpPr>
          <p:cNvPr id="182" name="Produkttabelle Trekking Bike"/>
          <p:cNvSpPr txBox="1"/>
          <p:nvPr/>
        </p:nvSpPr>
        <p:spPr>
          <a:xfrm>
            <a:off x="2559600" y="2700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Trekking Bike</a:t>
            </a:r>
          </a:p>
        </p:txBody>
      </p:sp>
      <p:sp>
        <p:nvSpPr>
          <p:cNvPr id="183" name="Produkttabelle Summe"/>
          <p:cNvSpPr txBox="1"/>
          <p:nvPr/>
        </p:nvSpPr>
        <p:spPr>
          <a:xfrm>
            <a:off x="2559600" y="2952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Summe</a:t>
            </a:r>
          </a:p>
        </p:txBody>
      </p:sp>
      <p:sp>
        <p:nvSpPr>
          <p:cNvPr id="184" name="Produkttabelle Drill-Down Produkt"/>
          <p:cNvSpPr/>
          <p:nvPr/>
        </p:nvSpPr>
        <p:spPr>
          <a:xfrm>
            <a:off x="3510000" y="1392543"/>
            <a:ext cx="0" cy="616914"/>
          </a:xfrm>
          <a:custGeom>
            <a:avLst/>
            <a:gdLst/>
            <a:ahLst/>
            <a:cxnLst/>
            <a:rect l="l" t="t" r="r" b="b"/>
            <a:pathLst>
              <a:path w="0" h="616914">
                <a:moveTo>
                  <a:pt x="0" y="0"/>
                </a:moveTo>
                <a:lnTo>
                  <a:pt x="0" y="616914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Produkttabelle Roll-Up Produkt"/>
          <p:cNvSpPr/>
          <p:nvPr/>
        </p:nvSpPr>
        <p:spPr>
          <a:xfrm>
            <a:off x="3510000" y="2130543"/>
            <a:ext cx="0" cy="886914"/>
          </a:xfrm>
          <a:custGeom>
            <a:avLst/>
            <a:gdLst/>
            <a:ahLst/>
            <a:cxnLst/>
            <a:rect l="l" t="t" r="r" b="b"/>
            <a:pathLst>
              <a:path w="0" h="886914">
                <a:moveTo>
                  <a:pt x="0" y="0"/>
                </a:moveTo>
                <a:lnTo>
                  <a:pt x="0" y="886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Produkttabelle Wert 20.000"/>
          <p:cNvSpPr/>
          <p:nvPr/>
        </p:nvSpPr>
        <p:spPr>
          <a:xfrm>
            <a:off x="3352445" y="2009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187" name="Produkttabelle Wert 7.000"/>
          <p:cNvSpPr/>
          <p:nvPr/>
        </p:nvSpPr>
        <p:spPr>
          <a:xfrm>
            <a:off x="3401887" y="2261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188" name="Produkttabelle Wert 17.000"/>
          <p:cNvSpPr/>
          <p:nvPr/>
        </p:nvSpPr>
        <p:spPr>
          <a:xfrm>
            <a:off x="3352445" y="251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17.000</a:t>
            </a:r>
          </a:p>
        </p:txBody>
      </p:sp>
      <p:sp>
        <p:nvSpPr>
          <p:cNvPr id="189" name="Produkttabelle Wert 13.000"/>
          <p:cNvSpPr/>
          <p:nvPr/>
        </p:nvSpPr>
        <p:spPr>
          <a:xfrm>
            <a:off x="3352445" y="2765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13.000</a:t>
            </a:r>
          </a:p>
        </p:txBody>
      </p:sp>
      <p:sp>
        <p:nvSpPr>
          <p:cNvPr id="190" name="Produkttabelle Wert 57.000"/>
          <p:cNvSpPr/>
          <p:nvPr/>
        </p:nvSpPr>
        <p:spPr>
          <a:xfrm>
            <a:off x="3352445" y="301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57.000</a:t>
            </a:r>
          </a:p>
        </p:txBody>
      </p:sp>
      <p:sp>
        <p:nvSpPr>
          <p:cNvPr id="191" name="Kunden Linie oben"/>
          <p:cNvSpPr/>
          <p:nvPr/>
        </p:nvSpPr>
        <p:spPr>
          <a:xfrm>
            <a:off x="3870000" y="1728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Kunden Linie Kopf"/>
          <p:cNvSpPr/>
          <p:nvPr/>
        </p:nvSpPr>
        <p:spPr>
          <a:xfrm>
            <a:off x="3870000" y="1944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Kunden Haarlinie"/>
          <p:cNvSpPr/>
          <p:nvPr/>
        </p:nvSpPr>
        <p:spPr>
          <a:xfrm>
            <a:off x="3870000" y="2196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Kunden Haarlinie"/>
          <p:cNvSpPr/>
          <p:nvPr/>
        </p:nvSpPr>
        <p:spPr>
          <a:xfrm>
            <a:off x="3870000" y="2448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Kunden Haarlinie"/>
          <p:cNvSpPr/>
          <p:nvPr/>
        </p:nvSpPr>
        <p:spPr>
          <a:xfrm>
            <a:off x="3870000" y="2700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Kunden Linie Summe"/>
          <p:cNvSpPr/>
          <p:nvPr/>
        </p:nvSpPr>
        <p:spPr>
          <a:xfrm>
            <a:off x="3870000" y="2952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Kunden Linie unten"/>
          <p:cNvSpPr/>
          <p:nvPr/>
        </p:nvSpPr>
        <p:spPr>
          <a:xfrm>
            <a:off x="3870000" y="3204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Kunden Kopf Kunde A"/>
          <p:cNvSpPr txBox="1"/>
          <p:nvPr/>
        </p:nvSpPr>
        <p:spPr>
          <a:xfrm>
            <a:off x="3884400" y="1728000"/>
            <a:ext cx="3987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Kunde A</a:t>
            </a:r>
          </a:p>
        </p:txBody>
      </p:sp>
      <p:sp>
        <p:nvSpPr>
          <p:cNvPr id="199" name="Kunden Kunde A 0"/>
          <p:cNvSpPr txBox="1"/>
          <p:nvPr/>
        </p:nvSpPr>
        <p:spPr>
          <a:xfrm>
            <a:off x="3809305" y="1980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10.000</a:t>
            </a:r>
          </a:p>
        </p:txBody>
      </p:sp>
      <p:sp>
        <p:nvSpPr>
          <p:cNvPr id="200" name="Kunden Kunde A 1"/>
          <p:cNvSpPr txBox="1"/>
          <p:nvPr/>
        </p:nvSpPr>
        <p:spPr>
          <a:xfrm>
            <a:off x="3809305" y="2232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3.000</a:t>
            </a:r>
          </a:p>
        </p:txBody>
      </p:sp>
      <p:sp>
        <p:nvSpPr>
          <p:cNvPr id="201" name="Kunden Kunde A 2"/>
          <p:cNvSpPr txBox="1"/>
          <p:nvPr/>
        </p:nvSpPr>
        <p:spPr>
          <a:xfrm>
            <a:off x="3809305" y="2484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2.000</a:t>
            </a:r>
          </a:p>
        </p:txBody>
      </p:sp>
      <p:sp>
        <p:nvSpPr>
          <p:cNvPr id="202" name="Kunden Kunde A 3"/>
          <p:cNvSpPr txBox="1"/>
          <p:nvPr/>
        </p:nvSpPr>
        <p:spPr>
          <a:xfrm>
            <a:off x="3809305" y="2736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5.000</a:t>
            </a:r>
          </a:p>
        </p:txBody>
      </p:sp>
      <p:sp>
        <p:nvSpPr>
          <p:cNvPr id="203" name="Kunden Kunde A 4"/>
          <p:cNvSpPr txBox="1"/>
          <p:nvPr/>
        </p:nvSpPr>
        <p:spPr>
          <a:xfrm>
            <a:off x="3809305" y="2988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204" name="Kunden Kopf Kunde B"/>
          <p:cNvSpPr txBox="1"/>
          <p:nvPr/>
        </p:nvSpPr>
        <p:spPr>
          <a:xfrm>
            <a:off x="4311900" y="1728000"/>
            <a:ext cx="3987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Kunde B</a:t>
            </a:r>
          </a:p>
        </p:txBody>
      </p:sp>
      <p:sp>
        <p:nvSpPr>
          <p:cNvPr id="205" name="Kunden Kunde B 0"/>
          <p:cNvSpPr txBox="1"/>
          <p:nvPr/>
        </p:nvSpPr>
        <p:spPr>
          <a:xfrm>
            <a:off x="4236805" y="1980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206" name="Kunden Kunde B 1"/>
          <p:cNvSpPr txBox="1"/>
          <p:nvPr/>
        </p:nvSpPr>
        <p:spPr>
          <a:xfrm>
            <a:off x="4236805" y="2232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2.000</a:t>
            </a:r>
          </a:p>
        </p:txBody>
      </p:sp>
      <p:sp>
        <p:nvSpPr>
          <p:cNvPr id="207" name="Kunden Kunde B 2"/>
          <p:cNvSpPr txBox="1"/>
          <p:nvPr/>
        </p:nvSpPr>
        <p:spPr>
          <a:xfrm>
            <a:off x="4236805" y="2484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3.000</a:t>
            </a:r>
          </a:p>
        </p:txBody>
      </p:sp>
      <p:sp>
        <p:nvSpPr>
          <p:cNvPr id="208" name="Kunden Kunde B 3"/>
          <p:cNvSpPr txBox="1"/>
          <p:nvPr/>
        </p:nvSpPr>
        <p:spPr>
          <a:xfrm>
            <a:off x="4236805" y="2736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3.000</a:t>
            </a:r>
          </a:p>
        </p:txBody>
      </p:sp>
      <p:sp>
        <p:nvSpPr>
          <p:cNvPr id="209" name="Kunden Kunde B 4"/>
          <p:cNvSpPr txBox="1"/>
          <p:nvPr/>
        </p:nvSpPr>
        <p:spPr>
          <a:xfrm>
            <a:off x="4236805" y="2988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8.000</a:t>
            </a:r>
          </a:p>
        </p:txBody>
      </p:sp>
      <p:sp>
        <p:nvSpPr>
          <p:cNvPr id="210" name="Kunden Kopf Kunde C"/>
          <p:cNvSpPr txBox="1"/>
          <p:nvPr/>
        </p:nvSpPr>
        <p:spPr>
          <a:xfrm>
            <a:off x="4739400" y="1728000"/>
            <a:ext cx="3987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Kunde C</a:t>
            </a:r>
          </a:p>
        </p:txBody>
      </p:sp>
      <p:sp>
        <p:nvSpPr>
          <p:cNvPr id="211" name="Kunden Kunde C 0"/>
          <p:cNvSpPr txBox="1"/>
          <p:nvPr/>
        </p:nvSpPr>
        <p:spPr>
          <a:xfrm>
            <a:off x="4664305" y="1980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5.000</a:t>
            </a:r>
          </a:p>
        </p:txBody>
      </p:sp>
      <p:sp>
        <p:nvSpPr>
          <p:cNvPr id="212" name="Kunden Kunde C 1"/>
          <p:cNvSpPr txBox="1"/>
          <p:nvPr/>
        </p:nvSpPr>
        <p:spPr>
          <a:xfrm>
            <a:off x="4664305" y="2232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213" name="Kunden Kunde C 2"/>
          <p:cNvSpPr txBox="1"/>
          <p:nvPr/>
        </p:nvSpPr>
        <p:spPr>
          <a:xfrm>
            <a:off x="4664305" y="2484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214" name="Kunden Kunde C 3"/>
          <p:cNvSpPr txBox="1"/>
          <p:nvPr/>
        </p:nvSpPr>
        <p:spPr>
          <a:xfrm>
            <a:off x="4664305" y="2736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2.000</a:t>
            </a:r>
          </a:p>
        </p:txBody>
      </p:sp>
      <p:sp>
        <p:nvSpPr>
          <p:cNvPr id="215" name="Kunden Kunde C 4"/>
          <p:cNvSpPr txBox="1"/>
          <p:nvPr/>
        </p:nvSpPr>
        <p:spPr>
          <a:xfrm>
            <a:off x="4664305" y="2988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8.000</a:t>
            </a:r>
          </a:p>
        </p:txBody>
      </p:sp>
      <p:sp>
        <p:nvSpPr>
          <p:cNvPr id="216" name="Kunden Kopf Kunde D"/>
          <p:cNvSpPr txBox="1"/>
          <p:nvPr/>
        </p:nvSpPr>
        <p:spPr>
          <a:xfrm>
            <a:off x="5166900" y="1728000"/>
            <a:ext cx="3987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Kunde D</a:t>
            </a:r>
          </a:p>
        </p:txBody>
      </p:sp>
      <p:sp>
        <p:nvSpPr>
          <p:cNvPr id="217" name="Kunden Kunde D 0"/>
          <p:cNvSpPr txBox="1"/>
          <p:nvPr/>
        </p:nvSpPr>
        <p:spPr>
          <a:xfrm>
            <a:off x="5091805" y="1980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5.000</a:t>
            </a:r>
          </a:p>
        </p:txBody>
      </p:sp>
      <p:sp>
        <p:nvSpPr>
          <p:cNvPr id="218" name="Kunden Kunde D 1"/>
          <p:cNvSpPr txBox="1"/>
          <p:nvPr/>
        </p:nvSpPr>
        <p:spPr>
          <a:xfrm>
            <a:off x="5091805" y="2232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219" name="Kunden Kunde D 2"/>
          <p:cNvSpPr txBox="1"/>
          <p:nvPr/>
        </p:nvSpPr>
        <p:spPr>
          <a:xfrm>
            <a:off x="5091805" y="2484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12.000</a:t>
            </a:r>
          </a:p>
        </p:txBody>
      </p:sp>
      <p:sp>
        <p:nvSpPr>
          <p:cNvPr id="220" name="Kunden Kunde D 3"/>
          <p:cNvSpPr txBox="1"/>
          <p:nvPr/>
        </p:nvSpPr>
        <p:spPr>
          <a:xfrm>
            <a:off x="5091805" y="2736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3.000</a:t>
            </a:r>
          </a:p>
        </p:txBody>
      </p:sp>
      <p:sp>
        <p:nvSpPr>
          <p:cNvPr id="221" name="Kunden Kunde D 4"/>
          <p:cNvSpPr txBox="1"/>
          <p:nvPr/>
        </p:nvSpPr>
        <p:spPr>
          <a:xfrm>
            <a:off x="5091805" y="29880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21.000</a:t>
            </a:r>
          </a:p>
        </p:txBody>
      </p:sp>
      <p:sp>
        <p:nvSpPr>
          <p:cNvPr id="222" name="Drill-Across Zeile 1"/>
          <p:cNvSpPr/>
          <p:nvPr/>
        </p:nvSpPr>
        <p:spPr>
          <a:xfrm>
            <a:off x="3689155" y="2070000"/>
            <a:ext cx="159245" cy="0"/>
          </a:xfrm>
          <a:custGeom>
            <a:avLst/>
            <a:gdLst/>
            <a:ahLst/>
            <a:cxnLst/>
            <a:rect l="l" t="t" r="r" b="b"/>
            <a:pathLst>
              <a:path w="159245" h="0">
                <a:moveTo>
                  <a:pt x="0" y="0"/>
                </a:moveTo>
                <a:lnTo>
                  <a:pt x="159245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Drill-Across Zeile 2"/>
          <p:cNvSpPr/>
          <p:nvPr/>
        </p:nvSpPr>
        <p:spPr>
          <a:xfrm>
            <a:off x="3689155" y="2322000"/>
            <a:ext cx="159245" cy="0"/>
          </a:xfrm>
          <a:custGeom>
            <a:avLst/>
            <a:gdLst/>
            <a:ahLst/>
            <a:cxnLst/>
            <a:rect l="l" t="t" r="r" b="b"/>
            <a:pathLst>
              <a:path w="159245" h="0">
                <a:moveTo>
                  <a:pt x="0" y="0"/>
                </a:moveTo>
                <a:lnTo>
                  <a:pt x="159245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Drill-Across Zeile 3"/>
          <p:cNvSpPr/>
          <p:nvPr/>
        </p:nvSpPr>
        <p:spPr>
          <a:xfrm>
            <a:off x="3689155" y="2574000"/>
            <a:ext cx="159245" cy="0"/>
          </a:xfrm>
          <a:custGeom>
            <a:avLst/>
            <a:gdLst/>
            <a:ahLst/>
            <a:cxnLst/>
            <a:rect l="l" t="t" r="r" b="b"/>
            <a:pathLst>
              <a:path w="159245" h="0">
                <a:moveTo>
                  <a:pt x="0" y="0"/>
                </a:moveTo>
                <a:lnTo>
                  <a:pt x="159245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Drill-Across Zeile 4"/>
          <p:cNvSpPr/>
          <p:nvPr/>
        </p:nvSpPr>
        <p:spPr>
          <a:xfrm>
            <a:off x="3689155" y="2826000"/>
            <a:ext cx="159245" cy="0"/>
          </a:xfrm>
          <a:custGeom>
            <a:avLst/>
            <a:gdLst/>
            <a:ahLst/>
            <a:cxnLst/>
            <a:rect l="l" t="t" r="r" b="b"/>
            <a:pathLst>
              <a:path w="159245" h="0">
                <a:moveTo>
                  <a:pt x="0" y="0"/>
                </a:moveTo>
                <a:lnTo>
                  <a:pt x="159245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Drill-Across Zeile 5"/>
          <p:cNvSpPr/>
          <p:nvPr/>
        </p:nvSpPr>
        <p:spPr>
          <a:xfrm>
            <a:off x="3689155" y="3078000"/>
            <a:ext cx="159245" cy="0"/>
          </a:xfrm>
          <a:custGeom>
            <a:avLst/>
            <a:gdLst/>
            <a:ahLst/>
            <a:cxnLst/>
            <a:rect l="l" t="t" r="r" b="b"/>
            <a:pathLst>
              <a:path w="159245" h="0">
                <a:moveTo>
                  <a:pt x="0" y="0"/>
                </a:moveTo>
                <a:lnTo>
                  <a:pt x="159245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