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80000" cy="34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bene Strategische Planung"/>
          <p:cNvSpPr/>
          <p:nvPr/>
        </p:nvSpPr>
        <p:spPr>
          <a:xfrm>
            <a:off x="10800" y="10800"/>
            <a:ext cx="828000" cy="792000"/>
          </a:xfrm>
          <a:prstGeom prst="roundRect">
            <a:avLst>
              <a:gd name="adj" fmla="val 3636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Strategische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Planung</a:t>
            </a:r>
          </a:p>
          <a:p>
            <a:pPr algn="ctr">
              <a:lnSpc>
                <a:spcPts val="708"/>
              </a:lnSpc>
              <a:spcBef>
                <a:spcPts val="15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(Vision, strategische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Analyse, Grund-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strategien u. a.)</a:t>
            </a:r>
          </a:p>
        </p:txBody>
      </p:sp>
      <p:sp>
        <p:nvSpPr>
          <p:cNvPr id="3" name="Ebene Verzahnung strategis"/>
          <p:cNvSpPr/>
          <p:nvPr/>
        </p:nvSpPr>
        <p:spPr>
          <a:xfrm>
            <a:off x="10800" y="1008000"/>
            <a:ext cx="828000" cy="792000"/>
          </a:xfrm>
          <a:prstGeom prst="roundRect">
            <a:avLst>
              <a:gd name="adj" fmla="val 3636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Verzahnung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strategischer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und operativ-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taktischer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4" name="Ebene Simulative Planung"/>
          <p:cNvSpPr/>
          <p:nvPr/>
        </p:nvSpPr>
        <p:spPr>
          <a:xfrm>
            <a:off x="10800" y="2304000"/>
            <a:ext cx="828000" cy="1177200"/>
          </a:xfrm>
          <a:prstGeom prst="roundRect">
            <a:avLst>
              <a:gd name="adj" fmla="val 3478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Simulative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Planung</a:t>
            </a:r>
          </a:p>
          <a:p>
            <a:pPr algn="ctr">
              <a:lnSpc>
                <a:spcPts val="708"/>
              </a:lnSpc>
              <a:spcBef>
                <a:spcPts val="150"/>
              </a:spcBef>
              <a:buNone/>
            </a:pPr>
            <a:r>
              <a:rPr lang="de-DE" sz="600" b="0" i="0">
                <a:solidFill>
                  <a:srgbClr val="4D4D4D"/>
                </a:solidFill>
                <a:latin typeface="Arial"/>
              </a:rPr>
              <a:t>(operative, taktische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und Forecast-</a:t>
            </a:r>
            <a:br>
              <a:rPr lang="de-DE" sz="600" b="0" i="0">
                <a:solidFill>
                  <a:srgbClr val="4D4D4D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4D4D4D"/>
                </a:solidFill>
                <a:latin typeface="Arial"/>
              </a:rPr>
              <a:t>Planung)</a:t>
            </a:r>
          </a:p>
        </p:txBody>
      </p:sp>
      <p:sp>
        <p:nvSpPr>
          <p:cNvPr id="5" name="Ebenen wechselseitig"/>
          <p:cNvSpPr/>
          <p:nvPr/>
        </p:nvSpPr>
        <p:spPr>
          <a:xfrm>
            <a:off x="424800" y="802800"/>
            <a:ext cx="0" cy="205200"/>
          </a:xfrm>
          <a:custGeom>
            <a:avLst/>
            <a:gdLst/>
            <a:ahLst/>
            <a:cxnLst/>
            <a:rect l="l" t="t" r="r" b="b"/>
            <a:pathLst>
              <a:path w="0" h="205200">
                <a:moveTo>
                  <a:pt x="0" y="0"/>
                </a:moveTo>
                <a:lnTo>
                  <a:pt x="0" y="205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benen wechselseitig"/>
          <p:cNvSpPr/>
          <p:nvPr/>
        </p:nvSpPr>
        <p:spPr>
          <a:xfrm>
            <a:off x="424800" y="1800000"/>
            <a:ext cx="0" cy="504000"/>
          </a:xfrm>
          <a:custGeom>
            <a:avLst/>
            <a:gdLst/>
            <a:ahLst/>
            <a:cxnLst/>
            <a:rect l="l" t="t" r="r" b="b"/>
            <a:pathLst>
              <a:path w="0" h="504000">
                <a:moveTo>
                  <a:pt x="0" y="0"/>
                </a:moveTo>
                <a:lnTo>
                  <a:pt x="0" y="504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nstrumente"/>
          <p:cNvSpPr txBox="1"/>
          <p:nvPr/>
        </p:nvSpPr>
        <p:spPr>
          <a:xfrm>
            <a:off x="1170000" y="10800"/>
            <a:ext cx="3240000" cy="23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1A1A1A"/>
                </a:solidFill>
                <a:latin typeface="Arial"/>
              </a:rPr>
              <a:t>Instrumente u. a.</a:t>
            </a:r>
          </a:p>
          <a:p>
            <a:pPr algn="ctr">
              <a:lnSpc>
                <a:spcPts val="767"/>
              </a:lnSpc>
              <a:buNone/>
            </a:pPr>
            <a:r>
              <a:rPr lang="de-DE" sz="650" b="0" i="0">
                <a:solidFill>
                  <a:srgbClr val="1A1A1A"/>
                </a:solidFill>
                <a:latin typeface="Arial"/>
              </a:rPr>
              <a:t>Umwelt-, Umfeld-, Markt- und Wettbewerbsanalysen, SWOT, Portfolioanalyse</a:t>
            </a:r>
          </a:p>
        </p:txBody>
      </p:sp>
      <p:sp>
        <p:nvSpPr>
          <p:cNvPr id="8" name="Karte Strategische Planung"/>
          <p:cNvSpPr/>
          <p:nvPr/>
        </p:nvSpPr>
        <p:spPr>
          <a:xfrm>
            <a:off x="2160000" y="324000"/>
            <a:ext cx="1440000" cy="1260000"/>
          </a:xfrm>
          <a:prstGeom prst="roundRect">
            <a:avLst>
              <a:gd name="adj" fmla="val 2286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9" name="Kopf Strategische Planung"/>
          <p:cNvSpPr/>
          <p:nvPr/>
        </p:nvSpPr>
        <p:spPr>
          <a:xfrm>
            <a:off x="2160000" y="324000"/>
            <a:ext cx="14400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8000" bIns="180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Strategische Planung</a:t>
            </a:r>
          </a:p>
        </p:txBody>
      </p:sp>
      <p:sp>
        <p:nvSpPr>
          <p:cNvPr id="10" name="Achse Marktattraktivität"/>
          <p:cNvSpPr txBox="1"/>
          <p:nvPr/>
        </p:nvSpPr>
        <p:spPr>
          <a:xfrm>
            <a:off x="2196000" y="536400"/>
            <a:ext cx="1080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Marktattraktivität</a:t>
            </a:r>
          </a:p>
        </p:txBody>
      </p:sp>
      <p:sp>
        <p:nvSpPr>
          <p:cNvPr id="11" name="Zeile Chance"/>
          <p:cNvSpPr txBox="1"/>
          <p:nvPr/>
        </p:nvSpPr>
        <p:spPr>
          <a:xfrm>
            <a:off x="2170800" y="648000"/>
            <a:ext cx="316800" cy="20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Chance</a:t>
            </a:r>
          </a:p>
        </p:txBody>
      </p:sp>
      <p:sp>
        <p:nvSpPr>
          <p:cNvPr id="12" name="Zeile neutral"/>
          <p:cNvSpPr txBox="1"/>
          <p:nvPr/>
        </p:nvSpPr>
        <p:spPr>
          <a:xfrm>
            <a:off x="2170800" y="856800"/>
            <a:ext cx="316800" cy="20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neutral</a:t>
            </a:r>
          </a:p>
        </p:txBody>
      </p:sp>
      <p:sp>
        <p:nvSpPr>
          <p:cNvPr id="13" name="Zeile Risiko"/>
          <p:cNvSpPr txBox="1"/>
          <p:nvPr/>
        </p:nvSpPr>
        <p:spPr>
          <a:xfrm>
            <a:off x="2170800" y="1065600"/>
            <a:ext cx="316800" cy="20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Risiko</a:t>
            </a:r>
          </a:p>
        </p:txBody>
      </p:sp>
      <p:sp>
        <p:nvSpPr>
          <p:cNvPr id="14" name="Zone Chancen"/>
          <p:cNvSpPr/>
          <p:nvPr/>
        </p:nvSpPr>
        <p:spPr>
          <a:xfrm>
            <a:off x="2505600" y="648000"/>
            <a:ext cx="1036800" cy="626400"/>
          </a:xfrm>
          <a:custGeom>
            <a:avLst/>
            <a:gdLst/>
            <a:ahLst/>
            <a:cxnLst/>
            <a:rect l="l" t="t" r="r" b="b"/>
            <a:pathLst>
              <a:path w="1036800" h="626400">
                <a:moveTo>
                  <a:pt x="0" y="0"/>
                </a:moveTo>
                <a:lnTo>
                  <a:pt x="1036800" y="0"/>
                </a:lnTo>
                <a:lnTo>
                  <a:pt x="1036800" y="626400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Zone Risiken"/>
          <p:cNvSpPr/>
          <p:nvPr/>
        </p:nvSpPr>
        <p:spPr>
          <a:xfrm>
            <a:off x="2505600" y="648000"/>
            <a:ext cx="1036800" cy="626400"/>
          </a:xfrm>
          <a:custGeom>
            <a:avLst/>
            <a:gdLst/>
            <a:ahLst/>
            <a:cxnLst/>
            <a:rect l="l" t="t" r="r" b="b"/>
            <a:pathLst>
              <a:path w="1036800" h="626400">
                <a:moveTo>
                  <a:pt x="0" y="0"/>
                </a:moveTo>
                <a:lnTo>
                  <a:pt x="0" y="626400"/>
                </a:lnTo>
                <a:lnTo>
                  <a:pt x="1036800" y="626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ster"/>
          <p:cNvSpPr/>
          <p:nvPr/>
        </p:nvSpPr>
        <p:spPr>
          <a:xfrm>
            <a:off x="2505600" y="648000"/>
            <a:ext cx="0" cy="626400"/>
          </a:xfrm>
          <a:custGeom>
            <a:avLst/>
            <a:gdLst/>
            <a:ahLst/>
            <a:cxnLst/>
            <a:rect l="l" t="t" r="r" b="b"/>
            <a:pathLst>
              <a:path w="0" h="626400">
                <a:moveTo>
                  <a:pt x="0" y="0"/>
                </a:moveTo>
                <a:lnTo>
                  <a:pt x="0" y="6264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ster"/>
          <p:cNvSpPr/>
          <p:nvPr/>
        </p:nvSpPr>
        <p:spPr>
          <a:xfrm>
            <a:off x="2505600" y="648000"/>
            <a:ext cx="1036800" cy="0"/>
          </a:xfrm>
          <a:custGeom>
            <a:avLst/>
            <a:gdLst/>
            <a:ahLst/>
            <a:cxnLst/>
            <a:rect l="l" t="t" r="r" b="b"/>
            <a:pathLst>
              <a:path w="1036800" h="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ster"/>
          <p:cNvSpPr/>
          <p:nvPr/>
        </p:nvSpPr>
        <p:spPr>
          <a:xfrm>
            <a:off x="2851200" y="648000"/>
            <a:ext cx="0" cy="626400"/>
          </a:xfrm>
          <a:custGeom>
            <a:avLst/>
            <a:gdLst/>
            <a:ahLst/>
            <a:cxnLst/>
            <a:rect l="l" t="t" r="r" b="b"/>
            <a:pathLst>
              <a:path w="0" h="626400">
                <a:moveTo>
                  <a:pt x="0" y="0"/>
                </a:moveTo>
                <a:lnTo>
                  <a:pt x="0" y="6264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ster"/>
          <p:cNvSpPr/>
          <p:nvPr/>
        </p:nvSpPr>
        <p:spPr>
          <a:xfrm>
            <a:off x="2505600" y="856800"/>
            <a:ext cx="1036800" cy="0"/>
          </a:xfrm>
          <a:custGeom>
            <a:avLst/>
            <a:gdLst/>
            <a:ahLst/>
            <a:cxnLst/>
            <a:rect l="l" t="t" r="r" b="b"/>
            <a:pathLst>
              <a:path w="1036800" h="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ster"/>
          <p:cNvSpPr/>
          <p:nvPr/>
        </p:nvSpPr>
        <p:spPr>
          <a:xfrm>
            <a:off x="3196800" y="648000"/>
            <a:ext cx="0" cy="626400"/>
          </a:xfrm>
          <a:custGeom>
            <a:avLst/>
            <a:gdLst/>
            <a:ahLst/>
            <a:cxnLst/>
            <a:rect l="l" t="t" r="r" b="b"/>
            <a:pathLst>
              <a:path w="0" h="626400">
                <a:moveTo>
                  <a:pt x="0" y="0"/>
                </a:moveTo>
                <a:lnTo>
                  <a:pt x="0" y="6264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ster"/>
          <p:cNvSpPr/>
          <p:nvPr/>
        </p:nvSpPr>
        <p:spPr>
          <a:xfrm>
            <a:off x="2505600" y="1065600"/>
            <a:ext cx="1036800" cy="0"/>
          </a:xfrm>
          <a:custGeom>
            <a:avLst/>
            <a:gdLst/>
            <a:ahLst/>
            <a:cxnLst/>
            <a:rect l="l" t="t" r="r" b="b"/>
            <a:pathLst>
              <a:path w="1036800" h="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ster"/>
          <p:cNvSpPr/>
          <p:nvPr/>
        </p:nvSpPr>
        <p:spPr>
          <a:xfrm>
            <a:off x="3542400" y="648000"/>
            <a:ext cx="0" cy="626400"/>
          </a:xfrm>
          <a:custGeom>
            <a:avLst/>
            <a:gdLst/>
            <a:ahLst/>
            <a:cxnLst/>
            <a:rect l="l" t="t" r="r" b="b"/>
            <a:pathLst>
              <a:path w="0" h="626400">
                <a:moveTo>
                  <a:pt x="0" y="0"/>
                </a:moveTo>
                <a:lnTo>
                  <a:pt x="0" y="6264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ster"/>
          <p:cNvSpPr/>
          <p:nvPr/>
        </p:nvSpPr>
        <p:spPr>
          <a:xfrm>
            <a:off x="2505600" y="1274400"/>
            <a:ext cx="1036800" cy="0"/>
          </a:xfrm>
          <a:custGeom>
            <a:avLst/>
            <a:gdLst/>
            <a:ahLst/>
            <a:cxnLst/>
            <a:rect l="l" t="t" r="r" b="b"/>
            <a:pathLst>
              <a:path w="1036800" h="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Diagonale"/>
          <p:cNvSpPr/>
          <p:nvPr/>
        </p:nvSpPr>
        <p:spPr>
          <a:xfrm>
            <a:off x="2505600" y="648000"/>
            <a:ext cx="1036800" cy="626400"/>
          </a:xfrm>
          <a:custGeom>
            <a:avLst/>
            <a:gdLst/>
            <a:ahLst/>
            <a:cxnLst/>
            <a:rect l="l" t="t" r="r" b="b"/>
            <a:pathLst>
              <a:path w="1036800" h="626400">
                <a:moveTo>
                  <a:pt x="0" y="0"/>
                </a:moveTo>
                <a:lnTo>
                  <a:pt x="1036800" y="626400"/>
                </a:lnTo>
              </a:path>
            </a:pathLst>
          </a:custGeom>
          <a:noFill/>
          <a:ln w="7620">
            <a:solidFill>
              <a:srgbClr val="3A3F44"/>
            </a:solidFill>
            <a:prstDash val="sys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hancen"/>
          <p:cNvSpPr txBox="1"/>
          <p:nvPr/>
        </p:nvSpPr>
        <p:spPr>
          <a:xfrm>
            <a:off x="3196800" y="648000"/>
            <a:ext cx="345600" cy="20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Chancen</a:t>
            </a:r>
          </a:p>
        </p:txBody>
      </p:sp>
      <p:sp>
        <p:nvSpPr>
          <p:cNvPr id="26" name="Risiken"/>
          <p:cNvSpPr txBox="1"/>
          <p:nvPr/>
        </p:nvSpPr>
        <p:spPr>
          <a:xfrm>
            <a:off x="2505600" y="1065600"/>
            <a:ext cx="345600" cy="20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Risiken</a:t>
            </a:r>
          </a:p>
        </p:txBody>
      </p:sp>
      <p:sp>
        <p:nvSpPr>
          <p:cNvPr id="27" name="Spalte schwach"/>
          <p:cNvSpPr txBox="1"/>
          <p:nvPr/>
        </p:nvSpPr>
        <p:spPr>
          <a:xfrm>
            <a:off x="2469600" y="1285200"/>
            <a:ext cx="417600" cy="9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schwach</a:t>
            </a:r>
          </a:p>
        </p:txBody>
      </p:sp>
      <p:sp>
        <p:nvSpPr>
          <p:cNvPr id="28" name="Spalte neutral"/>
          <p:cNvSpPr txBox="1"/>
          <p:nvPr/>
        </p:nvSpPr>
        <p:spPr>
          <a:xfrm>
            <a:off x="2815200" y="1285200"/>
            <a:ext cx="417600" cy="9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neutral</a:t>
            </a:r>
          </a:p>
        </p:txBody>
      </p:sp>
      <p:sp>
        <p:nvSpPr>
          <p:cNvPr id="29" name="Spalte stark"/>
          <p:cNvSpPr txBox="1"/>
          <p:nvPr/>
        </p:nvSpPr>
        <p:spPr>
          <a:xfrm>
            <a:off x="3160800" y="1285200"/>
            <a:ext cx="417600" cy="9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stark</a:t>
            </a:r>
          </a:p>
        </p:txBody>
      </p:sp>
      <p:sp>
        <p:nvSpPr>
          <p:cNvPr id="30" name="Achse Wettbewerbsposition"/>
          <p:cNvSpPr txBox="1"/>
          <p:nvPr/>
        </p:nvSpPr>
        <p:spPr>
          <a:xfrm>
            <a:off x="2361600" y="1378800"/>
            <a:ext cx="13248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Relative Wettbewerbsposition</a:t>
            </a:r>
          </a:p>
        </p:txBody>
      </p:sp>
      <p:sp>
        <p:nvSpPr>
          <p:cNvPr id="31" name="Karte Roadmap"/>
          <p:cNvSpPr/>
          <p:nvPr/>
        </p:nvSpPr>
        <p:spPr>
          <a:xfrm>
            <a:off x="936000" y="1008000"/>
            <a:ext cx="1116000" cy="792000"/>
          </a:xfrm>
          <a:prstGeom prst="roundRect">
            <a:avLst>
              <a:gd name="adj" fmla="val 3636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2" name="Kopf Roadmap"/>
          <p:cNvSpPr/>
          <p:nvPr/>
        </p:nvSpPr>
        <p:spPr>
          <a:xfrm>
            <a:off x="936000" y="1008000"/>
            <a:ext cx="11160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C62828"/>
          </a:solidFill>
          <a:ln>
            <a:noFill/>
          </a:ln>
        </p:spPr>
        <p:txBody>
          <a:bodyPr rtlCol="0" anchor="ctr" lIns="57600" rIns="57600" tIns="18000" bIns="180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33" name="Inhalt Roadmap"/>
          <p:cNvSpPr txBox="1"/>
          <p:nvPr/>
        </p:nvSpPr>
        <p:spPr>
          <a:xfrm>
            <a:off x="936000" y="1188000"/>
            <a:ext cx="1116000" cy="612000"/>
          </a:xfrm>
          <a:prstGeom prst="rect">
            <a:avLst/>
          </a:prstGeom>
          <a:noFill/>
        </p:spPr>
        <p:txBody>
          <a:bodyPr wrap="square" lIns="57600" rIns="57600" tIns="36000" bIns="36000" anchor="t">
            <a:noAutofit/>
          </a:bodyPr>
          <a:lstStyle/>
          <a:p>
            <a:pPr algn="l">
              <a:lnSpc>
                <a:spcPts val="637"/>
              </a:lnSpc>
              <a:buNone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Strategische Projekte mit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Status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Zeitplan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Kennzahlen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Zielerreichung</a:t>
            </a:r>
          </a:p>
        </p:txBody>
      </p:sp>
      <p:sp>
        <p:nvSpPr>
          <p:cNvPr id="34" name="Zielvereinbarungen"/>
          <p:cNvSpPr/>
          <p:nvPr/>
        </p:nvSpPr>
        <p:spPr>
          <a:xfrm>
            <a:off x="4302000" y="324000"/>
            <a:ext cx="1267200" cy="21600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Zielvereinbarungen</a:t>
            </a:r>
          </a:p>
        </p:txBody>
      </p:sp>
      <p:sp>
        <p:nvSpPr>
          <p:cNvPr id="35" name="Karte Balanced Chance and Risk Card"/>
          <p:cNvSpPr/>
          <p:nvPr/>
        </p:nvSpPr>
        <p:spPr>
          <a:xfrm>
            <a:off x="4302000" y="1008000"/>
            <a:ext cx="1267200" cy="792000"/>
          </a:xfrm>
          <a:prstGeom prst="roundRect">
            <a:avLst>
              <a:gd name="adj" fmla="val 3636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6" name="Kopf Balanced Chance and Risk Card"/>
          <p:cNvSpPr/>
          <p:nvPr/>
        </p:nvSpPr>
        <p:spPr>
          <a:xfrm>
            <a:off x="4302000" y="1008000"/>
            <a:ext cx="1267200" cy="260790"/>
          </a:xfrm>
          <a:prstGeom prst="round2SameRect">
            <a:avLst>
              <a:gd name="adj1" fmla="val 11043"/>
              <a:gd name="adj2" fmla="val 0"/>
            </a:avLst>
          </a:prstGeom>
          <a:solidFill>
            <a:srgbClr val="C62828"/>
          </a:solidFill>
          <a:ln>
            <a:noFill/>
          </a:ln>
        </p:spPr>
        <p:txBody>
          <a:bodyPr rtlCol="0" anchor="ctr" lIns="57600" rIns="57600" tIns="18000" bIns="180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Balanced Chance and</a:t>
            </a:r>
            <a:br>
              <a:rPr lang="de-DE" sz="750" b="1" i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FFFFFF"/>
                </a:solidFill>
                <a:latin typeface="Arial"/>
              </a:rPr>
              <a:t>Risk Card</a:t>
            </a:r>
          </a:p>
        </p:txBody>
      </p:sp>
      <p:sp>
        <p:nvSpPr>
          <p:cNvPr id="37" name="Inhalt Balanced Chance and Risk Card"/>
          <p:cNvSpPr txBox="1"/>
          <p:nvPr/>
        </p:nvSpPr>
        <p:spPr>
          <a:xfrm>
            <a:off x="4302000" y="1268790"/>
            <a:ext cx="1267200" cy="531210"/>
          </a:xfrm>
          <a:prstGeom prst="rect">
            <a:avLst/>
          </a:prstGeom>
          <a:noFill/>
        </p:spPr>
        <p:txBody>
          <a:bodyPr wrap="square" lIns="57600" rIns="57600" tIns="36000" bIns="36000" anchor="t">
            <a:noAutofit/>
          </a:bodyPr>
          <a:lstStyle/>
          <a:p>
            <a:pPr algn="l">
              <a:lnSpc>
                <a:spcPts val="637"/>
              </a:lnSpc>
              <a:buNone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Strategische Ziele je Perspektive: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Kennzahlen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Strategische Projekte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Chancen</a:t>
            </a:r>
          </a:p>
          <a:p>
            <a:pPr algn="l" marL="79200" indent="-79200">
              <a:lnSpc>
                <a:spcPts val="637"/>
              </a:lnSpc>
              <a:buFont typeface="Arial"/>
              <a:buChar char="–"/>
            </a:pPr>
            <a:r>
              <a:rPr lang="de-DE" sz="540" b="0" i="0">
                <a:solidFill>
                  <a:srgbClr val="1A1A1A"/>
                </a:solidFill>
                <a:latin typeface="Arial"/>
              </a:rPr>
              <a:t>Risiken</a:t>
            </a:r>
          </a:p>
        </p:txBody>
      </p:sp>
      <p:sp>
        <p:nvSpPr>
          <p:cNvPr id="38" name="Zielvereinbarungen–BCR"/>
          <p:cNvSpPr/>
          <p:nvPr/>
        </p:nvSpPr>
        <p:spPr>
          <a:xfrm>
            <a:off x="4935600" y="540000"/>
            <a:ext cx="0" cy="468000"/>
          </a:xfrm>
          <a:custGeom>
            <a:avLst/>
            <a:gdLst/>
            <a:ahLst/>
            <a:cxnLst/>
            <a:rect l="l" t="t" r="r" b="b"/>
            <a:pathLst>
              <a:path w="0" h="468000">
                <a:moveTo>
                  <a:pt x="0" y="0"/>
                </a:moveTo>
                <a:lnTo>
                  <a:pt x="0" y="468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ilpläne"/>
          <p:cNvSpPr/>
          <p:nvPr/>
        </p:nvSpPr>
        <p:spPr>
          <a:xfrm>
            <a:off x="2160000" y="2120400"/>
            <a:ext cx="1965600" cy="1360800"/>
          </a:xfrm>
          <a:prstGeom prst="roundRect">
            <a:avLst>
              <a:gd name="adj" fmla="val 3175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40" name="Absatzplan"/>
          <p:cNvSpPr/>
          <p:nvPr/>
        </p:nvSpPr>
        <p:spPr>
          <a:xfrm>
            <a:off x="2250000" y="2192400"/>
            <a:ext cx="6336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Absatzplan</a:t>
            </a:r>
          </a:p>
        </p:txBody>
      </p:sp>
      <p:sp>
        <p:nvSpPr>
          <p:cNvPr id="41" name="Umsatzplan"/>
          <p:cNvSpPr/>
          <p:nvPr/>
        </p:nvSpPr>
        <p:spPr>
          <a:xfrm>
            <a:off x="2250000" y="2458800"/>
            <a:ext cx="6336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Umsatzplan</a:t>
            </a:r>
          </a:p>
        </p:txBody>
      </p:sp>
      <p:sp>
        <p:nvSpPr>
          <p:cNvPr id="42" name="Ressourcenplan"/>
          <p:cNvSpPr/>
          <p:nvPr/>
        </p:nvSpPr>
        <p:spPr>
          <a:xfrm>
            <a:off x="2250000" y="2725200"/>
            <a:ext cx="6336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Ressourcenplan</a:t>
            </a:r>
          </a:p>
        </p:txBody>
      </p:sp>
      <p:sp>
        <p:nvSpPr>
          <p:cNvPr id="43" name="Personalplan"/>
          <p:cNvSpPr/>
          <p:nvPr/>
        </p:nvSpPr>
        <p:spPr>
          <a:xfrm>
            <a:off x="2250000" y="2991600"/>
            <a:ext cx="6336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Personalplan</a:t>
            </a:r>
          </a:p>
        </p:txBody>
      </p:sp>
      <p:sp>
        <p:nvSpPr>
          <p:cNvPr id="44" name="Kostenplan"/>
          <p:cNvSpPr/>
          <p:nvPr/>
        </p:nvSpPr>
        <p:spPr>
          <a:xfrm>
            <a:off x="2250000" y="3258000"/>
            <a:ext cx="6336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Kostenplan</a:t>
            </a:r>
          </a:p>
        </p:txBody>
      </p:sp>
      <p:sp>
        <p:nvSpPr>
          <p:cNvPr id="45" name="Ergebnisplan"/>
          <p:cNvSpPr/>
          <p:nvPr/>
        </p:nvSpPr>
        <p:spPr>
          <a:xfrm>
            <a:off x="3009600" y="2458800"/>
            <a:ext cx="5256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Ergebnisplan</a:t>
            </a:r>
          </a:p>
        </p:txBody>
      </p:sp>
      <p:sp>
        <p:nvSpPr>
          <p:cNvPr id="46" name="Bilanzplan"/>
          <p:cNvSpPr/>
          <p:nvPr/>
        </p:nvSpPr>
        <p:spPr>
          <a:xfrm>
            <a:off x="3625200" y="2761200"/>
            <a:ext cx="4464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4400" bIns="144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Bilanzplan</a:t>
            </a:r>
          </a:p>
        </p:txBody>
      </p:sp>
      <p:sp>
        <p:nvSpPr>
          <p:cNvPr id="47" name="Teilpläne wechselseitig"/>
          <p:cNvSpPr/>
          <p:nvPr/>
        </p:nvSpPr>
        <p:spPr>
          <a:xfrm>
            <a:off x="2566800" y="2343600"/>
            <a:ext cx="0" cy="115200"/>
          </a:xfrm>
          <a:custGeom>
            <a:avLst/>
            <a:gdLst/>
            <a:ahLst/>
            <a:cxnLst/>
            <a:rect l="l" t="t" r="r" b="b"/>
            <a:pathLst>
              <a:path w="0" h="115200">
                <a:moveTo>
                  <a:pt x="0" y="0"/>
                </a:moveTo>
                <a:lnTo>
                  <a:pt x="0" y="115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ilpläne wechselseitig"/>
          <p:cNvSpPr/>
          <p:nvPr/>
        </p:nvSpPr>
        <p:spPr>
          <a:xfrm>
            <a:off x="2566800" y="2876400"/>
            <a:ext cx="0" cy="115200"/>
          </a:xfrm>
          <a:custGeom>
            <a:avLst/>
            <a:gdLst/>
            <a:ahLst/>
            <a:cxnLst/>
            <a:rect l="l" t="t" r="r" b="b"/>
            <a:pathLst>
              <a:path w="0" h="115200">
                <a:moveTo>
                  <a:pt x="0" y="0"/>
                </a:moveTo>
                <a:lnTo>
                  <a:pt x="0" y="115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ilpläne wechselseitig"/>
          <p:cNvSpPr/>
          <p:nvPr/>
        </p:nvSpPr>
        <p:spPr>
          <a:xfrm>
            <a:off x="2566800" y="3142800"/>
            <a:ext cx="0" cy="115200"/>
          </a:xfrm>
          <a:custGeom>
            <a:avLst/>
            <a:gdLst/>
            <a:ahLst/>
            <a:cxnLst/>
            <a:rect l="l" t="t" r="r" b="b"/>
            <a:pathLst>
              <a:path w="0" h="115200">
                <a:moveTo>
                  <a:pt x="0" y="0"/>
                </a:moveTo>
                <a:lnTo>
                  <a:pt x="0" y="115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Absatz–Ressourcen"/>
          <p:cNvSpPr/>
          <p:nvPr/>
        </p:nvSpPr>
        <p:spPr>
          <a:xfrm>
            <a:off x="2203200" y="2268000"/>
            <a:ext cx="46800" cy="532800"/>
          </a:xfrm>
          <a:custGeom>
            <a:avLst/>
            <a:gdLst/>
            <a:ahLst/>
            <a:cxnLst/>
            <a:rect l="l" t="t" r="r" b="b"/>
            <a:pathLst>
              <a:path w="46800" h="532800">
                <a:moveTo>
                  <a:pt x="46800" y="0"/>
                </a:moveTo>
                <a:lnTo>
                  <a:pt x="0" y="0"/>
                </a:lnTo>
                <a:lnTo>
                  <a:pt x="0" y="532800"/>
                </a:lnTo>
                <a:lnTo>
                  <a:pt x="46800" y="532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Umsatz–Ergebnis"/>
          <p:cNvSpPr/>
          <p:nvPr/>
        </p:nvSpPr>
        <p:spPr>
          <a:xfrm>
            <a:off x="2883600" y="2534400"/>
            <a:ext cx="126000" cy="0"/>
          </a:xfrm>
          <a:custGeom>
            <a:avLst/>
            <a:gdLst/>
            <a:ahLst/>
            <a:cxnLst/>
            <a:rect l="l" t="t" r="r" b="b"/>
            <a:pathLst>
              <a:path w="126000" h="0">
                <a:moveTo>
                  <a:pt x="0" y="0"/>
                </a:moveTo>
                <a:lnTo>
                  <a:pt x="12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ssourcen–Ergebnis"/>
          <p:cNvSpPr/>
          <p:nvPr/>
        </p:nvSpPr>
        <p:spPr>
          <a:xfrm>
            <a:off x="2883600" y="2610000"/>
            <a:ext cx="280800" cy="154800"/>
          </a:xfrm>
          <a:custGeom>
            <a:avLst/>
            <a:gdLst/>
            <a:ahLst/>
            <a:cxnLst/>
            <a:rect l="l" t="t" r="r" b="b"/>
            <a:pathLst>
              <a:path w="280800" h="154800">
                <a:moveTo>
                  <a:pt x="0" y="154800"/>
                </a:moveTo>
                <a:lnTo>
                  <a:pt x="280800" y="154800"/>
                </a:lnTo>
                <a:lnTo>
                  <a:pt x="2808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ssourcen–Bilanz"/>
          <p:cNvSpPr/>
          <p:nvPr/>
        </p:nvSpPr>
        <p:spPr>
          <a:xfrm>
            <a:off x="2883600" y="2836800"/>
            <a:ext cx="741600" cy="0"/>
          </a:xfrm>
          <a:custGeom>
            <a:avLst/>
            <a:gdLst/>
            <a:ahLst/>
            <a:cxnLst/>
            <a:rect l="l" t="t" r="r" b="b"/>
            <a:pathLst>
              <a:path w="741600" h="0">
                <a:moveTo>
                  <a:pt x="0" y="0"/>
                </a:moveTo>
                <a:lnTo>
                  <a:pt x="7416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Kosten–Ergebnis"/>
          <p:cNvSpPr/>
          <p:nvPr/>
        </p:nvSpPr>
        <p:spPr>
          <a:xfrm>
            <a:off x="2883600" y="2610000"/>
            <a:ext cx="496800" cy="723600"/>
          </a:xfrm>
          <a:custGeom>
            <a:avLst/>
            <a:gdLst/>
            <a:ahLst/>
            <a:cxnLst/>
            <a:rect l="l" t="t" r="r" b="b"/>
            <a:pathLst>
              <a:path w="496800" h="723600">
                <a:moveTo>
                  <a:pt x="0" y="723600"/>
                </a:moveTo>
                <a:lnTo>
                  <a:pt x="496800" y="723600"/>
                </a:lnTo>
                <a:lnTo>
                  <a:pt x="4968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rgebnis–Bilanz"/>
          <p:cNvSpPr/>
          <p:nvPr/>
        </p:nvSpPr>
        <p:spPr>
          <a:xfrm>
            <a:off x="3535200" y="2534400"/>
            <a:ext cx="313200" cy="226800"/>
          </a:xfrm>
          <a:custGeom>
            <a:avLst/>
            <a:gdLst/>
            <a:ahLst/>
            <a:cxnLst/>
            <a:rect l="l" t="t" r="r" b="b"/>
            <a:pathLst>
              <a:path w="313200" h="226800">
                <a:moveTo>
                  <a:pt x="0" y="0"/>
                </a:moveTo>
                <a:lnTo>
                  <a:pt x="313200" y="0"/>
                </a:lnTo>
                <a:lnTo>
                  <a:pt x="313200" y="226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Strategische Projekte"/>
          <p:cNvSpPr/>
          <p:nvPr/>
        </p:nvSpPr>
        <p:spPr>
          <a:xfrm>
            <a:off x="1476000" y="720000"/>
            <a:ext cx="684000" cy="288000"/>
          </a:xfrm>
          <a:custGeom>
            <a:avLst/>
            <a:gdLst/>
            <a:ahLst/>
            <a:cxnLst/>
            <a:rect l="l" t="t" r="r" b="b"/>
            <a:pathLst>
              <a:path w="684000" h="288000">
                <a:moveTo>
                  <a:pt x="684000" y="0"/>
                </a:moveTo>
                <a:lnTo>
                  <a:pt x="0" y="0"/>
                </a:lnTo>
                <a:lnTo>
                  <a:pt x="0" y="288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Strategische&#10;Projekte"/>
          <p:cNvSpPr txBox="1"/>
          <p:nvPr/>
        </p:nvSpPr>
        <p:spPr>
          <a:xfrm>
            <a:off x="1497600" y="489600"/>
            <a:ext cx="648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Strategische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Projekte</a:t>
            </a:r>
          </a:p>
        </p:txBody>
      </p:sp>
      <p:sp>
        <p:nvSpPr>
          <p:cNvPr id="58" name="BCR-Card-Forecast"/>
          <p:cNvSpPr/>
          <p:nvPr/>
        </p:nvSpPr>
        <p:spPr>
          <a:xfrm>
            <a:off x="3600000" y="1116000"/>
            <a:ext cx="702000" cy="0"/>
          </a:xfrm>
          <a:custGeom>
            <a:avLst/>
            <a:gdLst/>
            <a:ahLst/>
            <a:cxnLst/>
            <a:rect l="l" t="t" r="r" b="b"/>
            <a:pathLst>
              <a:path w="702000" h="0">
                <a:moveTo>
                  <a:pt x="7020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CR-Card-&#10;Forecast"/>
          <p:cNvSpPr txBox="1"/>
          <p:nvPr/>
        </p:nvSpPr>
        <p:spPr>
          <a:xfrm>
            <a:off x="3686400" y="892800"/>
            <a:ext cx="6012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BCR-Card-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Forecast</a:t>
            </a:r>
          </a:p>
        </p:txBody>
      </p:sp>
      <p:sp>
        <p:nvSpPr>
          <p:cNvPr id="60" name="Strategische Ziele"/>
          <p:cNvSpPr/>
          <p:nvPr/>
        </p:nvSpPr>
        <p:spPr>
          <a:xfrm>
            <a:off x="3600000" y="1260000"/>
            <a:ext cx="702000" cy="0"/>
          </a:xfrm>
          <a:custGeom>
            <a:avLst/>
            <a:gdLst/>
            <a:ahLst/>
            <a:cxnLst/>
            <a:rect l="l" t="t" r="r" b="b"/>
            <a:pathLst>
              <a:path w="702000" h="0">
                <a:moveTo>
                  <a:pt x="0" y="0"/>
                </a:moveTo>
                <a:lnTo>
                  <a:pt x="70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trategische&#10;Ziele/Projekte&#10;so"/>
          <p:cNvSpPr txBox="1"/>
          <p:nvPr/>
        </p:nvSpPr>
        <p:spPr>
          <a:xfrm>
            <a:off x="3636000" y="1278000"/>
            <a:ext cx="651600" cy="4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Strategische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Ziele/Projekte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sowie Vorgaben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für Kennzahlen</a:t>
            </a:r>
          </a:p>
        </p:txBody>
      </p:sp>
      <p:sp>
        <p:nvSpPr>
          <p:cNvPr id="62" name="Roadmap–BCR"/>
          <p:cNvSpPr/>
          <p:nvPr/>
        </p:nvSpPr>
        <p:spPr>
          <a:xfrm>
            <a:off x="2052000" y="1692000"/>
            <a:ext cx="2250000" cy="0"/>
          </a:xfrm>
          <a:custGeom>
            <a:avLst/>
            <a:gdLst/>
            <a:ahLst/>
            <a:cxnLst/>
            <a:rect l="l" t="t" r="r" b="b"/>
            <a:pathLst>
              <a:path w="2250000" h="0">
                <a:moveTo>
                  <a:pt x="0" y="0"/>
                </a:moveTo>
                <a:lnTo>
                  <a:pt x="225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perative Einlastung"/>
          <p:cNvSpPr/>
          <p:nvPr/>
        </p:nvSpPr>
        <p:spPr>
          <a:xfrm>
            <a:off x="1296000" y="1800000"/>
            <a:ext cx="864000" cy="1465200"/>
          </a:xfrm>
          <a:custGeom>
            <a:avLst/>
            <a:gdLst/>
            <a:ahLst/>
            <a:cxnLst/>
            <a:rect l="l" t="t" r="r" b="b"/>
            <a:pathLst>
              <a:path w="864000" h="1465200">
                <a:moveTo>
                  <a:pt x="0" y="0"/>
                </a:moveTo>
                <a:lnTo>
                  <a:pt x="0" y="1465200"/>
                </a:lnTo>
                <a:lnTo>
                  <a:pt x="864000" y="1465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perative&#10;Einlastung&#10;strategis"/>
          <p:cNvSpPr txBox="1"/>
          <p:nvPr/>
        </p:nvSpPr>
        <p:spPr>
          <a:xfrm>
            <a:off x="1317600" y="2617200"/>
            <a:ext cx="828000" cy="630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operative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Einlastung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strategischer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Projekte</a:t>
            </a:r>
          </a:p>
        </p:txBody>
      </p:sp>
      <p:sp>
        <p:nvSpPr>
          <p:cNvPr id="65" name="BCR-Vorgabe"/>
          <p:cNvSpPr/>
          <p:nvPr/>
        </p:nvSpPr>
        <p:spPr>
          <a:xfrm>
            <a:off x="4125600" y="1800000"/>
            <a:ext cx="320400" cy="500400"/>
          </a:xfrm>
          <a:custGeom>
            <a:avLst/>
            <a:gdLst/>
            <a:ahLst/>
            <a:cxnLst/>
            <a:rect l="l" t="t" r="r" b="b"/>
            <a:pathLst>
              <a:path w="320400" h="500400">
                <a:moveTo>
                  <a:pt x="320400" y="0"/>
                </a:moveTo>
                <a:lnTo>
                  <a:pt x="320400" y="500400"/>
                </a:lnTo>
                <a:lnTo>
                  <a:pt x="0" y="5004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CR-Vorgabe"/>
          <p:cNvSpPr txBox="1"/>
          <p:nvPr/>
        </p:nvSpPr>
        <p:spPr>
          <a:xfrm>
            <a:off x="4482000" y="1818000"/>
            <a:ext cx="612000" cy="464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BCR-Vorgabe</a:t>
            </a:r>
          </a:p>
        </p:txBody>
      </p:sp>
      <p:sp>
        <p:nvSpPr>
          <p:cNvPr id="67" name="Gesamtplanung"/>
          <p:cNvSpPr/>
          <p:nvPr/>
        </p:nvSpPr>
        <p:spPr>
          <a:xfrm>
            <a:off x="4125600" y="1800000"/>
            <a:ext cx="968400" cy="1573200"/>
          </a:xfrm>
          <a:custGeom>
            <a:avLst/>
            <a:gdLst/>
            <a:ahLst/>
            <a:cxnLst/>
            <a:rect l="l" t="t" r="r" b="b"/>
            <a:pathLst>
              <a:path w="968400" h="1573200">
                <a:moveTo>
                  <a:pt x="0" y="1573200"/>
                </a:moveTo>
                <a:lnTo>
                  <a:pt x="968400" y="1573200"/>
                </a:lnTo>
                <a:lnTo>
                  <a:pt x="9684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Gesamtplanung&#10;bis zum BCR-Plan"/>
          <p:cNvSpPr txBox="1"/>
          <p:nvPr/>
        </p:nvSpPr>
        <p:spPr>
          <a:xfrm>
            <a:off x="4161600" y="3142800"/>
            <a:ext cx="918000" cy="223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de-DE" sz="650" b="0" i="1">
                <a:solidFill>
                  <a:srgbClr val="1A1A1A"/>
                </a:solidFill>
                <a:latin typeface="Arial"/>
              </a:rPr>
              <a:t>Gesamtplanung</a:t>
            </a:r>
            <a:br>
              <a:rPr lang="de-DE" sz="650" b="0" i="1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50" b="0" i="1">
                <a:solidFill>
                  <a:srgbClr val="1A1A1A"/>
                </a:solidFill>
                <a:latin typeface="Arial"/>
              </a:rPr>
              <a:t>bis zum BCR-Plan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