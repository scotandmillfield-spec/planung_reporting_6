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580000" cy="34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bene Strategische Planung"/>
          <p:cNvSpPr/>
          <p:nvPr/>
        </p:nvSpPr>
        <p:spPr>
          <a:xfrm>
            <a:off x="10800" y="216000"/>
            <a:ext cx="828000" cy="576000"/>
          </a:xfrm>
          <a:prstGeom prst="roundRect">
            <a:avLst>
              <a:gd name="adj" fmla="val 500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(Vision, strategische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Analyse, Grund-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strategien u. a.)</a:t>
            </a:r>
          </a:p>
        </p:txBody>
      </p:sp>
      <p:sp>
        <p:nvSpPr>
          <p:cNvPr id="3" name="Ebene Verzahnung strategis"/>
          <p:cNvSpPr/>
          <p:nvPr/>
        </p:nvSpPr>
        <p:spPr>
          <a:xfrm>
            <a:off x="10800" y="1008000"/>
            <a:ext cx="828000" cy="792000"/>
          </a:xfrm>
          <a:prstGeom prst="roundRect">
            <a:avLst>
              <a:gd name="adj" fmla="val 3636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Verzahnung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und operativ-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taktischer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4" name="Ebene Simulative Planung"/>
          <p:cNvSpPr/>
          <p:nvPr/>
        </p:nvSpPr>
        <p:spPr>
          <a:xfrm>
            <a:off x="10800" y="2304000"/>
            <a:ext cx="828000" cy="720000"/>
          </a:xfrm>
          <a:prstGeom prst="roundRect">
            <a:avLst>
              <a:gd name="adj" fmla="val 400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Simulative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(operative, taktische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und Forecast-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Planung)</a:t>
            </a:r>
          </a:p>
        </p:txBody>
      </p:sp>
      <p:sp>
        <p:nvSpPr>
          <p:cNvPr id="5" name="Ebenen wechselseitig"/>
          <p:cNvSpPr/>
          <p:nvPr/>
        </p:nvSpPr>
        <p:spPr>
          <a:xfrm>
            <a:off x="424800" y="792000"/>
            <a:ext cx="0" cy="216000"/>
          </a:xfrm>
          <a:custGeom>
            <a:avLst/>
            <a:gdLst/>
            <a:ahLst/>
            <a:cxnLst/>
            <a:rect l="l" t="t" r="r" b="b"/>
            <a:pathLst>
              <a:path w="0" h="216000">
                <a:moveTo>
                  <a:pt x="0" y="0"/>
                </a:moveTo>
                <a:lnTo>
                  <a:pt x="0" y="216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Ebenen wechselseitig"/>
          <p:cNvSpPr/>
          <p:nvPr/>
        </p:nvSpPr>
        <p:spPr>
          <a:xfrm>
            <a:off x="424800" y="1800000"/>
            <a:ext cx="0" cy="504000"/>
          </a:xfrm>
          <a:custGeom>
            <a:avLst/>
            <a:gdLst/>
            <a:ahLst/>
            <a:cxnLst/>
            <a:rect l="l" t="t" r="r" b="b"/>
            <a:pathLst>
              <a:path w="0" h="504000">
                <a:moveTo>
                  <a:pt x="0" y="0"/>
                </a:moveTo>
                <a:lnTo>
                  <a:pt x="0" y="50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nstrumente"/>
          <p:cNvSpPr txBox="1"/>
          <p:nvPr/>
        </p:nvSpPr>
        <p:spPr>
          <a:xfrm>
            <a:off x="936000" y="10800"/>
            <a:ext cx="3258000" cy="23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Instrumente u. a.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Umwelt-, Umfeld-, Markt- und Wettbewerbsanalysen, SWOT, Portfolioanalyse</a:t>
            </a:r>
          </a:p>
        </p:txBody>
      </p:sp>
      <p:sp>
        <p:nvSpPr>
          <p:cNvPr id="8" name="Karte Strategische Planung"/>
          <p:cNvSpPr/>
          <p:nvPr/>
        </p:nvSpPr>
        <p:spPr>
          <a:xfrm>
            <a:off x="2160000" y="324000"/>
            <a:ext cx="1440000" cy="1260000"/>
          </a:xfrm>
          <a:prstGeom prst="roundRect">
            <a:avLst>
              <a:gd name="adj" fmla="val 228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9" name="Kopf Strategische Planung"/>
          <p:cNvSpPr/>
          <p:nvPr/>
        </p:nvSpPr>
        <p:spPr>
          <a:xfrm>
            <a:off x="2160000" y="324000"/>
            <a:ext cx="1440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3A3F44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Strategische Planung</a:t>
            </a:r>
          </a:p>
        </p:txBody>
      </p:sp>
      <p:sp>
        <p:nvSpPr>
          <p:cNvPr id="10" name="Achse Marktattraktivität"/>
          <p:cNvSpPr txBox="1"/>
          <p:nvPr/>
        </p:nvSpPr>
        <p:spPr>
          <a:xfrm>
            <a:off x="2196000" y="536400"/>
            <a:ext cx="1080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Marktattraktivität</a:t>
            </a:r>
          </a:p>
        </p:txBody>
      </p:sp>
      <p:sp>
        <p:nvSpPr>
          <p:cNvPr id="11" name="Zeile Chance"/>
          <p:cNvSpPr txBox="1"/>
          <p:nvPr/>
        </p:nvSpPr>
        <p:spPr>
          <a:xfrm>
            <a:off x="2170800" y="6480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</a:t>
            </a:r>
          </a:p>
        </p:txBody>
      </p:sp>
      <p:sp>
        <p:nvSpPr>
          <p:cNvPr id="12" name="Zeile neutral"/>
          <p:cNvSpPr txBox="1"/>
          <p:nvPr/>
        </p:nvSpPr>
        <p:spPr>
          <a:xfrm>
            <a:off x="2170800" y="8568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13" name="Zeile Risiko"/>
          <p:cNvSpPr txBox="1"/>
          <p:nvPr/>
        </p:nvSpPr>
        <p:spPr>
          <a:xfrm>
            <a:off x="2170800" y="10656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Risiko</a:t>
            </a:r>
          </a:p>
        </p:txBody>
      </p:sp>
      <p:sp>
        <p:nvSpPr>
          <p:cNvPr id="14" name="Zone Chanc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Zone Risik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0" y="62640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ster"/>
          <p:cNvSpPr/>
          <p:nvPr/>
        </p:nvSpPr>
        <p:spPr>
          <a:xfrm>
            <a:off x="25056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ster"/>
          <p:cNvSpPr/>
          <p:nvPr/>
        </p:nvSpPr>
        <p:spPr>
          <a:xfrm>
            <a:off x="2505600" y="6480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ster"/>
          <p:cNvSpPr/>
          <p:nvPr/>
        </p:nvSpPr>
        <p:spPr>
          <a:xfrm>
            <a:off x="28512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ster"/>
          <p:cNvSpPr/>
          <p:nvPr/>
        </p:nvSpPr>
        <p:spPr>
          <a:xfrm>
            <a:off x="2505600" y="8568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ster"/>
          <p:cNvSpPr/>
          <p:nvPr/>
        </p:nvSpPr>
        <p:spPr>
          <a:xfrm>
            <a:off x="31968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ster"/>
          <p:cNvSpPr/>
          <p:nvPr/>
        </p:nvSpPr>
        <p:spPr>
          <a:xfrm>
            <a:off x="2505600" y="10656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ster"/>
          <p:cNvSpPr/>
          <p:nvPr/>
        </p:nvSpPr>
        <p:spPr>
          <a:xfrm>
            <a:off x="35424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ster"/>
          <p:cNvSpPr/>
          <p:nvPr/>
        </p:nvSpPr>
        <p:spPr>
          <a:xfrm>
            <a:off x="2505600" y="12744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Diagonale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626400"/>
                </a:lnTo>
              </a:path>
            </a:pathLst>
          </a:custGeom>
          <a:noFill/>
          <a:ln w="7620">
            <a:solidFill>
              <a:srgbClr val="3A3F44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ancen"/>
          <p:cNvSpPr txBox="1"/>
          <p:nvPr/>
        </p:nvSpPr>
        <p:spPr>
          <a:xfrm>
            <a:off x="3196800" y="6480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Chancen</a:t>
            </a:r>
          </a:p>
        </p:txBody>
      </p:sp>
      <p:sp>
        <p:nvSpPr>
          <p:cNvPr id="26" name="Risiken"/>
          <p:cNvSpPr txBox="1"/>
          <p:nvPr/>
        </p:nvSpPr>
        <p:spPr>
          <a:xfrm>
            <a:off x="2505600" y="10656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Risiken</a:t>
            </a:r>
          </a:p>
        </p:txBody>
      </p:sp>
      <p:sp>
        <p:nvSpPr>
          <p:cNvPr id="27" name="Spalte schwach"/>
          <p:cNvSpPr txBox="1"/>
          <p:nvPr/>
        </p:nvSpPr>
        <p:spPr>
          <a:xfrm>
            <a:off x="24696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schwach</a:t>
            </a:r>
          </a:p>
        </p:txBody>
      </p:sp>
      <p:sp>
        <p:nvSpPr>
          <p:cNvPr id="28" name="Spalte neutral"/>
          <p:cNvSpPr txBox="1"/>
          <p:nvPr/>
        </p:nvSpPr>
        <p:spPr>
          <a:xfrm>
            <a:off x="28152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29" name="Spalte stark"/>
          <p:cNvSpPr txBox="1"/>
          <p:nvPr/>
        </p:nvSpPr>
        <p:spPr>
          <a:xfrm>
            <a:off x="31608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stark</a:t>
            </a:r>
          </a:p>
        </p:txBody>
      </p:sp>
      <p:sp>
        <p:nvSpPr>
          <p:cNvPr id="30" name="Achse Wettbewerbsposition"/>
          <p:cNvSpPr txBox="1"/>
          <p:nvPr/>
        </p:nvSpPr>
        <p:spPr>
          <a:xfrm>
            <a:off x="2361600" y="1378800"/>
            <a:ext cx="13248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Relative Wettbewerbsposition</a:t>
            </a:r>
          </a:p>
        </p:txBody>
      </p:sp>
      <p:sp>
        <p:nvSpPr>
          <p:cNvPr id="31" name="Karte Roadmap"/>
          <p:cNvSpPr/>
          <p:nvPr/>
        </p:nvSpPr>
        <p:spPr>
          <a:xfrm>
            <a:off x="936000" y="1008000"/>
            <a:ext cx="1116000" cy="792000"/>
          </a:xfrm>
          <a:prstGeom prst="roundRect">
            <a:avLst>
              <a:gd name="adj" fmla="val 363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2" name="Kopf Roadmap"/>
          <p:cNvSpPr/>
          <p:nvPr/>
        </p:nvSpPr>
        <p:spPr>
          <a:xfrm>
            <a:off x="936000" y="1008000"/>
            <a:ext cx="1116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3A3F44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Roadmap</a:t>
            </a:r>
          </a:p>
        </p:txBody>
      </p:sp>
      <p:sp>
        <p:nvSpPr>
          <p:cNvPr id="33" name="Inhalt Roadmap"/>
          <p:cNvSpPr txBox="1"/>
          <p:nvPr/>
        </p:nvSpPr>
        <p:spPr>
          <a:xfrm>
            <a:off x="936000" y="1188000"/>
            <a:ext cx="1116000" cy="612000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 Projekte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mit Status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Zeitplan: Planung,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Umsetzung,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Durchführung</a:t>
            </a:r>
          </a:p>
        </p:txBody>
      </p:sp>
      <p:sp>
        <p:nvSpPr>
          <p:cNvPr id="34" name="Zielvereinbarungen"/>
          <p:cNvSpPr/>
          <p:nvPr/>
        </p:nvSpPr>
        <p:spPr>
          <a:xfrm>
            <a:off x="4302000" y="21600"/>
            <a:ext cx="12672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Zielvereinbarungen</a:t>
            </a:r>
          </a:p>
        </p:txBody>
      </p:sp>
      <p:sp>
        <p:nvSpPr>
          <p:cNvPr id="35" name="Karte Balanced Chance and Risk Card"/>
          <p:cNvSpPr/>
          <p:nvPr/>
        </p:nvSpPr>
        <p:spPr>
          <a:xfrm>
            <a:off x="4302000" y="558000"/>
            <a:ext cx="1267200" cy="1278000"/>
          </a:xfrm>
          <a:prstGeom prst="roundRect">
            <a:avLst>
              <a:gd name="adj" fmla="val 227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6" name="Kopf Balanced Chance and Risk Card"/>
          <p:cNvSpPr/>
          <p:nvPr/>
        </p:nvSpPr>
        <p:spPr>
          <a:xfrm>
            <a:off x="4302000" y="558000"/>
            <a:ext cx="1267200" cy="260790"/>
          </a:xfrm>
          <a:prstGeom prst="round2SameRect">
            <a:avLst>
              <a:gd name="adj1" fmla="val 11043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Balanced Chance and</a:t>
            </a:r>
            <a:br>
              <a:rPr lang="de-DE" sz="75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FFFFFF"/>
                </a:solidFill>
                <a:latin typeface="Arial"/>
              </a:rPr>
              <a:t>Risk Card</a:t>
            </a:r>
          </a:p>
        </p:txBody>
      </p:sp>
      <p:sp>
        <p:nvSpPr>
          <p:cNvPr id="37" name="Inhalt Balanced Chance and Risk Card"/>
          <p:cNvSpPr txBox="1"/>
          <p:nvPr/>
        </p:nvSpPr>
        <p:spPr>
          <a:xfrm>
            <a:off x="4302000" y="818790"/>
            <a:ext cx="1267200" cy="1017210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Internes Reporting</a:t>
            </a:r>
            <a:br>
              <a:rPr lang="de-DE" sz="65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1" i="0">
                <a:solidFill>
                  <a:srgbClr val="1A1A1A"/>
                </a:solidFill>
                <a:latin typeface="Arial"/>
              </a:rPr>
              <a:t>(Kennzahlen und Berichte)</a:t>
            </a:r>
          </a:p>
          <a:p>
            <a:pPr algn="l" marL="79200" indent="-79200">
              <a:lnSpc>
                <a:spcPts val="767"/>
              </a:lnSpc>
              <a:spcBef>
                <a:spcPts val="200"/>
              </a:spcBef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 Ziele und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Kennzahlen je Perspektive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Vorjahr, Forecast und Plan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Strategische Projekte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Chancen und Risiken mit</a:t>
            </a:r>
            <a:br>
              <a:rPr lang="de-DE" sz="65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0">
                <a:solidFill>
                  <a:srgbClr val="1A1A1A"/>
                </a:solidFill>
                <a:latin typeface="Arial"/>
              </a:rPr>
              <a:t>Bewertung</a:t>
            </a:r>
          </a:p>
        </p:txBody>
      </p:sp>
      <p:sp>
        <p:nvSpPr>
          <p:cNvPr id="38" name="Zielvereinbarungen–BCR"/>
          <p:cNvSpPr/>
          <p:nvPr/>
        </p:nvSpPr>
        <p:spPr>
          <a:xfrm>
            <a:off x="4935600" y="237600"/>
            <a:ext cx="0" cy="320400"/>
          </a:xfrm>
          <a:custGeom>
            <a:avLst/>
            <a:gdLst/>
            <a:ahLst/>
            <a:cxnLst/>
            <a:rect l="l" t="t" r="r" b="b"/>
            <a:pathLst>
              <a:path w="0" h="320400">
                <a:moveTo>
                  <a:pt x="0" y="0"/>
                </a:moveTo>
                <a:lnTo>
                  <a:pt x="0" y="3204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Externes Reporting"/>
          <p:cNvSpPr/>
          <p:nvPr/>
        </p:nvSpPr>
        <p:spPr>
          <a:xfrm>
            <a:off x="4698000" y="2268000"/>
            <a:ext cx="871200" cy="566831"/>
          </a:xfrm>
          <a:prstGeom prst="roundRect">
            <a:avLst>
              <a:gd name="adj" fmla="val 508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Externes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Reporting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Jahresabschluss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Bankenreporting</a:t>
            </a:r>
          </a:p>
          <a:p>
            <a:pPr algn="l" marL="79200" indent="-79200">
              <a:lnSpc>
                <a:spcPts val="767"/>
              </a:lnSpc>
              <a:buFont typeface="Arial"/>
              <a:buChar char="•"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Rating</a:t>
            </a:r>
          </a:p>
        </p:txBody>
      </p:sp>
      <p:sp>
        <p:nvSpPr>
          <p:cNvPr id="40" name="Internes–Externes Reporting"/>
          <p:cNvSpPr/>
          <p:nvPr/>
        </p:nvSpPr>
        <p:spPr>
          <a:xfrm>
            <a:off x="5133600" y="1836000"/>
            <a:ext cx="0" cy="432000"/>
          </a:xfrm>
          <a:custGeom>
            <a:avLst/>
            <a:gdLst/>
            <a:ahLst/>
            <a:cxnLst/>
            <a:rect l="l" t="t" r="r" b="b"/>
            <a:pathLst>
              <a:path w="0" h="432000">
                <a:moveTo>
                  <a:pt x="0" y="0"/>
                </a:moveTo>
                <a:lnTo>
                  <a:pt x="0" y="432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ilpläne"/>
          <p:cNvSpPr/>
          <p:nvPr/>
        </p:nvSpPr>
        <p:spPr>
          <a:xfrm>
            <a:off x="2160000" y="1944000"/>
            <a:ext cx="1440000" cy="1508148"/>
          </a:xfrm>
          <a:prstGeom prst="roundRect">
            <a:avLst>
              <a:gd name="adj" fmla="val 3000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42" name="Absatz- und Produktionsplanung"/>
          <p:cNvSpPr/>
          <p:nvPr/>
        </p:nvSpPr>
        <p:spPr>
          <a:xfrm>
            <a:off x="2250000" y="2016000"/>
            <a:ext cx="633600" cy="298548"/>
          </a:xfrm>
          <a:prstGeom prst="roundRect">
            <a:avLst>
              <a:gd name="adj" fmla="val 96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Absatz- und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Produktions-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43" name="Umsatzplan"/>
          <p:cNvSpPr/>
          <p:nvPr/>
        </p:nvSpPr>
        <p:spPr>
          <a:xfrm>
            <a:off x="2250000" y="2429748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Umsatzplan</a:t>
            </a:r>
          </a:p>
        </p:txBody>
      </p:sp>
      <p:sp>
        <p:nvSpPr>
          <p:cNvPr id="44" name="Ressourcenplan"/>
          <p:cNvSpPr/>
          <p:nvPr/>
        </p:nvSpPr>
        <p:spPr>
          <a:xfrm>
            <a:off x="2250000" y="2696148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Ressourcenplan</a:t>
            </a:r>
          </a:p>
        </p:txBody>
      </p:sp>
      <p:sp>
        <p:nvSpPr>
          <p:cNvPr id="45" name="Personalplan"/>
          <p:cNvSpPr/>
          <p:nvPr/>
        </p:nvSpPr>
        <p:spPr>
          <a:xfrm>
            <a:off x="2250000" y="2962548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Personalplan</a:t>
            </a:r>
          </a:p>
        </p:txBody>
      </p:sp>
      <p:sp>
        <p:nvSpPr>
          <p:cNvPr id="46" name="Kostenplan"/>
          <p:cNvSpPr/>
          <p:nvPr/>
        </p:nvSpPr>
        <p:spPr>
          <a:xfrm>
            <a:off x="2250000" y="3228948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Kostenplan</a:t>
            </a:r>
          </a:p>
        </p:txBody>
      </p:sp>
      <p:sp>
        <p:nvSpPr>
          <p:cNvPr id="47" name="Ergebnisplan"/>
          <p:cNvSpPr/>
          <p:nvPr/>
        </p:nvSpPr>
        <p:spPr>
          <a:xfrm>
            <a:off x="3045600" y="2429748"/>
            <a:ext cx="525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Ergebnisplan</a:t>
            </a:r>
          </a:p>
        </p:txBody>
      </p:sp>
      <p:sp>
        <p:nvSpPr>
          <p:cNvPr id="48" name="Bilanzplan"/>
          <p:cNvSpPr/>
          <p:nvPr/>
        </p:nvSpPr>
        <p:spPr>
          <a:xfrm>
            <a:off x="3045600" y="2696148"/>
            <a:ext cx="525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Bilanzplan</a:t>
            </a:r>
          </a:p>
        </p:txBody>
      </p:sp>
      <p:sp>
        <p:nvSpPr>
          <p:cNvPr id="49" name="Teilpläne wechselseitig"/>
          <p:cNvSpPr/>
          <p:nvPr/>
        </p:nvSpPr>
        <p:spPr>
          <a:xfrm>
            <a:off x="2566800" y="2314548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ilpläne wechselseitig"/>
          <p:cNvSpPr/>
          <p:nvPr/>
        </p:nvSpPr>
        <p:spPr>
          <a:xfrm>
            <a:off x="2566800" y="2847348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ilpläne wechselseitig"/>
          <p:cNvSpPr/>
          <p:nvPr/>
        </p:nvSpPr>
        <p:spPr>
          <a:xfrm>
            <a:off x="2566800" y="3113748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Ergebnis–Bilanz"/>
          <p:cNvSpPr/>
          <p:nvPr/>
        </p:nvSpPr>
        <p:spPr>
          <a:xfrm>
            <a:off x="3308400" y="2580948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Umsatz–Ergebnis"/>
          <p:cNvSpPr/>
          <p:nvPr/>
        </p:nvSpPr>
        <p:spPr>
          <a:xfrm>
            <a:off x="2883600" y="2505348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ssourcen–Bilanz"/>
          <p:cNvSpPr/>
          <p:nvPr/>
        </p:nvSpPr>
        <p:spPr>
          <a:xfrm>
            <a:off x="2883600" y="2771748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ammelleitung"/>
          <p:cNvSpPr/>
          <p:nvPr/>
        </p:nvSpPr>
        <p:spPr>
          <a:xfrm>
            <a:off x="2964600" y="2505348"/>
            <a:ext cx="0" cy="266400"/>
          </a:xfrm>
          <a:custGeom>
            <a:avLst/>
            <a:gdLst/>
            <a:ahLst/>
            <a:cxnLst/>
            <a:rect l="l" t="t" r="r" b="b"/>
            <a:pathLst>
              <a:path w="0" h="266400">
                <a:moveTo>
                  <a:pt x="0" y="0"/>
                </a:moveTo>
                <a:lnTo>
                  <a:pt x="0" y="2664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Knoten"/>
          <p:cNvSpPr/>
          <p:nvPr/>
        </p:nvSpPr>
        <p:spPr>
          <a:xfrm>
            <a:off x="2948400" y="2489148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Knoten"/>
          <p:cNvSpPr/>
          <p:nvPr/>
        </p:nvSpPr>
        <p:spPr>
          <a:xfrm>
            <a:off x="2948400" y="2755548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Kosten–Bilanz"/>
          <p:cNvSpPr/>
          <p:nvPr/>
        </p:nvSpPr>
        <p:spPr>
          <a:xfrm>
            <a:off x="2883600" y="2847348"/>
            <a:ext cx="424800" cy="457200"/>
          </a:xfrm>
          <a:custGeom>
            <a:avLst/>
            <a:gdLst/>
            <a:ahLst/>
            <a:cxnLst/>
            <a:rect l="l" t="t" r="r" b="b"/>
            <a:pathLst>
              <a:path w="424800" h="457200">
                <a:moveTo>
                  <a:pt x="0" y="457200"/>
                </a:moveTo>
                <a:lnTo>
                  <a:pt x="424800" y="457200"/>
                </a:lnTo>
                <a:lnTo>
                  <a:pt x="424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Absatz/Produktion–Ressourcen"/>
          <p:cNvSpPr/>
          <p:nvPr/>
        </p:nvSpPr>
        <p:spPr>
          <a:xfrm>
            <a:off x="2203200" y="2165274"/>
            <a:ext cx="46800" cy="606474"/>
          </a:xfrm>
          <a:custGeom>
            <a:avLst/>
            <a:gdLst/>
            <a:ahLst/>
            <a:cxnLst/>
            <a:rect l="l" t="t" r="r" b="b"/>
            <a:pathLst>
              <a:path w="46800" h="606474">
                <a:moveTo>
                  <a:pt x="46800" y="0"/>
                </a:moveTo>
                <a:lnTo>
                  <a:pt x="0" y="0"/>
                </a:lnTo>
                <a:lnTo>
                  <a:pt x="0" y="606474"/>
                </a:lnTo>
                <a:lnTo>
                  <a:pt x="46800" y="60647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Strategische Projekte"/>
          <p:cNvSpPr/>
          <p:nvPr/>
        </p:nvSpPr>
        <p:spPr>
          <a:xfrm>
            <a:off x="1476000" y="720000"/>
            <a:ext cx="684000" cy="288000"/>
          </a:xfrm>
          <a:custGeom>
            <a:avLst/>
            <a:gdLst/>
            <a:ahLst/>
            <a:cxnLst/>
            <a:rect l="l" t="t" r="r" b="b"/>
            <a:pathLst>
              <a:path w="684000" h="288000">
                <a:moveTo>
                  <a:pt x="684000" y="0"/>
                </a:moveTo>
                <a:lnTo>
                  <a:pt x="0" y="0"/>
                </a:lnTo>
                <a:lnTo>
                  <a:pt x="0" y="28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trategische&#10;Projekte"/>
          <p:cNvSpPr txBox="1"/>
          <p:nvPr/>
        </p:nvSpPr>
        <p:spPr>
          <a:xfrm>
            <a:off x="1497600" y="489600"/>
            <a:ext cx="6480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62" name="BCR-Card-Forecast"/>
          <p:cNvSpPr/>
          <p:nvPr/>
        </p:nvSpPr>
        <p:spPr>
          <a:xfrm>
            <a:off x="3600000" y="756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7020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BCR-Card-&#10;Forecast"/>
          <p:cNvSpPr txBox="1"/>
          <p:nvPr/>
        </p:nvSpPr>
        <p:spPr>
          <a:xfrm>
            <a:off x="3686400" y="532800"/>
            <a:ext cx="6012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BCR-Card-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Forecast</a:t>
            </a:r>
          </a:p>
        </p:txBody>
      </p:sp>
      <p:sp>
        <p:nvSpPr>
          <p:cNvPr id="64" name="Strategische Ziele"/>
          <p:cNvSpPr/>
          <p:nvPr/>
        </p:nvSpPr>
        <p:spPr>
          <a:xfrm>
            <a:off x="3600000" y="1188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0" y="0"/>
                </a:moveTo>
                <a:lnTo>
                  <a:pt x="70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Strategische&#10;Ziele/Projekte&#10;so"/>
          <p:cNvSpPr txBox="1"/>
          <p:nvPr/>
        </p:nvSpPr>
        <p:spPr>
          <a:xfrm>
            <a:off x="3636000" y="1206000"/>
            <a:ext cx="651600" cy="4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Ziele/Projekte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sowie Vorgaben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für Kennzahlen</a:t>
            </a:r>
          </a:p>
        </p:txBody>
      </p:sp>
      <p:sp>
        <p:nvSpPr>
          <p:cNvPr id="66" name="Roadmap–BCR"/>
          <p:cNvSpPr/>
          <p:nvPr/>
        </p:nvSpPr>
        <p:spPr>
          <a:xfrm>
            <a:off x="2052000" y="1674000"/>
            <a:ext cx="2250000" cy="0"/>
          </a:xfrm>
          <a:custGeom>
            <a:avLst/>
            <a:gdLst/>
            <a:ahLst/>
            <a:cxnLst/>
            <a:rect l="l" t="t" r="r" b="b"/>
            <a:pathLst>
              <a:path w="2250000" h="0">
                <a:moveTo>
                  <a:pt x="0" y="0"/>
                </a:moveTo>
                <a:lnTo>
                  <a:pt x="2250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perative Einlastung"/>
          <p:cNvSpPr/>
          <p:nvPr/>
        </p:nvSpPr>
        <p:spPr>
          <a:xfrm>
            <a:off x="1296000" y="1800000"/>
            <a:ext cx="864000" cy="1224000"/>
          </a:xfrm>
          <a:custGeom>
            <a:avLst/>
            <a:gdLst/>
            <a:ahLst/>
            <a:cxnLst/>
            <a:rect l="l" t="t" r="r" b="b"/>
            <a:pathLst>
              <a:path w="864000" h="1224000">
                <a:moveTo>
                  <a:pt x="0" y="0"/>
                </a:moveTo>
                <a:lnTo>
                  <a:pt x="0" y="1224000"/>
                </a:lnTo>
                <a:lnTo>
                  <a:pt x="864000" y="122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perative&#10;Einlastung&#10;strategis"/>
          <p:cNvSpPr txBox="1"/>
          <p:nvPr/>
        </p:nvSpPr>
        <p:spPr>
          <a:xfrm>
            <a:off x="1317600" y="2376000"/>
            <a:ext cx="828000" cy="630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operative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Einlastung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69" name="BCR-Vorgabe"/>
          <p:cNvSpPr/>
          <p:nvPr/>
        </p:nvSpPr>
        <p:spPr>
          <a:xfrm>
            <a:off x="3600000" y="1836000"/>
            <a:ext cx="810000" cy="324000"/>
          </a:xfrm>
          <a:custGeom>
            <a:avLst/>
            <a:gdLst/>
            <a:ahLst/>
            <a:cxnLst/>
            <a:rect l="l" t="t" r="r" b="b"/>
            <a:pathLst>
              <a:path w="810000" h="324000">
                <a:moveTo>
                  <a:pt x="810000" y="0"/>
                </a:moveTo>
                <a:lnTo>
                  <a:pt x="810000" y="324000"/>
                </a:lnTo>
                <a:lnTo>
                  <a:pt x="0" y="32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BCR-Vorgabe"/>
          <p:cNvSpPr txBox="1"/>
          <p:nvPr/>
        </p:nvSpPr>
        <p:spPr>
          <a:xfrm>
            <a:off x="3686400" y="2030400"/>
            <a:ext cx="709200" cy="122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BCR-Vorgabe</a:t>
            </a:r>
          </a:p>
        </p:txBody>
      </p:sp>
      <p:sp>
        <p:nvSpPr>
          <p:cNvPr id="71" name="Gesamtplanung"/>
          <p:cNvSpPr/>
          <p:nvPr/>
        </p:nvSpPr>
        <p:spPr>
          <a:xfrm>
            <a:off x="3600000" y="1836000"/>
            <a:ext cx="972000" cy="1332000"/>
          </a:xfrm>
          <a:custGeom>
            <a:avLst/>
            <a:gdLst/>
            <a:ahLst/>
            <a:cxnLst/>
            <a:rect l="l" t="t" r="r" b="b"/>
            <a:pathLst>
              <a:path w="972000" h="1332000">
                <a:moveTo>
                  <a:pt x="0" y="1332000"/>
                </a:moveTo>
                <a:lnTo>
                  <a:pt x="972000" y="1332000"/>
                </a:lnTo>
                <a:lnTo>
                  <a:pt x="97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Gesamtplanung&#10;bis zum BCR-Plan"/>
          <p:cNvSpPr txBox="1"/>
          <p:nvPr/>
        </p:nvSpPr>
        <p:spPr>
          <a:xfrm>
            <a:off x="3636000" y="2937600"/>
            <a:ext cx="921600" cy="223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Gesamtplanung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bis zum BCR-Plan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