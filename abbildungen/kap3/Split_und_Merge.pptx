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198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ürfel oben"/>
          <p:cNvSpPr/>
          <p:nvPr/>
        </p:nvSpPr>
        <p:spPr>
          <a:xfrm>
            <a:off x="540000" y="614057"/>
            <a:ext cx="905143" cy="213943"/>
          </a:xfrm>
          <a:custGeom>
            <a:avLst/>
            <a:gdLst/>
            <a:ahLst/>
            <a:cxnLst/>
            <a:rect l="l" t="t" r="r" b="b"/>
            <a:pathLst>
              <a:path w="905143" h="213943">
                <a:moveTo>
                  <a:pt x="0" y="213943"/>
                </a:moveTo>
                <a:lnTo>
                  <a:pt x="576000" y="213943"/>
                </a:lnTo>
                <a:lnTo>
                  <a:pt x="905143" y="0"/>
                </a:lnTo>
                <a:lnTo>
                  <a:pt x="329143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Würfel rechts"/>
          <p:cNvSpPr/>
          <p:nvPr/>
        </p:nvSpPr>
        <p:spPr>
          <a:xfrm>
            <a:off x="1116000" y="614057"/>
            <a:ext cx="329143" cy="933943"/>
          </a:xfrm>
          <a:custGeom>
            <a:avLst/>
            <a:gdLst/>
            <a:ahLst/>
            <a:cxnLst/>
            <a:rect l="l" t="t" r="r" b="b"/>
            <a:pathLst>
              <a:path w="329143" h="933943">
                <a:moveTo>
                  <a:pt x="0" y="213943"/>
                </a:moveTo>
                <a:lnTo>
                  <a:pt x="329143" y="0"/>
                </a:lnTo>
                <a:lnTo>
                  <a:pt x="329143" y="720000"/>
                </a:lnTo>
                <a:lnTo>
                  <a:pt x="0" y="933943"/>
                </a:lnTo>
                <a:close/>
              </a:path>
            </a:pathLst>
          </a:custGeom>
          <a:solidFill>
            <a:srgbClr val="CFCF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ürfel vorn"/>
          <p:cNvSpPr/>
          <p:nvPr/>
        </p:nvSpPr>
        <p:spPr>
          <a:xfrm>
            <a:off x="540000" y="828000"/>
            <a:ext cx="576000" cy="720000"/>
          </a:xfrm>
          <a:custGeom>
            <a:avLst/>
            <a:gdLst/>
            <a:ahLst/>
            <a:cxnLst/>
            <a:rect l="l" t="t" r="r" b="b"/>
            <a:pathLst>
              <a:path w="576000" h="720000">
                <a:moveTo>
                  <a:pt x="0" y="0"/>
                </a:moveTo>
                <a:lnTo>
                  <a:pt x="576000" y="0"/>
                </a:lnTo>
                <a:lnTo>
                  <a:pt x="576000" y="720000"/>
                </a:lnTo>
                <a:lnTo>
                  <a:pt x="0" y="7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ürfel Raster vorn"/>
          <p:cNvSpPr/>
          <p:nvPr/>
        </p:nvSpPr>
        <p:spPr>
          <a:xfrm>
            <a:off x="684000" y="828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ürfel Raster vorn"/>
          <p:cNvSpPr/>
          <p:nvPr/>
        </p:nvSpPr>
        <p:spPr>
          <a:xfrm>
            <a:off x="828000" y="828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ürfel Raster vorn"/>
          <p:cNvSpPr/>
          <p:nvPr/>
        </p:nvSpPr>
        <p:spPr>
          <a:xfrm>
            <a:off x="972000" y="828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ürfel Raster vorn"/>
          <p:cNvSpPr/>
          <p:nvPr/>
        </p:nvSpPr>
        <p:spPr>
          <a:xfrm>
            <a:off x="540000" y="972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Würfel Raster vorn"/>
          <p:cNvSpPr/>
          <p:nvPr/>
        </p:nvSpPr>
        <p:spPr>
          <a:xfrm>
            <a:off x="540000" y="1116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Würfel Raster vorn"/>
          <p:cNvSpPr/>
          <p:nvPr/>
        </p:nvSpPr>
        <p:spPr>
          <a:xfrm>
            <a:off x="540000" y="1260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Würfel Raster vorn"/>
          <p:cNvSpPr/>
          <p:nvPr/>
        </p:nvSpPr>
        <p:spPr>
          <a:xfrm>
            <a:off x="540000" y="1404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Würfel Raster oben"/>
          <p:cNvSpPr/>
          <p:nvPr/>
        </p:nvSpPr>
        <p:spPr>
          <a:xfrm>
            <a:off x="684000" y="614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ürfel Raster oben"/>
          <p:cNvSpPr/>
          <p:nvPr/>
        </p:nvSpPr>
        <p:spPr>
          <a:xfrm>
            <a:off x="828000" y="614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Würfel Raster oben"/>
          <p:cNvSpPr/>
          <p:nvPr/>
        </p:nvSpPr>
        <p:spPr>
          <a:xfrm>
            <a:off x="972000" y="614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Würfel Raster oben"/>
          <p:cNvSpPr/>
          <p:nvPr/>
        </p:nvSpPr>
        <p:spPr>
          <a:xfrm>
            <a:off x="622286" y="774514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Würfel Raster oben"/>
          <p:cNvSpPr/>
          <p:nvPr/>
        </p:nvSpPr>
        <p:spPr>
          <a:xfrm>
            <a:off x="704571" y="721029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Würfel Raster oben"/>
          <p:cNvSpPr/>
          <p:nvPr/>
        </p:nvSpPr>
        <p:spPr>
          <a:xfrm>
            <a:off x="786857" y="667543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Würfel Raster rechts"/>
          <p:cNvSpPr/>
          <p:nvPr/>
        </p:nvSpPr>
        <p:spPr>
          <a:xfrm>
            <a:off x="1116000" y="758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Würfel Raster rechts"/>
          <p:cNvSpPr/>
          <p:nvPr/>
        </p:nvSpPr>
        <p:spPr>
          <a:xfrm>
            <a:off x="1116000" y="902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ürfel Raster rechts"/>
          <p:cNvSpPr/>
          <p:nvPr/>
        </p:nvSpPr>
        <p:spPr>
          <a:xfrm>
            <a:off x="1116000" y="1046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ürfel Raster rechts"/>
          <p:cNvSpPr/>
          <p:nvPr/>
        </p:nvSpPr>
        <p:spPr>
          <a:xfrm>
            <a:off x="1116000" y="1190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Würfel Raster rechts"/>
          <p:cNvSpPr/>
          <p:nvPr/>
        </p:nvSpPr>
        <p:spPr>
          <a:xfrm>
            <a:off x="1198286" y="774514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Würfel Raster rechts"/>
          <p:cNvSpPr/>
          <p:nvPr/>
        </p:nvSpPr>
        <p:spPr>
          <a:xfrm>
            <a:off x="1280571" y="721029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Würfel Raster rechts"/>
          <p:cNvSpPr/>
          <p:nvPr/>
        </p:nvSpPr>
        <p:spPr>
          <a:xfrm>
            <a:off x="1362857" y="667543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Würfel Auswahl vorn"/>
          <p:cNvSpPr/>
          <p:nvPr/>
        </p:nvSpPr>
        <p:spPr>
          <a:xfrm>
            <a:off x="828000" y="828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ürfel Auswahl vorn"/>
          <p:cNvSpPr/>
          <p:nvPr/>
        </p:nvSpPr>
        <p:spPr>
          <a:xfrm>
            <a:off x="828000" y="972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Würfel Auswahl vorn"/>
          <p:cNvSpPr/>
          <p:nvPr/>
        </p:nvSpPr>
        <p:spPr>
          <a:xfrm>
            <a:off x="828000" y="1116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Würfel Auswahl vorn"/>
          <p:cNvSpPr/>
          <p:nvPr/>
        </p:nvSpPr>
        <p:spPr>
          <a:xfrm>
            <a:off x="972000" y="828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ürfel Auswahl vorn"/>
          <p:cNvSpPr/>
          <p:nvPr/>
        </p:nvSpPr>
        <p:spPr>
          <a:xfrm>
            <a:off x="972000" y="972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Würfel Auswahl vorn"/>
          <p:cNvSpPr/>
          <p:nvPr/>
        </p:nvSpPr>
        <p:spPr>
          <a:xfrm>
            <a:off x="972000" y="1116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ürfel Auswahl oben"/>
          <p:cNvSpPr/>
          <p:nvPr/>
        </p:nvSpPr>
        <p:spPr>
          <a:xfrm>
            <a:off x="828000" y="774514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Würfel Auswahl oben"/>
          <p:cNvSpPr/>
          <p:nvPr/>
        </p:nvSpPr>
        <p:spPr>
          <a:xfrm>
            <a:off x="910286" y="721029"/>
            <a:ext cx="226285" cy="53485"/>
          </a:xfrm>
          <a:custGeom>
            <a:avLst/>
            <a:gdLst/>
            <a:ahLst/>
            <a:cxnLst/>
            <a:rect l="l" t="t" r="r" b="b"/>
            <a:pathLst>
              <a:path w="226285" h="53485">
                <a:moveTo>
                  <a:pt x="0" y="53485"/>
                </a:moveTo>
                <a:lnTo>
                  <a:pt x="144000" y="53485"/>
                </a:lnTo>
                <a:lnTo>
                  <a:pt x="226285" y="0"/>
                </a:lnTo>
                <a:lnTo>
                  <a:pt x="82285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Würfel Auswahl oben"/>
          <p:cNvSpPr/>
          <p:nvPr/>
        </p:nvSpPr>
        <p:spPr>
          <a:xfrm>
            <a:off x="992571" y="667543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Würfel Auswahl oben"/>
          <p:cNvSpPr/>
          <p:nvPr/>
        </p:nvSpPr>
        <p:spPr>
          <a:xfrm>
            <a:off x="1074857" y="614057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Würfel Auswahl oben"/>
          <p:cNvSpPr/>
          <p:nvPr/>
        </p:nvSpPr>
        <p:spPr>
          <a:xfrm>
            <a:off x="972000" y="774514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Würfel Auswahl oben"/>
          <p:cNvSpPr/>
          <p:nvPr/>
        </p:nvSpPr>
        <p:spPr>
          <a:xfrm>
            <a:off x="1054286" y="721029"/>
            <a:ext cx="226285" cy="53485"/>
          </a:xfrm>
          <a:custGeom>
            <a:avLst/>
            <a:gdLst/>
            <a:ahLst/>
            <a:cxnLst/>
            <a:rect l="l" t="t" r="r" b="b"/>
            <a:pathLst>
              <a:path w="226285" h="53485">
                <a:moveTo>
                  <a:pt x="0" y="53485"/>
                </a:moveTo>
                <a:lnTo>
                  <a:pt x="144000" y="53485"/>
                </a:lnTo>
                <a:lnTo>
                  <a:pt x="226285" y="0"/>
                </a:lnTo>
                <a:lnTo>
                  <a:pt x="82285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Würfel Auswahl oben"/>
          <p:cNvSpPr/>
          <p:nvPr/>
        </p:nvSpPr>
        <p:spPr>
          <a:xfrm>
            <a:off x="1136571" y="667543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Würfel Auswahl oben"/>
          <p:cNvSpPr/>
          <p:nvPr/>
        </p:nvSpPr>
        <p:spPr>
          <a:xfrm>
            <a:off x="1218857" y="614057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Würfel Auswahl rechts"/>
          <p:cNvSpPr/>
          <p:nvPr/>
        </p:nvSpPr>
        <p:spPr>
          <a:xfrm>
            <a:off x="1116000" y="774514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Würfel Auswahl rechts"/>
          <p:cNvSpPr/>
          <p:nvPr/>
        </p:nvSpPr>
        <p:spPr>
          <a:xfrm>
            <a:off x="1198286" y="721029"/>
            <a:ext cx="82285" cy="197485"/>
          </a:xfrm>
          <a:custGeom>
            <a:avLst/>
            <a:gdLst/>
            <a:ahLst/>
            <a:cxnLst/>
            <a:rect l="l" t="t" r="r" b="b"/>
            <a:pathLst>
              <a:path w="82285" h="197485">
                <a:moveTo>
                  <a:pt x="0" y="53485"/>
                </a:moveTo>
                <a:lnTo>
                  <a:pt x="82285" y="0"/>
                </a:lnTo>
                <a:lnTo>
                  <a:pt x="82285" y="144000"/>
                </a:lnTo>
                <a:lnTo>
                  <a:pt x="0" y="197485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Würfel Auswahl rechts"/>
          <p:cNvSpPr/>
          <p:nvPr/>
        </p:nvSpPr>
        <p:spPr>
          <a:xfrm>
            <a:off x="1280571" y="667543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Würfel Auswahl rechts"/>
          <p:cNvSpPr/>
          <p:nvPr/>
        </p:nvSpPr>
        <p:spPr>
          <a:xfrm>
            <a:off x="1362857" y="614057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Würfel Auswahl rechts"/>
          <p:cNvSpPr/>
          <p:nvPr/>
        </p:nvSpPr>
        <p:spPr>
          <a:xfrm>
            <a:off x="1116000" y="918514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Würfel Auswahl rechts"/>
          <p:cNvSpPr/>
          <p:nvPr/>
        </p:nvSpPr>
        <p:spPr>
          <a:xfrm>
            <a:off x="1198286" y="865029"/>
            <a:ext cx="82285" cy="197485"/>
          </a:xfrm>
          <a:custGeom>
            <a:avLst/>
            <a:gdLst/>
            <a:ahLst/>
            <a:cxnLst/>
            <a:rect l="l" t="t" r="r" b="b"/>
            <a:pathLst>
              <a:path w="82285" h="197485">
                <a:moveTo>
                  <a:pt x="0" y="53485"/>
                </a:moveTo>
                <a:lnTo>
                  <a:pt x="82285" y="0"/>
                </a:lnTo>
                <a:lnTo>
                  <a:pt x="82285" y="144000"/>
                </a:lnTo>
                <a:lnTo>
                  <a:pt x="0" y="197485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Würfel Auswahl rechts"/>
          <p:cNvSpPr/>
          <p:nvPr/>
        </p:nvSpPr>
        <p:spPr>
          <a:xfrm>
            <a:off x="1280571" y="811543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Würfel Auswahl rechts"/>
          <p:cNvSpPr/>
          <p:nvPr/>
        </p:nvSpPr>
        <p:spPr>
          <a:xfrm>
            <a:off x="1362857" y="758057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Würfel Auswahl rechts"/>
          <p:cNvSpPr/>
          <p:nvPr/>
        </p:nvSpPr>
        <p:spPr>
          <a:xfrm>
            <a:off x="1116000" y="1062514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Würfel Auswahl rechts"/>
          <p:cNvSpPr/>
          <p:nvPr/>
        </p:nvSpPr>
        <p:spPr>
          <a:xfrm>
            <a:off x="1198286" y="1009029"/>
            <a:ext cx="82285" cy="197485"/>
          </a:xfrm>
          <a:custGeom>
            <a:avLst/>
            <a:gdLst/>
            <a:ahLst/>
            <a:cxnLst/>
            <a:rect l="l" t="t" r="r" b="b"/>
            <a:pathLst>
              <a:path w="82285" h="197485">
                <a:moveTo>
                  <a:pt x="0" y="53485"/>
                </a:moveTo>
                <a:lnTo>
                  <a:pt x="82285" y="0"/>
                </a:lnTo>
                <a:lnTo>
                  <a:pt x="82285" y="144000"/>
                </a:lnTo>
                <a:lnTo>
                  <a:pt x="0" y="197485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Würfel Auswahl rechts"/>
          <p:cNvSpPr/>
          <p:nvPr/>
        </p:nvSpPr>
        <p:spPr>
          <a:xfrm>
            <a:off x="1280571" y="955543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Würfel Auswahl rechts"/>
          <p:cNvSpPr/>
          <p:nvPr/>
        </p:nvSpPr>
        <p:spPr>
          <a:xfrm>
            <a:off x="1362857" y="902057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Würfel Umriss"/>
          <p:cNvSpPr/>
          <p:nvPr/>
        </p:nvSpPr>
        <p:spPr>
          <a:xfrm>
            <a:off x="540000" y="614057"/>
            <a:ext cx="905143" cy="933943"/>
          </a:xfrm>
          <a:custGeom>
            <a:avLst/>
            <a:gdLst/>
            <a:ahLst/>
            <a:cxnLst/>
            <a:rect l="l" t="t" r="r" b="b"/>
            <a:pathLst>
              <a:path w="905143" h="933943">
                <a:moveTo>
                  <a:pt x="0" y="213943"/>
                </a:moveTo>
                <a:lnTo>
                  <a:pt x="329143" y="0"/>
                </a:lnTo>
                <a:lnTo>
                  <a:pt x="905143" y="0"/>
                </a:lnTo>
                <a:lnTo>
                  <a:pt x="905143" y="720000"/>
                </a:lnTo>
                <a:lnTo>
                  <a:pt x="576000" y="933943"/>
                </a:lnTo>
                <a:lnTo>
                  <a:pt x="0" y="933943"/>
                </a:lnTo>
                <a:close/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Würfel Kante oben"/>
          <p:cNvSpPr/>
          <p:nvPr/>
        </p:nvSpPr>
        <p:spPr>
          <a:xfrm>
            <a:off x="540000" y="614057"/>
            <a:ext cx="905143" cy="213943"/>
          </a:xfrm>
          <a:custGeom>
            <a:avLst/>
            <a:gdLst/>
            <a:ahLst/>
            <a:cxnLst/>
            <a:rect l="l" t="t" r="r" b="b"/>
            <a:pathLst>
              <a:path w="905143" h="213943">
                <a:moveTo>
                  <a:pt x="0" y="213943"/>
                </a:moveTo>
                <a:lnTo>
                  <a:pt x="576000" y="213943"/>
                </a:lnTo>
                <a:lnTo>
                  <a:pt x="905143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Würfel Kante vorn"/>
          <p:cNvSpPr/>
          <p:nvPr/>
        </p:nvSpPr>
        <p:spPr>
          <a:xfrm>
            <a:off x="1116000" y="828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Würfel Kennzahlen"/>
          <p:cNvSpPr/>
          <p:nvPr/>
        </p:nvSpPr>
        <p:spPr>
          <a:xfrm>
            <a:off x="626400" y="1282913"/>
            <a:ext cx="403200" cy="2421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7200" rIns="7200" tIns="3600" bIns="3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Kenn-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zahlen</a:t>
            </a:r>
          </a:p>
        </p:txBody>
      </p:sp>
      <p:sp>
        <p:nvSpPr>
          <p:cNvPr id="55" name="Dimension Region"/>
          <p:cNvSpPr/>
          <p:nvPr/>
        </p:nvSpPr>
        <p:spPr>
          <a:xfrm>
            <a:off x="396000" y="828000"/>
            <a:ext cx="720000" cy="0"/>
          </a:xfrm>
          <a:custGeom>
            <a:avLst/>
            <a:gdLst/>
            <a:ahLst/>
            <a:cxnLst/>
            <a:rect l="l" t="t" r="r" b="b"/>
            <a:pathLst>
              <a:path w="720000" h="0">
                <a:moveTo>
                  <a:pt x="72000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Dimension Produkt"/>
          <p:cNvSpPr/>
          <p:nvPr/>
        </p:nvSpPr>
        <p:spPr>
          <a:xfrm>
            <a:off x="1116000" y="539177"/>
            <a:ext cx="444343" cy="288823"/>
          </a:xfrm>
          <a:custGeom>
            <a:avLst/>
            <a:gdLst/>
            <a:ahLst/>
            <a:cxnLst/>
            <a:rect l="l" t="t" r="r" b="b"/>
            <a:pathLst>
              <a:path w="444343" h="288823">
                <a:moveTo>
                  <a:pt x="0" y="288823"/>
                </a:moveTo>
                <a:lnTo>
                  <a:pt x="444343" y="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Dimension Zeit"/>
          <p:cNvSpPr/>
          <p:nvPr/>
        </p:nvSpPr>
        <p:spPr>
          <a:xfrm>
            <a:off x="1116000" y="828000"/>
            <a:ext cx="0" cy="900000"/>
          </a:xfrm>
          <a:custGeom>
            <a:avLst/>
            <a:gdLst/>
            <a:ahLst/>
            <a:cxnLst/>
            <a:rect l="l" t="t" r="r" b="b"/>
            <a:pathLst>
              <a:path w="0" h="900000">
                <a:moveTo>
                  <a:pt x="0" y="0"/>
                </a:moveTo>
                <a:lnTo>
                  <a:pt x="0" y="90000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Beschriftung Region"/>
          <p:cNvSpPr txBox="1"/>
          <p:nvPr/>
        </p:nvSpPr>
        <p:spPr>
          <a:xfrm>
            <a:off x="6358" y="86400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Region</a:t>
            </a:r>
          </a:p>
        </p:txBody>
      </p:sp>
      <p:sp>
        <p:nvSpPr>
          <p:cNvPr id="59" name="Beschriftung Produkt"/>
          <p:cNvSpPr txBox="1"/>
          <p:nvPr/>
        </p:nvSpPr>
        <p:spPr>
          <a:xfrm>
            <a:off x="1131522" y="275404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Produkt</a:t>
            </a:r>
          </a:p>
        </p:txBody>
      </p:sp>
      <p:sp>
        <p:nvSpPr>
          <p:cNvPr id="60" name="Beschriftung Zeit"/>
          <p:cNvSpPr txBox="1"/>
          <p:nvPr/>
        </p:nvSpPr>
        <p:spPr>
          <a:xfrm>
            <a:off x="867179" y="174960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Zeit</a:t>
            </a:r>
          </a:p>
        </p:txBody>
      </p:sp>
      <p:sp>
        <p:nvSpPr>
          <p:cNvPr id="61" name="Dimension Filiale"/>
          <p:cNvSpPr/>
          <p:nvPr/>
        </p:nvSpPr>
        <p:spPr>
          <a:xfrm>
            <a:off x="432000" y="324000"/>
            <a:ext cx="416571" cy="397029"/>
          </a:xfrm>
          <a:custGeom>
            <a:avLst/>
            <a:gdLst/>
            <a:ahLst/>
            <a:cxnLst/>
            <a:rect l="l" t="t" r="r" b="b"/>
            <a:pathLst>
              <a:path w="416571" h="397029">
                <a:moveTo>
                  <a:pt x="416571" y="397029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62828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Beschriftung Filiale"/>
          <p:cNvSpPr txBox="1"/>
          <p:nvPr/>
        </p:nvSpPr>
        <p:spPr>
          <a:xfrm>
            <a:off x="183179" y="67427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C62828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C62828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C62828"/>
                </a:solidFill>
                <a:latin typeface="Arial"/>
              </a:rPr>
              <a:t>Filiale</a:t>
            </a:r>
          </a:p>
        </p:txBody>
      </p:sp>
      <p:sp>
        <p:nvSpPr>
          <p:cNvPr id="63" name="Umsatztabelle Linie oben"/>
          <p:cNvSpPr/>
          <p:nvPr/>
        </p:nvSpPr>
        <p:spPr>
          <a:xfrm>
            <a:off x="1674000" y="72000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 h="0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Umsatztabelle Linie Kopf"/>
          <p:cNvSpPr/>
          <p:nvPr/>
        </p:nvSpPr>
        <p:spPr>
          <a:xfrm>
            <a:off x="1674000" y="324000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 h="0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Umsatztabelle Haarlinie"/>
          <p:cNvSpPr/>
          <p:nvPr/>
        </p:nvSpPr>
        <p:spPr>
          <a:xfrm>
            <a:off x="1674000" y="612000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 h="0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Umsatztabelle Haarlinie"/>
          <p:cNvSpPr/>
          <p:nvPr/>
        </p:nvSpPr>
        <p:spPr>
          <a:xfrm>
            <a:off x="1674000" y="900000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 h="0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Umsatztabelle Linie Summe"/>
          <p:cNvSpPr/>
          <p:nvPr/>
        </p:nvSpPr>
        <p:spPr>
          <a:xfrm>
            <a:off x="1674000" y="1188000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 h="0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Umsatztabelle Linie unten"/>
          <p:cNvSpPr/>
          <p:nvPr/>
        </p:nvSpPr>
        <p:spPr>
          <a:xfrm>
            <a:off x="1674000" y="1476000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 h="0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Umsatztabelle Kopf Umsatz in €"/>
          <p:cNvSpPr txBox="1"/>
          <p:nvPr/>
        </p:nvSpPr>
        <p:spPr>
          <a:xfrm>
            <a:off x="1695600" y="72000"/>
            <a:ext cx="532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Umsatz in €</a:t>
            </a:r>
          </a:p>
        </p:txBody>
      </p:sp>
      <p:sp>
        <p:nvSpPr>
          <p:cNvPr id="70" name="Umsatztabelle Kopf Summe"/>
          <p:cNvSpPr txBox="1"/>
          <p:nvPr/>
        </p:nvSpPr>
        <p:spPr>
          <a:xfrm>
            <a:off x="2271600" y="72000"/>
            <a:ext cx="5256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Summe</a:t>
            </a:r>
          </a:p>
        </p:txBody>
      </p:sp>
      <p:sp>
        <p:nvSpPr>
          <p:cNvPr id="71" name="Umsatztabelle Kopf Filiale A"/>
          <p:cNvSpPr txBox="1"/>
          <p:nvPr/>
        </p:nvSpPr>
        <p:spPr>
          <a:xfrm>
            <a:off x="2840400" y="72000"/>
            <a:ext cx="5256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Filiale A</a:t>
            </a:r>
          </a:p>
        </p:txBody>
      </p:sp>
      <p:sp>
        <p:nvSpPr>
          <p:cNvPr id="72" name="Umsatztabelle Kopf Filiale B"/>
          <p:cNvSpPr txBox="1"/>
          <p:nvPr/>
        </p:nvSpPr>
        <p:spPr>
          <a:xfrm>
            <a:off x="3409200" y="72000"/>
            <a:ext cx="5292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Filiale B</a:t>
            </a:r>
          </a:p>
        </p:txBody>
      </p:sp>
      <p:sp>
        <p:nvSpPr>
          <p:cNvPr id="73" name="Umsatztabelle Januar"/>
          <p:cNvSpPr txBox="1"/>
          <p:nvPr/>
        </p:nvSpPr>
        <p:spPr>
          <a:xfrm>
            <a:off x="1695600" y="324000"/>
            <a:ext cx="5328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Januar</a:t>
            </a:r>
          </a:p>
        </p:txBody>
      </p:sp>
      <p:sp>
        <p:nvSpPr>
          <p:cNvPr id="74" name="Umsatztabelle Februar"/>
          <p:cNvSpPr txBox="1"/>
          <p:nvPr/>
        </p:nvSpPr>
        <p:spPr>
          <a:xfrm>
            <a:off x="1695600" y="612000"/>
            <a:ext cx="5328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Februar</a:t>
            </a:r>
          </a:p>
        </p:txBody>
      </p:sp>
      <p:sp>
        <p:nvSpPr>
          <p:cNvPr id="75" name="Umsatztabelle März"/>
          <p:cNvSpPr txBox="1"/>
          <p:nvPr/>
        </p:nvSpPr>
        <p:spPr>
          <a:xfrm>
            <a:off x="1695600" y="900000"/>
            <a:ext cx="5328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März</a:t>
            </a:r>
          </a:p>
        </p:txBody>
      </p:sp>
      <p:sp>
        <p:nvSpPr>
          <p:cNvPr id="76" name="Umsatztabelle 1. Quartal"/>
          <p:cNvSpPr txBox="1"/>
          <p:nvPr/>
        </p:nvSpPr>
        <p:spPr>
          <a:xfrm>
            <a:off x="1695600" y="1188000"/>
            <a:ext cx="5328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1. Quartal</a:t>
            </a:r>
          </a:p>
        </p:txBody>
      </p:sp>
      <p:sp>
        <p:nvSpPr>
          <p:cNvPr id="77" name="Umsatztabelle Roll-Up Januar"/>
          <p:cNvSpPr/>
          <p:nvPr/>
        </p:nvSpPr>
        <p:spPr>
          <a:xfrm>
            <a:off x="2691955" y="468000"/>
            <a:ext cx="873732" cy="0"/>
          </a:xfrm>
          <a:custGeom>
            <a:avLst/>
            <a:gdLst/>
            <a:ahLst/>
            <a:cxnLst/>
            <a:rect l="l" t="t" r="r" b="b"/>
            <a:pathLst>
              <a:path w="873732" h="0">
                <a:moveTo>
                  <a:pt x="873732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Umsatztabelle Roll-Up Februar"/>
          <p:cNvSpPr/>
          <p:nvPr/>
        </p:nvSpPr>
        <p:spPr>
          <a:xfrm>
            <a:off x="2691955" y="756000"/>
            <a:ext cx="873732" cy="0"/>
          </a:xfrm>
          <a:custGeom>
            <a:avLst/>
            <a:gdLst/>
            <a:ahLst/>
            <a:cxnLst/>
            <a:rect l="l" t="t" r="r" b="b"/>
            <a:pathLst>
              <a:path w="873732" h="0">
                <a:moveTo>
                  <a:pt x="873732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Umsatztabelle Roll-Up März"/>
          <p:cNvSpPr/>
          <p:nvPr/>
        </p:nvSpPr>
        <p:spPr>
          <a:xfrm>
            <a:off x="2691955" y="1044000"/>
            <a:ext cx="824290" cy="0"/>
          </a:xfrm>
          <a:custGeom>
            <a:avLst/>
            <a:gdLst/>
            <a:ahLst/>
            <a:cxnLst/>
            <a:rect l="l" t="t" r="r" b="b"/>
            <a:pathLst>
              <a:path w="824290" h="0">
                <a:moveTo>
                  <a:pt x="82429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Umsatztabelle Roll-Up Quartal"/>
          <p:cNvSpPr/>
          <p:nvPr/>
        </p:nvSpPr>
        <p:spPr>
          <a:xfrm>
            <a:off x="2691955" y="1303200"/>
            <a:ext cx="824290" cy="0"/>
          </a:xfrm>
          <a:custGeom>
            <a:avLst/>
            <a:gdLst/>
            <a:ahLst/>
            <a:cxnLst/>
            <a:rect l="l" t="t" r="r" b="b"/>
            <a:pathLst>
              <a:path w="824290" h="0">
                <a:moveTo>
                  <a:pt x="82429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Umsatztabelle Drill-Down Quartal"/>
          <p:cNvSpPr/>
          <p:nvPr/>
        </p:nvSpPr>
        <p:spPr>
          <a:xfrm>
            <a:off x="2691955" y="1360800"/>
            <a:ext cx="824290" cy="0"/>
          </a:xfrm>
          <a:custGeom>
            <a:avLst/>
            <a:gdLst/>
            <a:ahLst/>
            <a:cxnLst/>
            <a:rect l="l" t="t" r="r" b="b"/>
            <a:pathLst>
              <a:path w="824290" h="0">
                <a:moveTo>
                  <a:pt x="0" y="0"/>
                </a:moveTo>
                <a:lnTo>
                  <a:pt x="824290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Umsatztabelle Wert Januar Summe"/>
          <p:cNvSpPr/>
          <p:nvPr/>
        </p:nvSpPr>
        <p:spPr>
          <a:xfrm>
            <a:off x="2376845" y="407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20.000</a:t>
            </a:r>
          </a:p>
        </p:txBody>
      </p:sp>
      <p:sp>
        <p:nvSpPr>
          <p:cNvPr id="83" name="Umsatztabelle Wert Januar Filiale A"/>
          <p:cNvSpPr/>
          <p:nvPr/>
        </p:nvSpPr>
        <p:spPr>
          <a:xfrm>
            <a:off x="2952243" y="407457"/>
            <a:ext cx="308512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11.000</a:t>
            </a:r>
          </a:p>
        </p:txBody>
      </p:sp>
      <p:sp>
        <p:nvSpPr>
          <p:cNvPr id="84" name="Umsatztabelle Wert Januar Filiale B"/>
          <p:cNvSpPr/>
          <p:nvPr/>
        </p:nvSpPr>
        <p:spPr>
          <a:xfrm>
            <a:off x="3565687" y="407457"/>
            <a:ext cx="265668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9.000</a:t>
            </a:r>
          </a:p>
        </p:txBody>
      </p:sp>
      <p:sp>
        <p:nvSpPr>
          <p:cNvPr id="85" name="Umsatztabelle Wert Februar Summe"/>
          <p:cNvSpPr/>
          <p:nvPr/>
        </p:nvSpPr>
        <p:spPr>
          <a:xfrm>
            <a:off x="2376845" y="695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15.000</a:t>
            </a:r>
          </a:p>
        </p:txBody>
      </p:sp>
      <p:sp>
        <p:nvSpPr>
          <p:cNvPr id="86" name="Umsatztabelle Wert Februar Filiale A"/>
          <p:cNvSpPr/>
          <p:nvPr/>
        </p:nvSpPr>
        <p:spPr>
          <a:xfrm>
            <a:off x="2995087" y="695457"/>
            <a:ext cx="265668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6.000</a:t>
            </a:r>
          </a:p>
        </p:txBody>
      </p:sp>
      <p:sp>
        <p:nvSpPr>
          <p:cNvPr id="87" name="Umsatztabelle Wert Februar Filiale B"/>
          <p:cNvSpPr/>
          <p:nvPr/>
        </p:nvSpPr>
        <p:spPr>
          <a:xfrm>
            <a:off x="3565687" y="695457"/>
            <a:ext cx="265668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9.000</a:t>
            </a:r>
          </a:p>
        </p:txBody>
      </p:sp>
      <p:sp>
        <p:nvSpPr>
          <p:cNvPr id="88" name="Umsatztabelle Wert März Summe"/>
          <p:cNvSpPr/>
          <p:nvPr/>
        </p:nvSpPr>
        <p:spPr>
          <a:xfrm>
            <a:off x="2376845" y="983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22.000</a:t>
            </a:r>
          </a:p>
        </p:txBody>
      </p:sp>
      <p:sp>
        <p:nvSpPr>
          <p:cNvPr id="89" name="Umsatztabelle Wert März Filiale A"/>
          <p:cNvSpPr/>
          <p:nvPr/>
        </p:nvSpPr>
        <p:spPr>
          <a:xfrm>
            <a:off x="2945645" y="983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10.000</a:t>
            </a:r>
          </a:p>
        </p:txBody>
      </p:sp>
      <p:sp>
        <p:nvSpPr>
          <p:cNvPr id="90" name="Umsatztabelle Wert März Filiale B"/>
          <p:cNvSpPr/>
          <p:nvPr/>
        </p:nvSpPr>
        <p:spPr>
          <a:xfrm>
            <a:off x="3516245" y="983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12.000</a:t>
            </a:r>
          </a:p>
        </p:txBody>
      </p:sp>
      <p:sp>
        <p:nvSpPr>
          <p:cNvPr id="91" name="Umsatztabelle Wert 1. Quartal Summe"/>
          <p:cNvSpPr/>
          <p:nvPr/>
        </p:nvSpPr>
        <p:spPr>
          <a:xfrm>
            <a:off x="2376845" y="1271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57.000</a:t>
            </a:r>
          </a:p>
        </p:txBody>
      </p:sp>
      <p:sp>
        <p:nvSpPr>
          <p:cNvPr id="92" name="Umsatztabelle Wert 1. Quartal Filiale A"/>
          <p:cNvSpPr/>
          <p:nvPr/>
        </p:nvSpPr>
        <p:spPr>
          <a:xfrm>
            <a:off x="2945645" y="1271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27.000</a:t>
            </a:r>
          </a:p>
        </p:txBody>
      </p:sp>
      <p:sp>
        <p:nvSpPr>
          <p:cNvPr id="93" name="Umsatztabelle Wert 1. Quartal Filiale B"/>
          <p:cNvSpPr/>
          <p:nvPr/>
        </p:nvSpPr>
        <p:spPr>
          <a:xfrm>
            <a:off x="3516245" y="1271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30.000</a:t>
            </a:r>
          </a:p>
        </p:txBody>
      </p:sp>
      <p:sp>
        <p:nvSpPr>
          <p:cNvPr id="94" name="Legende Pfeil 1"/>
          <p:cNvSpPr/>
          <p:nvPr/>
        </p:nvSpPr>
        <p:spPr>
          <a:xfrm>
            <a:off x="1695600" y="1674000"/>
            <a:ext cx="252000" cy="0"/>
          </a:xfrm>
          <a:custGeom>
            <a:avLst/>
            <a:gdLst/>
            <a:ahLst/>
            <a:cxnLst/>
            <a:rect l="l" t="t" r="r" b="b"/>
            <a:pathLst>
              <a:path w="252000" h="0">
                <a:moveTo>
                  <a:pt x="0" y="0"/>
                </a:moveTo>
                <a:lnTo>
                  <a:pt x="252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Legende Merge (Aggregation)"/>
          <p:cNvSpPr txBox="1"/>
          <p:nvPr/>
        </p:nvSpPr>
        <p:spPr>
          <a:xfrm>
            <a:off x="2001600" y="1584000"/>
            <a:ext cx="1674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Merge (Aggregation)</a:t>
            </a:r>
          </a:p>
        </p:txBody>
      </p:sp>
      <p:sp>
        <p:nvSpPr>
          <p:cNvPr id="96" name="Legende Pfeil 2"/>
          <p:cNvSpPr/>
          <p:nvPr/>
        </p:nvSpPr>
        <p:spPr>
          <a:xfrm>
            <a:off x="1695600" y="1854000"/>
            <a:ext cx="252000" cy="0"/>
          </a:xfrm>
          <a:custGeom>
            <a:avLst/>
            <a:gdLst/>
            <a:ahLst/>
            <a:cxnLst/>
            <a:rect l="l" t="t" r="r" b="b"/>
            <a:pathLst>
              <a:path w="252000" h="0">
                <a:moveTo>
                  <a:pt x="0" y="0"/>
                </a:moveTo>
                <a:lnTo>
                  <a:pt x="252000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Legende Split (Disaggregation)"/>
          <p:cNvSpPr txBox="1"/>
          <p:nvPr/>
        </p:nvSpPr>
        <p:spPr>
          <a:xfrm>
            <a:off x="2001600" y="1764000"/>
            <a:ext cx="1674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Split (Disaggregation)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