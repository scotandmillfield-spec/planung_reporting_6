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93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opf Phasen"/>
          <p:cNvSpPr txBox="1"/>
          <p:nvPr/>
        </p:nvSpPr>
        <p:spPr>
          <a:xfrm>
            <a:off x="360000" y="14400"/>
            <a:ext cx="1008000" cy="209804"/>
          </a:xfrm>
          <a:prstGeom prst="rect">
            <a:avLst/>
          </a:prstGeom>
          <a:noFill/>
        </p:spPr>
        <p:txBody>
          <a:bodyPr wrap="square" lIns="32400" rIns="32400" tIns="0" bIns="0" anchor="b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Phasen des</a:t>
            </a:r>
          </a:p>
          <a:p>
            <a:pPr algn="ct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Führungsprozesses</a:t>
            </a:r>
          </a:p>
        </p:txBody>
      </p:sp>
      <p:sp>
        <p:nvSpPr>
          <p:cNvPr id="3" name="Kopf Tätigkeiten"/>
          <p:cNvSpPr txBox="1"/>
          <p:nvPr/>
        </p:nvSpPr>
        <p:spPr>
          <a:xfrm>
            <a:off x="1332000" y="14400"/>
            <a:ext cx="1080000" cy="209804"/>
          </a:xfrm>
          <a:prstGeom prst="rect">
            <a:avLst/>
          </a:prstGeom>
          <a:noFill/>
        </p:spPr>
        <p:txBody>
          <a:bodyPr wrap="square" lIns="32400" rIns="32400" tIns="0" bIns="0" anchor="b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Tätigkeiten der</a:t>
            </a:r>
          </a:p>
          <a:p>
            <a:pPr algn="ct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Unternehmungsführung</a:t>
            </a:r>
          </a:p>
        </p:txBody>
      </p:sp>
      <p:sp>
        <p:nvSpPr>
          <p:cNvPr id="4" name="Phase 1"/>
          <p:cNvSpPr/>
          <p:nvPr/>
        </p:nvSpPr>
        <p:spPr>
          <a:xfrm>
            <a:off x="360000" y="404204"/>
            <a:ext cx="1008000" cy="289004"/>
          </a:xfrm>
          <a:prstGeom prst="rect">
            <a:avLst/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5" name="Nummer Phase 1"/>
          <p:cNvSpPr txBox="1"/>
          <p:nvPr/>
        </p:nvSpPr>
        <p:spPr>
          <a:xfrm>
            <a:off x="392400" y="443804"/>
            <a:ext cx="115200" cy="20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</a:t>
            </a:r>
          </a:p>
        </p:txBody>
      </p:sp>
      <p:sp>
        <p:nvSpPr>
          <p:cNvPr id="6" name="Text Phase 1"/>
          <p:cNvSpPr txBox="1"/>
          <p:nvPr/>
        </p:nvSpPr>
        <p:spPr>
          <a:xfrm>
            <a:off x="500400" y="443804"/>
            <a:ext cx="835200" cy="20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Problemstellungs-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phase</a:t>
            </a:r>
          </a:p>
        </p:txBody>
      </p:sp>
      <p:sp>
        <p:nvSpPr>
          <p:cNvPr id="7" name="Phase 2"/>
          <p:cNvSpPr/>
          <p:nvPr/>
        </p:nvSpPr>
        <p:spPr>
          <a:xfrm>
            <a:off x="360000" y="693208"/>
            <a:ext cx="1008000" cy="252000"/>
          </a:xfrm>
          <a:prstGeom prst="rect">
            <a:avLst/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8" name="Nummer Phase 2"/>
          <p:cNvSpPr txBox="1"/>
          <p:nvPr/>
        </p:nvSpPr>
        <p:spPr>
          <a:xfrm>
            <a:off x="392400" y="766757"/>
            <a:ext cx="115200" cy="104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2.</a:t>
            </a:r>
          </a:p>
        </p:txBody>
      </p:sp>
      <p:sp>
        <p:nvSpPr>
          <p:cNvPr id="9" name="Text Phase 2"/>
          <p:cNvSpPr txBox="1"/>
          <p:nvPr/>
        </p:nvSpPr>
        <p:spPr>
          <a:xfrm>
            <a:off x="500400" y="766757"/>
            <a:ext cx="835200" cy="104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Suchphase</a:t>
            </a:r>
          </a:p>
        </p:txBody>
      </p:sp>
      <p:sp>
        <p:nvSpPr>
          <p:cNvPr id="10" name="Phase 3"/>
          <p:cNvSpPr/>
          <p:nvPr/>
        </p:nvSpPr>
        <p:spPr>
          <a:xfrm>
            <a:off x="360000" y="945208"/>
            <a:ext cx="1008000" cy="289004"/>
          </a:xfrm>
          <a:prstGeom prst="rect">
            <a:avLst/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1" name="Nummer Phase 3"/>
          <p:cNvSpPr txBox="1"/>
          <p:nvPr/>
        </p:nvSpPr>
        <p:spPr>
          <a:xfrm>
            <a:off x="392400" y="984808"/>
            <a:ext cx="115200" cy="20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3.</a:t>
            </a:r>
          </a:p>
        </p:txBody>
      </p:sp>
      <p:sp>
        <p:nvSpPr>
          <p:cNvPr id="12" name="Text Phase 3"/>
          <p:cNvSpPr txBox="1"/>
          <p:nvPr/>
        </p:nvSpPr>
        <p:spPr>
          <a:xfrm>
            <a:off x="500400" y="984808"/>
            <a:ext cx="835200" cy="20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Beurteilungsphase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(Bewertungsphase)</a:t>
            </a:r>
          </a:p>
        </p:txBody>
      </p:sp>
      <p:sp>
        <p:nvSpPr>
          <p:cNvPr id="13" name="Phase 4"/>
          <p:cNvSpPr/>
          <p:nvPr/>
        </p:nvSpPr>
        <p:spPr>
          <a:xfrm>
            <a:off x="360000" y="1234212"/>
            <a:ext cx="1008000" cy="289004"/>
          </a:xfrm>
          <a:prstGeom prst="rect">
            <a:avLst/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4" name="Nummer Phase 4"/>
          <p:cNvSpPr txBox="1"/>
          <p:nvPr/>
        </p:nvSpPr>
        <p:spPr>
          <a:xfrm>
            <a:off x="392400" y="1273812"/>
            <a:ext cx="115200" cy="20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4.</a:t>
            </a:r>
          </a:p>
        </p:txBody>
      </p:sp>
      <p:sp>
        <p:nvSpPr>
          <p:cNvPr id="15" name="Text Phase 4"/>
          <p:cNvSpPr txBox="1"/>
          <p:nvPr/>
        </p:nvSpPr>
        <p:spPr>
          <a:xfrm>
            <a:off x="500400" y="1273812"/>
            <a:ext cx="835200" cy="20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Entscheidungs-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phase</a:t>
            </a:r>
          </a:p>
        </p:txBody>
      </p:sp>
      <p:sp>
        <p:nvSpPr>
          <p:cNvPr id="16" name="Phase 5"/>
          <p:cNvSpPr/>
          <p:nvPr/>
        </p:nvSpPr>
        <p:spPr>
          <a:xfrm>
            <a:off x="360000" y="1523216"/>
            <a:ext cx="1008000" cy="616410"/>
          </a:xfrm>
          <a:prstGeom prst="rect">
            <a:avLst/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7" name="Nummer Phase 5"/>
          <p:cNvSpPr txBox="1"/>
          <p:nvPr/>
        </p:nvSpPr>
        <p:spPr>
          <a:xfrm>
            <a:off x="392400" y="1778970"/>
            <a:ext cx="115200" cy="104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5.</a:t>
            </a:r>
          </a:p>
        </p:txBody>
      </p:sp>
      <p:sp>
        <p:nvSpPr>
          <p:cNvPr id="18" name="Text Phase 5"/>
          <p:cNvSpPr txBox="1"/>
          <p:nvPr/>
        </p:nvSpPr>
        <p:spPr>
          <a:xfrm>
            <a:off x="500400" y="1778970"/>
            <a:ext cx="835200" cy="104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Realisationsphase</a:t>
            </a:r>
          </a:p>
        </p:txBody>
      </p:sp>
      <p:sp>
        <p:nvSpPr>
          <p:cNvPr id="19" name="Phase 6"/>
          <p:cNvSpPr/>
          <p:nvPr/>
        </p:nvSpPr>
        <p:spPr>
          <a:xfrm>
            <a:off x="360000" y="2139626"/>
            <a:ext cx="1008000" cy="498808"/>
          </a:xfrm>
          <a:prstGeom prst="rect">
            <a:avLst/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20" name="Nummer Phase 6"/>
          <p:cNvSpPr txBox="1"/>
          <p:nvPr/>
        </p:nvSpPr>
        <p:spPr>
          <a:xfrm>
            <a:off x="392400" y="2336579"/>
            <a:ext cx="115200" cy="104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6.</a:t>
            </a:r>
          </a:p>
        </p:txBody>
      </p:sp>
      <p:sp>
        <p:nvSpPr>
          <p:cNvPr id="21" name="Text Phase 6"/>
          <p:cNvSpPr txBox="1"/>
          <p:nvPr/>
        </p:nvSpPr>
        <p:spPr>
          <a:xfrm>
            <a:off x="500400" y="2336579"/>
            <a:ext cx="835200" cy="104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Kontrollphase</a:t>
            </a:r>
          </a:p>
        </p:txBody>
      </p:sp>
      <p:sp>
        <p:nvSpPr>
          <p:cNvPr id="22" name="Entscheidungsvorbereitung"/>
          <p:cNvSpPr/>
          <p:nvPr/>
        </p:nvSpPr>
        <p:spPr>
          <a:xfrm>
            <a:off x="1368000" y="404204"/>
            <a:ext cx="1008000" cy="830008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Entscheidungs-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vorbereitung</a:t>
            </a:r>
          </a:p>
        </p:txBody>
      </p:sp>
      <p:sp>
        <p:nvSpPr>
          <p:cNvPr id="23" name="Tätigkeit 4"/>
          <p:cNvSpPr/>
          <p:nvPr/>
        </p:nvSpPr>
        <p:spPr>
          <a:xfrm>
            <a:off x="1368000" y="1234212"/>
            <a:ext cx="1008000" cy="289004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Entscheidungsfällung</a:t>
            </a:r>
          </a:p>
        </p:txBody>
      </p:sp>
      <p:sp>
        <p:nvSpPr>
          <p:cNvPr id="24" name="Tätigkeit 5"/>
          <p:cNvSpPr/>
          <p:nvPr/>
        </p:nvSpPr>
        <p:spPr>
          <a:xfrm>
            <a:off x="1368000" y="1523216"/>
            <a:ext cx="1008000" cy="61641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l" marL="79200" indent="-79200">
              <a:lnSpc>
                <a:spcPts val="826"/>
              </a:lnSpc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Detaillierte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Festlegung der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Durchführung</a:t>
            </a:r>
          </a:p>
          <a:p>
            <a:pPr algn="l" marL="79200" indent="-79200">
              <a:lnSpc>
                <a:spcPts val="826"/>
              </a:lnSpc>
              <a:spcBef>
                <a:spcPts val="10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Veranlassung der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Durchführung</a:t>
            </a:r>
          </a:p>
        </p:txBody>
      </p:sp>
      <p:sp>
        <p:nvSpPr>
          <p:cNvPr id="25" name="Tätigkeit 6"/>
          <p:cNvSpPr/>
          <p:nvPr/>
        </p:nvSpPr>
        <p:spPr>
          <a:xfrm>
            <a:off x="1368000" y="2139626"/>
            <a:ext cx="1008000" cy="498808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Vergleich der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Durchführungs- und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Entscheidungs-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resultate (Soll/Ist)</a:t>
            </a:r>
          </a:p>
        </p:txBody>
      </p:sp>
      <p:sp>
        <p:nvSpPr>
          <p:cNvPr id="26" name="Freeform 25"/>
          <p:cNvSpPr/>
          <p:nvPr/>
        </p:nvSpPr>
        <p:spPr>
          <a:xfrm>
            <a:off x="2448000" y="433004"/>
            <a:ext cx="50400" cy="772408"/>
          </a:xfrm>
          <a:custGeom>
            <a:avLst/>
            <a:gdLst/>
            <a:ahLst/>
            <a:cxnLst/>
            <a:rect l="l" t="t" r="r" b="b"/>
            <a:pathLst>
              <a:path w="50400" h="772408">
                <a:moveTo>
                  <a:pt x="0" y="0"/>
                </a:moveTo>
                <a:lnTo>
                  <a:pt x="50400" y="0"/>
                </a:lnTo>
                <a:lnTo>
                  <a:pt x="50400" y="772408"/>
                </a:lnTo>
                <a:lnTo>
                  <a:pt x="0" y="772408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498400" y="819208"/>
            <a:ext cx="50400" cy="0"/>
          </a:xfrm>
          <a:custGeom>
            <a:avLst/>
            <a:gdLst/>
            <a:ahLst/>
            <a:cxnLst/>
            <a:rect l="l" t="t" r="r" b="b"/>
            <a:pathLst>
              <a:path w="50400" h="0">
                <a:moveTo>
                  <a:pt x="0" y="0"/>
                </a:moveTo>
                <a:lnTo>
                  <a:pt x="50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Klammer Planauf­stellung"/>
          <p:cNvSpPr txBox="1"/>
          <p:nvPr/>
        </p:nvSpPr>
        <p:spPr>
          <a:xfrm>
            <a:off x="2570400" y="602204"/>
            <a:ext cx="590400" cy="4340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Planauf-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stellung</a:t>
            </a:r>
          </a:p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(Planung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i. e. S.)</a:t>
            </a:r>
          </a:p>
        </p:txBody>
      </p:sp>
      <p:sp>
        <p:nvSpPr>
          <p:cNvPr id="29" name="Freeform 28"/>
          <p:cNvSpPr/>
          <p:nvPr/>
        </p:nvSpPr>
        <p:spPr>
          <a:xfrm>
            <a:off x="2448000" y="1263012"/>
            <a:ext cx="50400" cy="231404"/>
          </a:xfrm>
          <a:custGeom>
            <a:avLst/>
            <a:gdLst/>
            <a:ahLst/>
            <a:cxnLst/>
            <a:rect l="l" t="t" r="r" b="b"/>
            <a:pathLst>
              <a:path w="50400" h="231404">
                <a:moveTo>
                  <a:pt x="0" y="0"/>
                </a:moveTo>
                <a:lnTo>
                  <a:pt x="50400" y="0"/>
                </a:lnTo>
                <a:lnTo>
                  <a:pt x="50400" y="231404"/>
                </a:lnTo>
                <a:lnTo>
                  <a:pt x="0" y="231404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498400" y="1378714"/>
            <a:ext cx="50400" cy="0"/>
          </a:xfrm>
          <a:custGeom>
            <a:avLst/>
            <a:gdLst/>
            <a:ahLst/>
            <a:cxnLst/>
            <a:rect l="l" t="t" r="r" b="b"/>
            <a:pathLst>
              <a:path w="50400" h="0">
                <a:moveTo>
                  <a:pt x="0" y="0"/>
                </a:moveTo>
                <a:lnTo>
                  <a:pt x="50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Klammer Planverab­schiedung"/>
          <p:cNvSpPr txBox="1"/>
          <p:nvPr/>
        </p:nvSpPr>
        <p:spPr>
          <a:xfrm>
            <a:off x="2570400" y="1266612"/>
            <a:ext cx="590400" cy="2242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Planverab-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schiedung</a:t>
            </a:r>
          </a:p>
        </p:txBody>
      </p:sp>
      <p:sp>
        <p:nvSpPr>
          <p:cNvPr id="32" name="Freeform 31"/>
          <p:cNvSpPr/>
          <p:nvPr/>
        </p:nvSpPr>
        <p:spPr>
          <a:xfrm>
            <a:off x="2448000" y="1552016"/>
            <a:ext cx="50400" cy="558810"/>
          </a:xfrm>
          <a:custGeom>
            <a:avLst/>
            <a:gdLst/>
            <a:ahLst/>
            <a:cxnLst/>
            <a:rect l="l" t="t" r="r" b="b"/>
            <a:pathLst>
              <a:path w="50400" h="558810">
                <a:moveTo>
                  <a:pt x="0" y="0"/>
                </a:moveTo>
                <a:lnTo>
                  <a:pt x="50400" y="0"/>
                </a:lnTo>
                <a:lnTo>
                  <a:pt x="50400" y="558810"/>
                </a:lnTo>
                <a:lnTo>
                  <a:pt x="0" y="55881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498400" y="1831421"/>
            <a:ext cx="50400" cy="0"/>
          </a:xfrm>
          <a:custGeom>
            <a:avLst/>
            <a:gdLst/>
            <a:ahLst/>
            <a:cxnLst/>
            <a:rect l="l" t="t" r="r" b="b"/>
            <a:pathLst>
              <a:path w="50400" h="0">
                <a:moveTo>
                  <a:pt x="0" y="0"/>
                </a:moveTo>
                <a:lnTo>
                  <a:pt x="50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Klammer Steuerung"/>
          <p:cNvSpPr txBox="1"/>
          <p:nvPr/>
        </p:nvSpPr>
        <p:spPr>
          <a:xfrm>
            <a:off x="2570400" y="1771770"/>
            <a:ext cx="590400" cy="1193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Steuerung</a:t>
            </a:r>
          </a:p>
        </p:txBody>
      </p:sp>
      <p:sp>
        <p:nvSpPr>
          <p:cNvPr id="35" name="Freeform 34"/>
          <p:cNvSpPr/>
          <p:nvPr/>
        </p:nvSpPr>
        <p:spPr>
          <a:xfrm>
            <a:off x="2448000" y="2168426"/>
            <a:ext cx="50400" cy="441208"/>
          </a:xfrm>
          <a:custGeom>
            <a:avLst/>
            <a:gdLst/>
            <a:ahLst/>
            <a:cxnLst/>
            <a:rect l="l" t="t" r="r" b="b"/>
            <a:pathLst>
              <a:path w="50400" h="441208">
                <a:moveTo>
                  <a:pt x="0" y="0"/>
                </a:moveTo>
                <a:lnTo>
                  <a:pt x="50400" y="0"/>
                </a:lnTo>
                <a:lnTo>
                  <a:pt x="50400" y="441208"/>
                </a:lnTo>
                <a:lnTo>
                  <a:pt x="0" y="441208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498400" y="2389030"/>
            <a:ext cx="50400" cy="0"/>
          </a:xfrm>
          <a:custGeom>
            <a:avLst/>
            <a:gdLst/>
            <a:ahLst/>
            <a:cxnLst/>
            <a:rect l="l" t="t" r="r" b="b"/>
            <a:pathLst>
              <a:path w="50400" h="0">
                <a:moveTo>
                  <a:pt x="0" y="0"/>
                </a:moveTo>
                <a:lnTo>
                  <a:pt x="50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Klammer Kontrolle"/>
          <p:cNvSpPr txBox="1"/>
          <p:nvPr/>
        </p:nvSpPr>
        <p:spPr>
          <a:xfrm>
            <a:off x="2570400" y="2329379"/>
            <a:ext cx="590400" cy="1193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Kontrolle</a:t>
            </a:r>
          </a:p>
        </p:txBody>
      </p:sp>
      <p:sp>
        <p:nvSpPr>
          <p:cNvPr id="38" name="Freeform 37"/>
          <p:cNvSpPr/>
          <p:nvPr/>
        </p:nvSpPr>
        <p:spPr>
          <a:xfrm>
            <a:off x="3204000" y="433004"/>
            <a:ext cx="50400" cy="1061412"/>
          </a:xfrm>
          <a:custGeom>
            <a:avLst/>
            <a:gdLst/>
            <a:ahLst/>
            <a:cxnLst/>
            <a:rect l="l" t="t" r="r" b="b"/>
            <a:pathLst>
              <a:path w="50400" h="1061412">
                <a:moveTo>
                  <a:pt x="0" y="0"/>
                </a:moveTo>
                <a:lnTo>
                  <a:pt x="50400" y="0"/>
                </a:lnTo>
                <a:lnTo>
                  <a:pt x="50400" y="1061412"/>
                </a:lnTo>
                <a:lnTo>
                  <a:pt x="0" y="1061412"/>
                </a:lnTo>
              </a:path>
            </a:pathLst>
          </a:custGeom>
          <a:noFill/>
          <a:ln w="12700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254400" y="963710"/>
            <a:ext cx="50400" cy="0"/>
          </a:xfrm>
          <a:custGeom>
            <a:avLst/>
            <a:gdLst/>
            <a:ahLst/>
            <a:cxnLst/>
            <a:rect l="l" t="t" r="r" b="b"/>
            <a:pathLst>
              <a:path w="50400" h="0">
                <a:moveTo>
                  <a:pt x="0" y="0"/>
                </a:moveTo>
                <a:lnTo>
                  <a:pt x="50400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Klammer Planung"/>
          <p:cNvSpPr txBox="1"/>
          <p:nvPr/>
        </p:nvSpPr>
        <p:spPr>
          <a:xfrm>
            <a:off x="3326400" y="851608"/>
            <a:ext cx="590400" cy="2242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C62828"/>
                </a:solidFill>
                <a:latin typeface="Arial"/>
              </a:rPr>
              <a:t>Planung</a:t>
            </a:r>
          </a:p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C62828"/>
                </a:solidFill>
                <a:latin typeface="Arial"/>
              </a:rPr>
              <a:t>(i. w. S.)</a:t>
            </a:r>
          </a:p>
        </p:txBody>
      </p:sp>
      <p:sp>
        <p:nvSpPr>
          <p:cNvPr id="41" name="Durchführung"/>
          <p:cNvSpPr/>
          <p:nvPr/>
        </p:nvSpPr>
        <p:spPr>
          <a:xfrm>
            <a:off x="3247200" y="1748621"/>
            <a:ext cx="684000" cy="165600"/>
          </a:xfrm>
          <a:prstGeom prst="roundRect">
            <a:avLst>
              <a:gd name="adj" fmla="val 17391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Durchführung</a:t>
            </a:r>
          </a:p>
        </p:txBody>
      </p:sp>
      <p:sp>
        <p:nvSpPr>
          <p:cNvPr id="42" name="Freeform 41"/>
          <p:cNvSpPr/>
          <p:nvPr/>
        </p:nvSpPr>
        <p:spPr>
          <a:xfrm>
            <a:off x="2376000" y="1523216"/>
            <a:ext cx="1213200" cy="225405"/>
          </a:xfrm>
          <a:custGeom>
            <a:avLst/>
            <a:gdLst/>
            <a:ahLst/>
            <a:cxnLst/>
            <a:rect l="l" t="t" r="r" b="b"/>
            <a:pathLst>
              <a:path w="1213200" h="225405">
                <a:moveTo>
                  <a:pt x="0" y="0"/>
                </a:moveTo>
                <a:lnTo>
                  <a:pt x="1213200" y="0"/>
                </a:lnTo>
                <a:lnTo>
                  <a:pt x="1213200" y="225405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Vorgabeinformation"/>
          <p:cNvSpPr txBox="1"/>
          <p:nvPr/>
        </p:nvSpPr>
        <p:spPr>
          <a:xfrm>
            <a:off x="2570400" y="1548416"/>
            <a:ext cx="658800" cy="22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Vorgabe-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information (Soll)</a:t>
            </a:r>
          </a:p>
        </p:txBody>
      </p:sp>
      <p:sp>
        <p:nvSpPr>
          <p:cNvPr id="44" name="Freeform 43"/>
          <p:cNvSpPr/>
          <p:nvPr/>
        </p:nvSpPr>
        <p:spPr>
          <a:xfrm>
            <a:off x="108000" y="310604"/>
            <a:ext cx="3481200" cy="2443030"/>
          </a:xfrm>
          <a:custGeom>
            <a:avLst/>
            <a:gdLst/>
            <a:ahLst/>
            <a:cxnLst/>
            <a:rect l="l" t="t" r="r" b="b"/>
            <a:pathLst>
              <a:path w="3481200" h="2443030">
                <a:moveTo>
                  <a:pt x="3481200" y="1603617"/>
                </a:moveTo>
                <a:lnTo>
                  <a:pt x="3481200" y="2443030"/>
                </a:lnTo>
                <a:lnTo>
                  <a:pt x="0" y="2443030"/>
                </a:lnTo>
                <a:lnTo>
                  <a:pt x="0" y="0"/>
                </a:lnTo>
                <a:lnTo>
                  <a:pt x="12600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ückinformation"/>
          <p:cNvSpPr txBox="1"/>
          <p:nvPr/>
        </p:nvSpPr>
        <p:spPr>
          <a:xfrm>
            <a:off x="2808000" y="2775234"/>
            <a:ext cx="1108800" cy="12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Rückinformation (Ist)</a:t>
            </a:r>
          </a:p>
        </p:txBody>
      </p:sp>
      <p:sp>
        <p:nvSpPr>
          <p:cNvPr id="46" name="Zielvorgabe"/>
          <p:cNvSpPr txBox="1"/>
          <p:nvPr/>
        </p:nvSpPr>
        <p:spPr>
          <a:xfrm>
            <a:off x="244800" y="245804"/>
            <a:ext cx="1080000" cy="1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Zielvorgabe</a:t>
            </a:r>
          </a:p>
        </p:txBody>
      </p:sp>
      <p:sp>
        <p:nvSpPr>
          <p:cNvPr id="47" name="Freeform 46"/>
          <p:cNvSpPr/>
          <p:nvPr/>
        </p:nvSpPr>
        <p:spPr>
          <a:xfrm>
            <a:off x="252000" y="379004"/>
            <a:ext cx="0" cy="1452417"/>
          </a:xfrm>
          <a:custGeom>
            <a:avLst/>
            <a:gdLst/>
            <a:ahLst/>
            <a:cxnLst/>
            <a:rect l="l" t="t" r="r" b="b"/>
            <a:pathLst>
              <a:path w="0" h="1452417">
                <a:moveTo>
                  <a:pt x="0" y="0"/>
                </a:moveTo>
                <a:lnTo>
                  <a:pt x="0" y="1452417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52000" y="548706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52000" y="819208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52000" y="1089710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52000" y="1378714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52000" y="1831421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