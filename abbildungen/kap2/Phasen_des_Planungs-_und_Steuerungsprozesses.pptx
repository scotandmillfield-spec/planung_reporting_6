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960000" cy="3081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opf Phasen"/>
          <p:cNvSpPr txBox="1"/>
          <p:nvPr/>
        </p:nvSpPr>
        <p:spPr>
          <a:xfrm>
            <a:off x="360000" y="180000"/>
            <a:ext cx="1008000" cy="314706"/>
          </a:xfrm>
          <a:prstGeom prst="rect">
            <a:avLst/>
          </a:prstGeom>
          <a:noFill/>
        </p:spPr>
        <p:txBody>
          <a:bodyPr wrap="square" lIns="32400" rIns="32400" tIns="0" bIns="0" anchor="b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1">
                <a:solidFill>
                  <a:srgbClr val="1A1A1A"/>
                </a:solidFill>
                <a:latin typeface="Arial"/>
              </a:rPr>
              <a:t>Phasen des</a:t>
            </a:r>
            <a:br>
              <a:rPr lang="de-DE" sz="70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1">
                <a:solidFill>
                  <a:srgbClr val="1A1A1A"/>
                </a:solidFill>
                <a:latin typeface="Arial"/>
              </a:rPr>
              <a:t>Führungsprozesses</a:t>
            </a:r>
          </a:p>
        </p:txBody>
      </p:sp>
      <p:sp>
        <p:nvSpPr>
          <p:cNvPr id="3" name="Kopf Tätigkeiten"/>
          <p:cNvSpPr txBox="1"/>
          <p:nvPr/>
        </p:nvSpPr>
        <p:spPr>
          <a:xfrm>
            <a:off x="1368000" y="180000"/>
            <a:ext cx="1008000" cy="314706"/>
          </a:xfrm>
          <a:prstGeom prst="rect">
            <a:avLst/>
          </a:prstGeom>
          <a:noFill/>
        </p:spPr>
        <p:txBody>
          <a:bodyPr wrap="square" lIns="32400" rIns="32400" tIns="0" bIns="0" anchor="b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1">
                <a:solidFill>
                  <a:srgbClr val="1A1A1A"/>
                </a:solidFill>
                <a:latin typeface="Arial"/>
              </a:rPr>
              <a:t>Tätigkeiten der</a:t>
            </a:r>
            <a:br>
              <a:rPr lang="de-DE" sz="70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1">
                <a:solidFill>
                  <a:srgbClr val="1A1A1A"/>
                </a:solidFill>
                <a:latin typeface="Arial"/>
              </a:rPr>
              <a:t>Unternehmungs-</a:t>
            </a:r>
            <a:br>
              <a:rPr lang="de-DE" sz="70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1">
                <a:solidFill>
                  <a:srgbClr val="1A1A1A"/>
                </a:solidFill>
                <a:latin typeface="Arial"/>
              </a:rPr>
              <a:t>führung</a:t>
            </a:r>
          </a:p>
        </p:txBody>
      </p:sp>
      <p:sp>
        <p:nvSpPr>
          <p:cNvPr id="4" name="Phase 1"/>
          <p:cNvSpPr/>
          <p:nvPr/>
        </p:nvSpPr>
        <p:spPr>
          <a:xfrm>
            <a:off x="360000" y="552306"/>
            <a:ext cx="1008000" cy="289004"/>
          </a:xfrm>
          <a:prstGeom prst="rect">
            <a:avLst/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5" name="Nummer Phase 1"/>
          <p:cNvSpPr txBox="1"/>
          <p:nvPr/>
        </p:nvSpPr>
        <p:spPr>
          <a:xfrm>
            <a:off x="392400" y="591906"/>
            <a:ext cx="115200" cy="2098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1.</a:t>
            </a:r>
          </a:p>
        </p:txBody>
      </p:sp>
      <p:sp>
        <p:nvSpPr>
          <p:cNvPr id="6" name="Text Phase 1"/>
          <p:cNvSpPr txBox="1"/>
          <p:nvPr/>
        </p:nvSpPr>
        <p:spPr>
          <a:xfrm>
            <a:off x="500400" y="591906"/>
            <a:ext cx="835200" cy="2098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Problemstellungs-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phase</a:t>
            </a:r>
          </a:p>
        </p:txBody>
      </p:sp>
      <p:sp>
        <p:nvSpPr>
          <p:cNvPr id="7" name="Phase 2"/>
          <p:cNvSpPr/>
          <p:nvPr/>
        </p:nvSpPr>
        <p:spPr>
          <a:xfrm>
            <a:off x="360000" y="841310"/>
            <a:ext cx="1008000" cy="252000"/>
          </a:xfrm>
          <a:prstGeom prst="rect">
            <a:avLst/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8" name="Nummer Phase 2"/>
          <p:cNvSpPr txBox="1"/>
          <p:nvPr/>
        </p:nvSpPr>
        <p:spPr>
          <a:xfrm>
            <a:off x="392400" y="914859"/>
            <a:ext cx="115200" cy="1049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2.</a:t>
            </a:r>
          </a:p>
        </p:txBody>
      </p:sp>
      <p:sp>
        <p:nvSpPr>
          <p:cNvPr id="9" name="Text Phase 2"/>
          <p:cNvSpPr txBox="1"/>
          <p:nvPr/>
        </p:nvSpPr>
        <p:spPr>
          <a:xfrm>
            <a:off x="500400" y="914859"/>
            <a:ext cx="835200" cy="1049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Suchphase</a:t>
            </a:r>
          </a:p>
        </p:txBody>
      </p:sp>
      <p:sp>
        <p:nvSpPr>
          <p:cNvPr id="10" name="Phase 3"/>
          <p:cNvSpPr/>
          <p:nvPr/>
        </p:nvSpPr>
        <p:spPr>
          <a:xfrm>
            <a:off x="360000" y="1093310"/>
            <a:ext cx="1008000" cy="289004"/>
          </a:xfrm>
          <a:prstGeom prst="rect">
            <a:avLst/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11" name="Nummer Phase 3"/>
          <p:cNvSpPr txBox="1"/>
          <p:nvPr/>
        </p:nvSpPr>
        <p:spPr>
          <a:xfrm>
            <a:off x="392400" y="1132910"/>
            <a:ext cx="115200" cy="2098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3.</a:t>
            </a:r>
          </a:p>
        </p:txBody>
      </p:sp>
      <p:sp>
        <p:nvSpPr>
          <p:cNvPr id="12" name="Text Phase 3"/>
          <p:cNvSpPr txBox="1"/>
          <p:nvPr/>
        </p:nvSpPr>
        <p:spPr>
          <a:xfrm>
            <a:off x="500400" y="1132910"/>
            <a:ext cx="835200" cy="2098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Beurteilungsphase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(Bewertungsphase)</a:t>
            </a:r>
          </a:p>
        </p:txBody>
      </p:sp>
      <p:sp>
        <p:nvSpPr>
          <p:cNvPr id="13" name="Phase 4"/>
          <p:cNvSpPr/>
          <p:nvPr/>
        </p:nvSpPr>
        <p:spPr>
          <a:xfrm>
            <a:off x="360000" y="1382314"/>
            <a:ext cx="1008000" cy="289004"/>
          </a:xfrm>
          <a:prstGeom prst="rect">
            <a:avLst/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14" name="Nummer Phase 4"/>
          <p:cNvSpPr txBox="1"/>
          <p:nvPr/>
        </p:nvSpPr>
        <p:spPr>
          <a:xfrm>
            <a:off x="392400" y="1421914"/>
            <a:ext cx="115200" cy="2098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4.</a:t>
            </a:r>
          </a:p>
        </p:txBody>
      </p:sp>
      <p:sp>
        <p:nvSpPr>
          <p:cNvPr id="15" name="Text Phase 4"/>
          <p:cNvSpPr txBox="1"/>
          <p:nvPr/>
        </p:nvSpPr>
        <p:spPr>
          <a:xfrm>
            <a:off x="500400" y="1421914"/>
            <a:ext cx="835200" cy="2098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Entscheidungs-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phase</a:t>
            </a:r>
          </a:p>
        </p:txBody>
      </p:sp>
      <p:sp>
        <p:nvSpPr>
          <p:cNvPr id="16" name="Phase 5"/>
          <p:cNvSpPr/>
          <p:nvPr/>
        </p:nvSpPr>
        <p:spPr>
          <a:xfrm>
            <a:off x="360000" y="1671318"/>
            <a:ext cx="1008000" cy="616410"/>
          </a:xfrm>
          <a:prstGeom prst="rect">
            <a:avLst/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17" name="Nummer Phase 5"/>
          <p:cNvSpPr txBox="1"/>
          <p:nvPr/>
        </p:nvSpPr>
        <p:spPr>
          <a:xfrm>
            <a:off x="392400" y="1927072"/>
            <a:ext cx="115200" cy="1049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5.</a:t>
            </a:r>
          </a:p>
        </p:txBody>
      </p:sp>
      <p:sp>
        <p:nvSpPr>
          <p:cNvPr id="18" name="Text Phase 5"/>
          <p:cNvSpPr txBox="1"/>
          <p:nvPr/>
        </p:nvSpPr>
        <p:spPr>
          <a:xfrm>
            <a:off x="500400" y="1927072"/>
            <a:ext cx="835200" cy="1049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Realisationsphase</a:t>
            </a:r>
          </a:p>
        </p:txBody>
      </p:sp>
      <p:sp>
        <p:nvSpPr>
          <p:cNvPr id="19" name="Phase 6"/>
          <p:cNvSpPr/>
          <p:nvPr/>
        </p:nvSpPr>
        <p:spPr>
          <a:xfrm>
            <a:off x="360000" y="2287728"/>
            <a:ext cx="1008000" cy="498808"/>
          </a:xfrm>
          <a:prstGeom prst="rect">
            <a:avLst/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20" name="Nummer Phase 6"/>
          <p:cNvSpPr txBox="1"/>
          <p:nvPr/>
        </p:nvSpPr>
        <p:spPr>
          <a:xfrm>
            <a:off x="392400" y="2484681"/>
            <a:ext cx="115200" cy="1049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6.</a:t>
            </a:r>
          </a:p>
        </p:txBody>
      </p:sp>
      <p:sp>
        <p:nvSpPr>
          <p:cNvPr id="21" name="Text Phase 6"/>
          <p:cNvSpPr txBox="1"/>
          <p:nvPr/>
        </p:nvSpPr>
        <p:spPr>
          <a:xfrm>
            <a:off x="500400" y="2484681"/>
            <a:ext cx="835200" cy="1049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Kontrollphase</a:t>
            </a:r>
          </a:p>
        </p:txBody>
      </p:sp>
      <p:sp>
        <p:nvSpPr>
          <p:cNvPr id="22" name="Entscheidungsvorbereitung"/>
          <p:cNvSpPr/>
          <p:nvPr/>
        </p:nvSpPr>
        <p:spPr>
          <a:xfrm>
            <a:off x="1368000" y="552306"/>
            <a:ext cx="1008000" cy="830008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Entscheidungs-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vorbereitung</a:t>
            </a:r>
          </a:p>
        </p:txBody>
      </p:sp>
      <p:sp>
        <p:nvSpPr>
          <p:cNvPr id="23" name="Tätigkeit 4"/>
          <p:cNvSpPr/>
          <p:nvPr/>
        </p:nvSpPr>
        <p:spPr>
          <a:xfrm>
            <a:off x="1368000" y="1382314"/>
            <a:ext cx="1008000" cy="289004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Entscheidungsfällung</a:t>
            </a:r>
          </a:p>
        </p:txBody>
      </p:sp>
      <p:sp>
        <p:nvSpPr>
          <p:cNvPr id="24" name="Tätigkeit 5"/>
          <p:cNvSpPr/>
          <p:nvPr/>
        </p:nvSpPr>
        <p:spPr>
          <a:xfrm>
            <a:off x="1368000" y="1671318"/>
            <a:ext cx="1008000" cy="61641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l" marL="79200" indent="-79200">
              <a:lnSpc>
                <a:spcPts val="826"/>
              </a:lnSpc>
              <a:buFont typeface="Arial"/>
              <a:buChar char="–"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Detaillierte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Festlegung der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Durchführung</a:t>
            </a:r>
          </a:p>
          <a:p>
            <a:pPr algn="l" marL="79200" indent="-79200">
              <a:lnSpc>
                <a:spcPts val="826"/>
              </a:lnSpc>
              <a:spcBef>
                <a:spcPts val="100"/>
              </a:spcBef>
              <a:buFont typeface="Arial"/>
              <a:buChar char="–"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Veranlassung der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Durchführung</a:t>
            </a:r>
          </a:p>
        </p:txBody>
      </p:sp>
      <p:sp>
        <p:nvSpPr>
          <p:cNvPr id="25" name="Tätigkeit 6"/>
          <p:cNvSpPr/>
          <p:nvPr/>
        </p:nvSpPr>
        <p:spPr>
          <a:xfrm>
            <a:off x="1368000" y="2287728"/>
            <a:ext cx="1008000" cy="498808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Vergleich der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Durchführungs- und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Entscheidungs-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resultate (Soll/Ist)</a:t>
            </a:r>
          </a:p>
        </p:txBody>
      </p:sp>
      <p:sp>
        <p:nvSpPr>
          <p:cNvPr id="26" name="Freeform 25"/>
          <p:cNvSpPr/>
          <p:nvPr/>
        </p:nvSpPr>
        <p:spPr>
          <a:xfrm>
            <a:off x="2448000" y="581106"/>
            <a:ext cx="50400" cy="772408"/>
          </a:xfrm>
          <a:custGeom>
            <a:avLst/>
            <a:gdLst/>
            <a:ahLst/>
            <a:cxnLst/>
            <a:rect l="l" t="t" r="r" b="b"/>
            <a:pathLst>
              <a:path w="50400" h="772408">
                <a:moveTo>
                  <a:pt x="0" y="0"/>
                </a:moveTo>
                <a:lnTo>
                  <a:pt x="50400" y="0"/>
                </a:lnTo>
                <a:lnTo>
                  <a:pt x="50400" y="772408"/>
                </a:lnTo>
                <a:lnTo>
                  <a:pt x="0" y="772408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498400" y="967310"/>
            <a:ext cx="50400" cy="0"/>
          </a:xfrm>
          <a:custGeom>
            <a:avLst/>
            <a:gdLst/>
            <a:ahLst/>
            <a:cxnLst/>
            <a:rect l="l" t="t" r="r" b="b"/>
            <a:pathLst>
              <a:path w="50400" h="0">
                <a:moveTo>
                  <a:pt x="0" y="0"/>
                </a:moveTo>
                <a:lnTo>
                  <a:pt x="504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Klammer Planauf­stellung"/>
          <p:cNvSpPr txBox="1"/>
          <p:nvPr/>
        </p:nvSpPr>
        <p:spPr>
          <a:xfrm>
            <a:off x="2570400" y="750306"/>
            <a:ext cx="590400" cy="4340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Planauf-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stellung</a:t>
            </a:r>
          </a:p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(Planung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i. e. S.)</a:t>
            </a:r>
          </a:p>
        </p:txBody>
      </p:sp>
      <p:sp>
        <p:nvSpPr>
          <p:cNvPr id="29" name="Freeform 28"/>
          <p:cNvSpPr/>
          <p:nvPr/>
        </p:nvSpPr>
        <p:spPr>
          <a:xfrm>
            <a:off x="2448000" y="1411114"/>
            <a:ext cx="50400" cy="231404"/>
          </a:xfrm>
          <a:custGeom>
            <a:avLst/>
            <a:gdLst/>
            <a:ahLst/>
            <a:cxnLst/>
            <a:rect l="l" t="t" r="r" b="b"/>
            <a:pathLst>
              <a:path w="50400" h="231404">
                <a:moveTo>
                  <a:pt x="0" y="0"/>
                </a:moveTo>
                <a:lnTo>
                  <a:pt x="50400" y="0"/>
                </a:lnTo>
                <a:lnTo>
                  <a:pt x="50400" y="231404"/>
                </a:lnTo>
                <a:lnTo>
                  <a:pt x="0" y="231404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2498400" y="1526816"/>
            <a:ext cx="50400" cy="0"/>
          </a:xfrm>
          <a:custGeom>
            <a:avLst/>
            <a:gdLst/>
            <a:ahLst/>
            <a:cxnLst/>
            <a:rect l="l" t="t" r="r" b="b"/>
            <a:pathLst>
              <a:path w="50400" h="0">
                <a:moveTo>
                  <a:pt x="0" y="0"/>
                </a:moveTo>
                <a:lnTo>
                  <a:pt x="504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Klammer Planverab­schiedung"/>
          <p:cNvSpPr txBox="1"/>
          <p:nvPr/>
        </p:nvSpPr>
        <p:spPr>
          <a:xfrm>
            <a:off x="2570400" y="1414714"/>
            <a:ext cx="590400" cy="2242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Planverab-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schiedung</a:t>
            </a:r>
          </a:p>
        </p:txBody>
      </p:sp>
      <p:sp>
        <p:nvSpPr>
          <p:cNvPr id="32" name="Freeform 31"/>
          <p:cNvSpPr/>
          <p:nvPr/>
        </p:nvSpPr>
        <p:spPr>
          <a:xfrm>
            <a:off x="2448000" y="1700118"/>
            <a:ext cx="50400" cy="558810"/>
          </a:xfrm>
          <a:custGeom>
            <a:avLst/>
            <a:gdLst/>
            <a:ahLst/>
            <a:cxnLst/>
            <a:rect l="l" t="t" r="r" b="b"/>
            <a:pathLst>
              <a:path w="50400" h="558810">
                <a:moveTo>
                  <a:pt x="0" y="0"/>
                </a:moveTo>
                <a:lnTo>
                  <a:pt x="50400" y="0"/>
                </a:lnTo>
                <a:lnTo>
                  <a:pt x="50400" y="558810"/>
                </a:lnTo>
                <a:lnTo>
                  <a:pt x="0" y="55881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2498400" y="1979523"/>
            <a:ext cx="50400" cy="0"/>
          </a:xfrm>
          <a:custGeom>
            <a:avLst/>
            <a:gdLst/>
            <a:ahLst/>
            <a:cxnLst/>
            <a:rect l="l" t="t" r="r" b="b"/>
            <a:pathLst>
              <a:path w="50400" h="0">
                <a:moveTo>
                  <a:pt x="0" y="0"/>
                </a:moveTo>
                <a:lnTo>
                  <a:pt x="504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Klammer Steuerung"/>
          <p:cNvSpPr txBox="1"/>
          <p:nvPr/>
        </p:nvSpPr>
        <p:spPr>
          <a:xfrm>
            <a:off x="2570400" y="1919872"/>
            <a:ext cx="590400" cy="1193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Steuerung</a:t>
            </a:r>
          </a:p>
        </p:txBody>
      </p:sp>
      <p:sp>
        <p:nvSpPr>
          <p:cNvPr id="35" name="Freeform 34"/>
          <p:cNvSpPr/>
          <p:nvPr/>
        </p:nvSpPr>
        <p:spPr>
          <a:xfrm>
            <a:off x="2448000" y="2316528"/>
            <a:ext cx="50400" cy="441208"/>
          </a:xfrm>
          <a:custGeom>
            <a:avLst/>
            <a:gdLst/>
            <a:ahLst/>
            <a:cxnLst/>
            <a:rect l="l" t="t" r="r" b="b"/>
            <a:pathLst>
              <a:path w="50400" h="441208">
                <a:moveTo>
                  <a:pt x="0" y="0"/>
                </a:moveTo>
                <a:lnTo>
                  <a:pt x="50400" y="0"/>
                </a:lnTo>
                <a:lnTo>
                  <a:pt x="50400" y="441208"/>
                </a:lnTo>
                <a:lnTo>
                  <a:pt x="0" y="441208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2498400" y="2537132"/>
            <a:ext cx="50400" cy="0"/>
          </a:xfrm>
          <a:custGeom>
            <a:avLst/>
            <a:gdLst/>
            <a:ahLst/>
            <a:cxnLst/>
            <a:rect l="l" t="t" r="r" b="b"/>
            <a:pathLst>
              <a:path w="50400" h="0">
                <a:moveTo>
                  <a:pt x="0" y="0"/>
                </a:moveTo>
                <a:lnTo>
                  <a:pt x="504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Klammer Kontrolle"/>
          <p:cNvSpPr txBox="1"/>
          <p:nvPr/>
        </p:nvSpPr>
        <p:spPr>
          <a:xfrm>
            <a:off x="2570400" y="2477481"/>
            <a:ext cx="590400" cy="1193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Kontrolle</a:t>
            </a:r>
          </a:p>
        </p:txBody>
      </p:sp>
      <p:sp>
        <p:nvSpPr>
          <p:cNvPr id="38" name="Freeform 37"/>
          <p:cNvSpPr/>
          <p:nvPr/>
        </p:nvSpPr>
        <p:spPr>
          <a:xfrm>
            <a:off x="3204000" y="581106"/>
            <a:ext cx="50400" cy="1061412"/>
          </a:xfrm>
          <a:custGeom>
            <a:avLst/>
            <a:gdLst/>
            <a:ahLst/>
            <a:cxnLst/>
            <a:rect l="l" t="t" r="r" b="b"/>
            <a:pathLst>
              <a:path w="50400" h="1061412">
                <a:moveTo>
                  <a:pt x="0" y="0"/>
                </a:moveTo>
                <a:lnTo>
                  <a:pt x="50400" y="0"/>
                </a:lnTo>
                <a:lnTo>
                  <a:pt x="50400" y="1061412"/>
                </a:lnTo>
                <a:lnTo>
                  <a:pt x="0" y="1061412"/>
                </a:lnTo>
              </a:path>
            </a:pathLst>
          </a:custGeom>
          <a:noFill/>
          <a:ln w="12700">
            <a:solidFill>
              <a:srgbClr val="C6282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254400" y="1111812"/>
            <a:ext cx="50400" cy="0"/>
          </a:xfrm>
          <a:custGeom>
            <a:avLst/>
            <a:gdLst/>
            <a:ahLst/>
            <a:cxnLst/>
            <a:rect l="l" t="t" r="r" b="b"/>
            <a:pathLst>
              <a:path w="50400" h="0">
                <a:moveTo>
                  <a:pt x="0" y="0"/>
                </a:moveTo>
                <a:lnTo>
                  <a:pt x="50400" y="0"/>
                </a:lnTo>
              </a:path>
            </a:pathLst>
          </a:custGeom>
          <a:noFill/>
          <a:ln w="12700">
            <a:solidFill>
              <a:srgbClr val="C6282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Klammer Planung"/>
          <p:cNvSpPr txBox="1"/>
          <p:nvPr/>
        </p:nvSpPr>
        <p:spPr>
          <a:xfrm>
            <a:off x="3326400" y="999710"/>
            <a:ext cx="590400" cy="2242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1" i="0">
                <a:solidFill>
                  <a:srgbClr val="C62828"/>
                </a:solidFill>
                <a:latin typeface="Arial"/>
              </a:rPr>
              <a:t>Planung</a:t>
            </a:r>
          </a:p>
          <a:p>
            <a:pPr algn="l">
              <a:lnSpc>
                <a:spcPts val="826"/>
              </a:lnSpc>
              <a:buNone/>
            </a:pPr>
            <a:r>
              <a:rPr lang="de-DE" sz="700" b="0" i="0">
                <a:solidFill>
                  <a:srgbClr val="C62828"/>
                </a:solidFill>
                <a:latin typeface="Arial"/>
              </a:rPr>
              <a:t>(i. w. S.)</a:t>
            </a:r>
          </a:p>
        </p:txBody>
      </p:sp>
      <p:sp>
        <p:nvSpPr>
          <p:cNvPr id="41" name="Durchführung"/>
          <p:cNvSpPr/>
          <p:nvPr/>
        </p:nvSpPr>
        <p:spPr>
          <a:xfrm>
            <a:off x="3247200" y="1752221"/>
            <a:ext cx="684000" cy="165600"/>
          </a:xfrm>
          <a:prstGeom prst="roundRect">
            <a:avLst>
              <a:gd name="adj" fmla="val 17391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Durchführung</a:t>
            </a:r>
          </a:p>
        </p:txBody>
      </p:sp>
      <p:sp>
        <p:nvSpPr>
          <p:cNvPr id="42" name="Freeform 41"/>
          <p:cNvSpPr/>
          <p:nvPr/>
        </p:nvSpPr>
        <p:spPr>
          <a:xfrm>
            <a:off x="2376000" y="1671318"/>
            <a:ext cx="1213200" cy="80903"/>
          </a:xfrm>
          <a:custGeom>
            <a:avLst/>
            <a:gdLst/>
            <a:ahLst/>
            <a:cxnLst/>
            <a:rect l="l" t="t" r="r" b="b"/>
            <a:pathLst>
              <a:path w="1213200" h="80903">
                <a:moveTo>
                  <a:pt x="0" y="0"/>
                </a:moveTo>
                <a:lnTo>
                  <a:pt x="1213200" y="0"/>
                </a:lnTo>
                <a:lnTo>
                  <a:pt x="1213200" y="80903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Vorgabeinformation"/>
          <p:cNvSpPr txBox="1"/>
          <p:nvPr/>
        </p:nvSpPr>
        <p:spPr>
          <a:xfrm>
            <a:off x="2570400" y="1696518"/>
            <a:ext cx="658800" cy="22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Vorgabe-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information (Soll)</a:t>
            </a:r>
          </a:p>
        </p:txBody>
      </p:sp>
      <p:sp>
        <p:nvSpPr>
          <p:cNvPr id="44" name="Freeform 43"/>
          <p:cNvSpPr/>
          <p:nvPr/>
        </p:nvSpPr>
        <p:spPr>
          <a:xfrm>
            <a:off x="108000" y="72000"/>
            <a:ext cx="3481200" cy="2829736"/>
          </a:xfrm>
          <a:custGeom>
            <a:avLst/>
            <a:gdLst/>
            <a:ahLst/>
            <a:cxnLst/>
            <a:rect l="l" t="t" r="r" b="b"/>
            <a:pathLst>
              <a:path w="3481200" h="2829736">
                <a:moveTo>
                  <a:pt x="3481200" y="1845821"/>
                </a:moveTo>
                <a:lnTo>
                  <a:pt x="3481200" y="2829736"/>
                </a:lnTo>
                <a:lnTo>
                  <a:pt x="0" y="2829736"/>
                </a:lnTo>
                <a:lnTo>
                  <a:pt x="0" y="0"/>
                </a:lnTo>
                <a:lnTo>
                  <a:pt x="126000" y="0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ückinformation"/>
          <p:cNvSpPr txBox="1"/>
          <p:nvPr/>
        </p:nvSpPr>
        <p:spPr>
          <a:xfrm>
            <a:off x="2808000" y="2923336"/>
            <a:ext cx="1108800" cy="12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Rückinformation (Ist)</a:t>
            </a:r>
          </a:p>
        </p:txBody>
      </p:sp>
      <p:sp>
        <p:nvSpPr>
          <p:cNvPr id="46" name="Zielvorgabe"/>
          <p:cNvSpPr txBox="1"/>
          <p:nvPr/>
        </p:nvSpPr>
        <p:spPr>
          <a:xfrm>
            <a:off x="244800" y="7200"/>
            <a:ext cx="1080000" cy="12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1">
                <a:solidFill>
                  <a:srgbClr val="1A1A1A"/>
                </a:solidFill>
                <a:latin typeface="Arial"/>
              </a:rPr>
              <a:t>Zielvorgabe</a:t>
            </a:r>
          </a:p>
        </p:txBody>
      </p:sp>
      <p:sp>
        <p:nvSpPr>
          <p:cNvPr id="47" name="Freeform 46"/>
          <p:cNvSpPr/>
          <p:nvPr/>
        </p:nvSpPr>
        <p:spPr>
          <a:xfrm>
            <a:off x="252000" y="140400"/>
            <a:ext cx="0" cy="1839123"/>
          </a:xfrm>
          <a:custGeom>
            <a:avLst/>
            <a:gdLst/>
            <a:ahLst/>
            <a:cxnLst/>
            <a:rect l="l" t="t" r="r" b="b"/>
            <a:pathLst>
              <a:path w="0" h="1839123">
                <a:moveTo>
                  <a:pt x="0" y="0"/>
                </a:moveTo>
                <a:lnTo>
                  <a:pt x="0" y="1839123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52000" y="696808"/>
            <a:ext cx="108000" cy="0"/>
          </a:xfrm>
          <a:custGeom>
            <a:avLst/>
            <a:gdLst/>
            <a:ahLst/>
            <a:cxnLst/>
            <a:rect l="l" t="t" r="r" b="b"/>
            <a:pathLst>
              <a:path w="108000" h="0">
                <a:moveTo>
                  <a:pt x="0" y="0"/>
                </a:moveTo>
                <a:lnTo>
                  <a:pt x="108000" y="0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52000" y="967310"/>
            <a:ext cx="108000" cy="0"/>
          </a:xfrm>
          <a:custGeom>
            <a:avLst/>
            <a:gdLst/>
            <a:ahLst/>
            <a:cxnLst/>
            <a:rect l="l" t="t" r="r" b="b"/>
            <a:pathLst>
              <a:path w="108000" h="0">
                <a:moveTo>
                  <a:pt x="0" y="0"/>
                </a:moveTo>
                <a:lnTo>
                  <a:pt x="108000" y="0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252000" y="1237812"/>
            <a:ext cx="108000" cy="0"/>
          </a:xfrm>
          <a:custGeom>
            <a:avLst/>
            <a:gdLst/>
            <a:ahLst/>
            <a:cxnLst/>
            <a:rect l="l" t="t" r="r" b="b"/>
            <a:pathLst>
              <a:path w="108000" h="0">
                <a:moveTo>
                  <a:pt x="0" y="0"/>
                </a:moveTo>
                <a:lnTo>
                  <a:pt x="108000" y="0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252000" y="1526816"/>
            <a:ext cx="108000" cy="0"/>
          </a:xfrm>
          <a:custGeom>
            <a:avLst/>
            <a:gdLst/>
            <a:ahLst/>
            <a:cxnLst/>
            <a:rect l="l" t="t" r="r" b="b"/>
            <a:pathLst>
              <a:path w="108000" h="0">
                <a:moveTo>
                  <a:pt x="0" y="0"/>
                </a:moveTo>
                <a:lnTo>
                  <a:pt x="108000" y="0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52000" y="1979523"/>
            <a:ext cx="108000" cy="0"/>
          </a:xfrm>
          <a:custGeom>
            <a:avLst/>
            <a:gdLst/>
            <a:ahLst/>
            <a:cxnLst/>
            <a:rect l="l" t="t" r="r" b="b"/>
            <a:pathLst>
              <a:path w="108000" h="0">
                <a:moveTo>
                  <a:pt x="0" y="0"/>
                </a:moveTo>
                <a:lnTo>
                  <a:pt x="108000" y="0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