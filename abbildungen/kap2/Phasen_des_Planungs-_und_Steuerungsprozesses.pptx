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31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16000"/>
            <a:ext cx="1008000" cy="357906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FFFFFF"/>
                </a:solidFill>
                <a:latin typeface="Arial"/>
              </a:rPr>
              <a:t>Phasen des</a:t>
            </a:r>
            <a:br>
              <a:rPr lang="de-DE" sz="70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FFFFFF"/>
                </a:solidFill>
                <a:latin typeface="Arial"/>
              </a:rPr>
              <a:t>Führungsprozesses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68000" y="216000"/>
            <a:ext cx="1008000" cy="357906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FFFFFF"/>
                </a:solidFill>
                <a:latin typeface="Arial"/>
              </a:rPr>
              <a:t>Tätigkeiten der</a:t>
            </a:r>
            <a:br>
              <a:rPr lang="de-DE" sz="70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FFFFFF"/>
                </a:solidFill>
                <a:latin typeface="Arial"/>
              </a:rPr>
              <a:t>Unternehmungs-</a:t>
            </a:r>
            <a:br>
              <a:rPr lang="de-DE" sz="70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FFFFFF"/>
                </a:solidFill>
                <a:latin typeface="Arial"/>
              </a:rPr>
              <a:t>führung</a:t>
            </a:r>
          </a:p>
        </p:txBody>
      </p:sp>
      <p:sp>
        <p:nvSpPr>
          <p:cNvPr id="4" name="Phase 1"/>
          <p:cNvSpPr/>
          <p:nvPr/>
        </p:nvSpPr>
        <p:spPr>
          <a:xfrm>
            <a:off x="360000" y="573906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1. Problemstellungs-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phase</a:t>
            </a:r>
          </a:p>
        </p:txBody>
      </p:sp>
      <p:sp>
        <p:nvSpPr>
          <p:cNvPr id="5" name="Phase 2"/>
          <p:cNvSpPr/>
          <p:nvPr/>
        </p:nvSpPr>
        <p:spPr>
          <a:xfrm>
            <a:off x="360000" y="862910"/>
            <a:ext cx="1008000" cy="252000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2. Suchphase</a:t>
            </a:r>
          </a:p>
        </p:txBody>
      </p:sp>
      <p:sp>
        <p:nvSpPr>
          <p:cNvPr id="6" name="Phase 3"/>
          <p:cNvSpPr/>
          <p:nvPr/>
        </p:nvSpPr>
        <p:spPr>
          <a:xfrm>
            <a:off x="360000" y="1114910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3. Beurteilungsphase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(Bewertungsphase)</a:t>
            </a:r>
          </a:p>
        </p:txBody>
      </p:sp>
      <p:sp>
        <p:nvSpPr>
          <p:cNvPr id="7" name="Phase 4"/>
          <p:cNvSpPr/>
          <p:nvPr/>
        </p:nvSpPr>
        <p:spPr>
          <a:xfrm>
            <a:off x="360000" y="1403914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4. 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phase</a:t>
            </a:r>
          </a:p>
        </p:txBody>
      </p:sp>
      <p:sp>
        <p:nvSpPr>
          <p:cNvPr id="8" name="Phase 5"/>
          <p:cNvSpPr/>
          <p:nvPr/>
        </p:nvSpPr>
        <p:spPr>
          <a:xfrm>
            <a:off x="360000" y="1692918"/>
            <a:ext cx="1008000" cy="616410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5. Realisationsphase</a:t>
            </a:r>
          </a:p>
        </p:txBody>
      </p:sp>
      <p:sp>
        <p:nvSpPr>
          <p:cNvPr id="9" name="Phase 6"/>
          <p:cNvSpPr/>
          <p:nvPr/>
        </p:nvSpPr>
        <p:spPr>
          <a:xfrm>
            <a:off x="360000" y="2309328"/>
            <a:ext cx="1008000" cy="498808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6. Kontrollphase</a:t>
            </a:r>
          </a:p>
        </p:txBody>
      </p:sp>
      <p:sp>
        <p:nvSpPr>
          <p:cNvPr id="10" name="Entscheidungsvorbereitung"/>
          <p:cNvSpPr/>
          <p:nvPr/>
        </p:nvSpPr>
        <p:spPr>
          <a:xfrm>
            <a:off x="1368000" y="573906"/>
            <a:ext cx="1008000" cy="830008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vorbereitung</a:t>
            </a:r>
          </a:p>
        </p:txBody>
      </p:sp>
      <p:sp>
        <p:nvSpPr>
          <p:cNvPr id="11" name="Tätigkeit 4"/>
          <p:cNvSpPr/>
          <p:nvPr/>
        </p:nvSpPr>
        <p:spPr>
          <a:xfrm>
            <a:off x="1368000" y="1403914"/>
            <a:ext cx="1008000" cy="289004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Entscheidungsfällung</a:t>
            </a:r>
          </a:p>
        </p:txBody>
      </p:sp>
      <p:sp>
        <p:nvSpPr>
          <p:cNvPr id="12" name="Tätigkeit 5"/>
          <p:cNvSpPr/>
          <p:nvPr/>
        </p:nvSpPr>
        <p:spPr>
          <a:xfrm>
            <a:off x="1368000" y="1692918"/>
            <a:ext cx="1008000" cy="61641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 marL="79200" indent="-79200">
              <a:lnSpc>
                <a:spcPts val="826"/>
              </a:lnSpc>
              <a:buFont typeface="Arial"/>
              <a:buChar char="–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Detaillierte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Festlegung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</a:t>
            </a:r>
          </a:p>
          <a:p>
            <a:pPr algn="l" marL="79200" indent="-79200">
              <a:lnSpc>
                <a:spcPts val="826"/>
              </a:lnSpc>
              <a:spcBef>
                <a:spcPts val="100"/>
              </a:spcBef>
              <a:buFont typeface="Arial"/>
              <a:buChar char="–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Veranlassung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13" name="Tätigkeit 6"/>
          <p:cNvSpPr/>
          <p:nvPr/>
        </p:nvSpPr>
        <p:spPr>
          <a:xfrm>
            <a:off x="1368000" y="2309328"/>
            <a:ext cx="1008000" cy="498808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Vergleich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Durchführungs- und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resultate (Soll/Ist)</a:t>
            </a:r>
          </a:p>
        </p:txBody>
      </p:sp>
      <p:sp>
        <p:nvSpPr>
          <p:cNvPr id="14" name="Freeform 13"/>
          <p:cNvSpPr/>
          <p:nvPr/>
        </p:nvSpPr>
        <p:spPr>
          <a:xfrm>
            <a:off x="2448000" y="602706"/>
            <a:ext cx="50400" cy="772408"/>
          </a:xfrm>
          <a:custGeom>
            <a:avLst/>
            <a:gdLst/>
            <a:ahLst/>
            <a:cxnLst/>
            <a:rect l="l" t="t" r="r" b="b"/>
            <a:pathLst>
              <a:path w="50400" h="772408">
                <a:moveTo>
                  <a:pt x="0" y="0"/>
                </a:moveTo>
                <a:lnTo>
                  <a:pt x="50400" y="0"/>
                </a:lnTo>
                <a:lnTo>
                  <a:pt x="50400" y="772408"/>
                </a:lnTo>
                <a:lnTo>
                  <a:pt x="0" y="772408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498400" y="988910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Klammer Planauf­stellung"/>
          <p:cNvSpPr txBox="1"/>
          <p:nvPr/>
        </p:nvSpPr>
        <p:spPr>
          <a:xfrm>
            <a:off x="2570400" y="771906"/>
            <a:ext cx="590400" cy="4340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Planauf-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stellung</a:t>
            </a:r>
          </a:p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(Planung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i. e. S.)</a:t>
            </a:r>
          </a:p>
        </p:txBody>
      </p:sp>
      <p:sp>
        <p:nvSpPr>
          <p:cNvPr id="17" name="Freeform 16"/>
          <p:cNvSpPr/>
          <p:nvPr/>
        </p:nvSpPr>
        <p:spPr>
          <a:xfrm>
            <a:off x="2448000" y="1432714"/>
            <a:ext cx="50400" cy="231404"/>
          </a:xfrm>
          <a:custGeom>
            <a:avLst/>
            <a:gdLst/>
            <a:ahLst/>
            <a:cxnLst/>
            <a:rect l="l" t="t" r="r" b="b"/>
            <a:pathLst>
              <a:path w="50400" h="231404">
                <a:moveTo>
                  <a:pt x="0" y="0"/>
                </a:moveTo>
                <a:lnTo>
                  <a:pt x="50400" y="0"/>
                </a:lnTo>
                <a:lnTo>
                  <a:pt x="50400" y="231404"/>
                </a:lnTo>
                <a:lnTo>
                  <a:pt x="0" y="231404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98400" y="1548416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Klammer Planverab­schiedung"/>
          <p:cNvSpPr txBox="1"/>
          <p:nvPr/>
        </p:nvSpPr>
        <p:spPr>
          <a:xfrm>
            <a:off x="2570400" y="1436314"/>
            <a:ext cx="590400" cy="2242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Planverab-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schiedung</a:t>
            </a:r>
          </a:p>
        </p:txBody>
      </p:sp>
      <p:sp>
        <p:nvSpPr>
          <p:cNvPr id="20" name="Freeform 19"/>
          <p:cNvSpPr/>
          <p:nvPr/>
        </p:nvSpPr>
        <p:spPr>
          <a:xfrm>
            <a:off x="2448000" y="1721718"/>
            <a:ext cx="50400" cy="558810"/>
          </a:xfrm>
          <a:custGeom>
            <a:avLst/>
            <a:gdLst/>
            <a:ahLst/>
            <a:cxnLst/>
            <a:rect l="l" t="t" r="r" b="b"/>
            <a:pathLst>
              <a:path w="50400" h="558810">
                <a:moveTo>
                  <a:pt x="0" y="0"/>
                </a:moveTo>
                <a:lnTo>
                  <a:pt x="50400" y="0"/>
                </a:lnTo>
                <a:lnTo>
                  <a:pt x="50400" y="558810"/>
                </a:lnTo>
                <a:lnTo>
                  <a:pt x="0" y="55881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498400" y="2001123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Klammer Steuerung"/>
          <p:cNvSpPr txBox="1"/>
          <p:nvPr/>
        </p:nvSpPr>
        <p:spPr>
          <a:xfrm>
            <a:off x="2570400" y="1941472"/>
            <a:ext cx="590400" cy="1193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Steuerung</a:t>
            </a:r>
          </a:p>
        </p:txBody>
      </p:sp>
      <p:sp>
        <p:nvSpPr>
          <p:cNvPr id="23" name="Freeform 22"/>
          <p:cNvSpPr/>
          <p:nvPr/>
        </p:nvSpPr>
        <p:spPr>
          <a:xfrm>
            <a:off x="2448000" y="2338128"/>
            <a:ext cx="50400" cy="441208"/>
          </a:xfrm>
          <a:custGeom>
            <a:avLst/>
            <a:gdLst/>
            <a:ahLst/>
            <a:cxnLst/>
            <a:rect l="l" t="t" r="r" b="b"/>
            <a:pathLst>
              <a:path w="50400" h="441208">
                <a:moveTo>
                  <a:pt x="0" y="0"/>
                </a:moveTo>
                <a:lnTo>
                  <a:pt x="50400" y="0"/>
                </a:lnTo>
                <a:lnTo>
                  <a:pt x="50400" y="441208"/>
                </a:lnTo>
                <a:lnTo>
                  <a:pt x="0" y="441208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498400" y="2558732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Klammer Kontrolle"/>
          <p:cNvSpPr txBox="1"/>
          <p:nvPr/>
        </p:nvSpPr>
        <p:spPr>
          <a:xfrm>
            <a:off x="2570400" y="2499081"/>
            <a:ext cx="590400" cy="1193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Kontrolle</a:t>
            </a:r>
          </a:p>
        </p:txBody>
      </p:sp>
      <p:sp>
        <p:nvSpPr>
          <p:cNvPr id="26" name="Freeform 25"/>
          <p:cNvSpPr/>
          <p:nvPr/>
        </p:nvSpPr>
        <p:spPr>
          <a:xfrm>
            <a:off x="3204000" y="602706"/>
            <a:ext cx="50400" cy="1061412"/>
          </a:xfrm>
          <a:custGeom>
            <a:avLst/>
            <a:gdLst/>
            <a:ahLst/>
            <a:cxnLst/>
            <a:rect l="l" t="t" r="r" b="b"/>
            <a:pathLst>
              <a:path w="50400" h="1061412">
                <a:moveTo>
                  <a:pt x="0" y="0"/>
                </a:moveTo>
                <a:lnTo>
                  <a:pt x="50400" y="0"/>
                </a:lnTo>
                <a:lnTo>
                  <a:pt x="50400" y="1061412"/>
                </a:lnTo>
                <a:lnTo>
                  <a:pt x="0" y="1061412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254400" y="1133412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Klammer Planung"/>
          <p:cNvSpPr txBox="1"/>
          <p:nvPr/>
        </p:nvSpPr>
        <p:spPr>
          <a:xfrm>
            <a:off x="3326400" y="1021310"/>
            <a:ext cx="590400" cy="2242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C62828"/>
                </a:solidFill>
                <a:latin typeface="Arial"/>
              </a:rPr>
              <a:t>Planung</a:t>
            </a:r>
          </a:p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C62828"/>
                </a:solidFill>
                <a:latin typeface="Arial"/>
              </a:rPr>
              <a:t>(i. w. S.)</a:t>
            </a:r>
          </a:p>
        </p:txBody>
      </p:sp>
      <p:sp>
        <p:nvSpPr>
          <p:cNvPr id="29" name="Durchführung"/>
          <p:cNvSpPr/>
          <p:nvPr/>
        </p:nvSpPr>
        <p:spPr>
          <a:xfrm>
            <a:off x="3225600" y="1908918"/>
            <a:ext cx="6912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30" name="Freeform 29"/>
          <p:cNvSpPr/>
          <p:nvPr/>
        </p:nvSpPr>
        <p:spPr>
          <a:xfrm>
            <a:off x="2376000" y="1692918"/>
            <a:ext cx="1195200" cy="216000"/>
          </a:xfrm>
          <a:custGeom>
            <a:avLst/>
            <a:gdLst/>
            <a:ahLst/>
            <a:cxnLst/>
            <a:rect l="l" t="t" r="r" b="b"/>
            <a:pathLst>
              <a:path w="1195200" h="216000">
                <a:moveTo>
                  <a:pt x="0" y="0"/>
                </a:moveTo>
                <a:lnTo>
                  <a:pt x="1195200" y="0"/>
                </a:lnTo>
                <a:lnTo>
                  <a:pt x="1195200" y="21600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Vorgabeinformation"/>
          <p:cNvSpPr txBox="1"/>
          <p:nvPr/>
        </p:nvSpPr>
        <p:spPr>
          <a:xfrm>
            <a:off x="2570400" y="1718118"/>
            <a:ext cx="946800" cy="22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Vorgabeinformation</a:t>
            </a:r>
          </a:p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(Soll)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8000" y="72000"/>
            <a:ext cx="3463200" cy="2851336"/>
          </a:xfrm>
          <a:custGeom>
            <a:avLst/>
            <a:gdLst/>
            <a:ahLst/>
            <a:cxnLst/>
            <a:rect l="l" t="t" r="r" b="b"/>
            <a:pathLst>
              <a:path w="3463200" h="2851336">
                <a:moveTo>
                  <a:pt x="3463200" y="2038518"/>
                </a:moveTo>
                <a:lnTo>
                  <a:pt x="3463200" y="2851336"/>
                </a:lnTo>
                <a:lnTo>
                  <a:pt x="0" y="2851336"/>
                </a:lnTo>
                <a:lnTo>
                  <a:pt x="0" y="0"/>
                </a:lnTo>
                <a:lnTo>
                  <a:pt x="864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ückinformation"/>
          <p:cNvSpPr txBox="1"/>
          <p:nvPr/>
        </p:nvSpPr>
        <p:spPr>
          <a:xfrm>
            <a:off x="2808000" y="2944936"/>
            <a:ext cx="1108800" cy="12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Rückinformation (Ist)</a:t>
            </a:r>
          </a:p>
        </p:txBody>
      </p:sp>
      <p:sp>
        <p:nvSpPr>
          <p:cNvPr id="34" name="Zielvorgabe"/>
          <p:cNvSpPr txBox="1"/>
          <p:nvPr/>
        </p:nvSpPr>
        <p:spPr>
          <a:xfrm>
            <a:off x="201600" y="7200"/>
            <a:ext cx="1080000" cy="12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Zielvorgabe</a:t>
            </a:r>
          </a:p>
        </p:txBody>
      </p:sp>
      <p:sp>
        <p:nvSpPr>
          <p:cNvPr id="35" name="Freeform 34"/>
          <p:cNvSpPr/>
          <p:nvPr/>
        </p:nvSpPr>
        <p:spPr>
          <a:xfrm>
            <a:off x="252000" y="140400"/>
            <a:ext cx="0" cy="1860723"/>
          </a:xfrm>
          <a:custGeom>
            <a:avLst/>
            <a:gdLst/>
            <a:ahLst/>
            <a:cxnLst/>
            <a:rect l="l" t="t" r="r" b="b"/>
            <a:pathLst>
              <a:path w="0" h="1860723">
                <a:moveTo>
                  <a:pt x="0" y="0"/>
                </a:moveTo>
                <a:lnTo>
                  <a:pt x="0" y="1860723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252000" y="718408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52000" y="988910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52000" y="1259412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52000" y="1548416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2000" y="2001123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