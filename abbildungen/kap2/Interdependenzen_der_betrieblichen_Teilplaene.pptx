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580000" cy="35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nd Generelle Zielplanung"/>
          <p:cNvSpPr/>
          <p:nvPr/>
        </p:nvSpPr>
        <p:spPr>
          <a:xfrm>
            <a:off x="0" y="0"/>
            <a:ext cx="5580000" cy="446400"/>
          </a:xfrm>
          <a:prstGeom prst="roundRect">
            <a:avLst>
              <a:gd name="adj" fmla="val 12097"/>
            </a:avLst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Bandtitel Generelle Zielplanung"/>
          <p:cNvSpPr txBox="1"/>
          <p:nvPr/>
        </p:nvSpPr>
        <p:spPr>
          <a:xfrm>
            <a:off x="57600" y="32400"/>
            <a:ext cx="5472000" cy="115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1" i="0">
                <a:solidFill>
                  <a:srgbClr val="3A3F44"/>
                </a:solidFill>
                <a:latin typeface="Arial"/>
              </a:rPr>
              <a:t>GENERELLE ZIELPLANUNG</a:t>
            </a:r>
          </a:p>
        </p:txBody>
      </p:sp>
      <p:sp>
        <p:nvSpPr>
          <p:cNvPr id="4" name="Band Strategische Planung"/>
          <p:cNvSpPr/>
          <p:nvPr/>
        </p:nvSpPr>
        <p:spPr>
          <a:xfrm>
            <a:off x="0" y="489600"/>
            <a:ext cx="5580000" cy="1281600"/>
          </a:xfrm>
          <a:prstGeom prst="roundRect">
            <a:avLst>
              <a:gd name="adj" fmla="val 4213"/>
            </a:avLst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Bandtitel Strategische Planung"/>
          <p:cNvSpPr txBox="1"/>
          <p:nvPr/>
        </p:nvSpPr>
        <p:spPr>
          <a:xfrm>
            <a:off x="57600" y="522000"/>
            <a:ext cx="5472000" cy="115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1" i="0">
                <a:solidFill>
                  <a:srgbClr val="3A3F44"/>
                </a:solidFill>
                <a:latin typeface="Arial"/>
              </a:rPr>
              <a:t>STRATEGISCHE PLANUNG</a:t>
            </a:r>
          </a:p>
        </p:txBody>
      </p:sp>
      <p:sp>
        <p:nvSpPr>
          <p:cNvPr id="6" name="Band Operative Planung"/>
          <p:cNvSpPr/>
          <p:nvPr/>
        </p:nvSpPr>
        <p:spPr>
          <a:xfrm>
            <a:off x="0" y="1821600"/>
            <a:ext cx="5580000" cy="1699200"/>
          </a:xfrm>
          <a:prstGeom prst="roundRect">
            <a:avLst>
              <a:gd name="adj" fmla="val 3178"/>
            </a:avLst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Bandtitel Operative Planung"/>
          <p:cNvSpPr txBox="1"/>
          <p:nvPr/>
        </p:nvSpPr>
        <p:spPr>
          <a:xfrm>
            <a:off x="57600" y="1854000"/>
            <a:ext cx="5472000" cy="115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1" i="0">
                <a:solidFill>
                  <a:srgbClr val="3A3F44"/>
                </a:solidFill>
                <a:latin typeface="Arial"/>
              </a:rPr>
              <a:t>OPERATIVE PLANUNG</a:t>
            </a:r>
          </a:p>
        </p:txBody>
      </p:sp>
      <p:sp>
        <p:nvSpPr>
          <p:cNvPr id="8" name="Unternehmensgrundsätze"/>
          <p:cNvSpPr/>
          <p:nvPr/>
        </p:nvSpPr>
        <p:spPr>
          <a:xfrm>
            <a:off x="1692000" y="36000"/>
            <a:ext cx="2196000" cy="374400"/>
          </a:xfrm>
          <a:prstGeom prst="roundRect">
            <a:avLst>
              <a:gd name="adj" fmla="val 7692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92000" y="39600"/>
            <a:ext cx="2196000" cy="1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767"/>
              </a:lnSpc>
              <a:buNone/>
            </a:pPr>
            <a:r>
              <a:rPr lang="de-DE" sz="650" b="1" i="0">
                <a:solidFill>
                  <a:srgbClr val="1A1A1A"/>
                </a:solidFill>
                <a:latin typeface="Arial"/>
              </a:rPr>
              <a:t>Unternehmensgrundsätze: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5200" y="151200"/>
            <a:ext cx="679200" cy="1224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Sozialziele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400" y="151200"/>
            <a:ext cx="679200" cy="1224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Sachziele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5600" y="151200"/>
            <a:ext cx="679200" cy="122400"/>
          </a:xfrm>
          <a:prstGeom prst="roundRect">
            <a:avLst>
              <a:gd name="adj" fmla="val 23529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Wertziele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2000" y="280800"/>
            <a:ext cx="2196000" cy="12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Unternehmensleitlinie/-philosophie</a:t>
            </a:r>
          </a:p>
        </p:txBody>
      </p:sp>
      <p:sp>
        <p:nvSpPr>
          <p:cNvPr id="14" name="Erfolgspotenzialplanung"/>
          <p:cNvSpPr/>
          <p:nvPr/>
        </p:nvSpPr>
        <p:spPr>
          <a:xfrm>
            <a:off x="108000" y="640800"/>
            <a:ext cx="3384000" cy="741600"/>
          </a:xfrm>
          <a:prstGeom prst="roundRect">
            <a:avLst>
              <a:gd name="adj" fmla="val 5825"/>
            </a:avLst>
          </a:prstGeom>
          <a:noFill/>
          <a:ln w="6350">
            <a:solidFill>
              <a:srgbClr val="8C8C8C"/>
            </a:solidFill>
            <a:prstDash val="sysDash"/>
            <a:round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8000" y="648000"/>
            <a:ext cx="3384000" cy="115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767"/>
              </a:lnSpc>
              <a:buNone/>
            </a:pPr>
            <a:r>
              <a:rPr lang="de-DE" sz="650" b="1" i="0">
                <a:solidFill>
                  <a:srgbClr val="1A1A1A"/>
                </a:solidFill>
                <a:latin typeface="Arial"/>
              </a:rPr>
              <a:t>Erfolgspotenzialplanung</a:t>
            </a:r>
          </a:p>
        </p:txBody>
      </p:sp>
      <p:sp>
        <p:nvSpPr>
          <p:cNvPr id="16" name="Geschäftsfeldplanung"/>
          <p:cNvSpPr/>
          <p:nvPr/>
        </p:nvSpPr>
        <p:spPr>
          <a:xfrm>
            <a:off x="180000" y="770400"/>
            <a:ext cx="1692000" cy="57600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67"/>
              </a:lnSpc>
              <a:buNone/>
            </a:pPr>
            <a:r>
              <a:rPr lang="de-DE" sz="650" b="1" i="0">
                <a:solidFill>
                  <a:srgbClr val="1A1A1A"/>
                </a:solidFill>
                <a:latin typeface="Arial"/>
              </a:rPr>
              <a:t>Geschäftsfeldplanung</a:t>
            </a:r>
          </a:p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langfr. Leistungs- u. Produktprogrammplanung,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langfr. Wettbewerbs-/Marktstrukturplanung,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Lebenszyklusplanung, langfr. Potenzialplanung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(Betriebsmittel-, Personalplanung)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44000" y="770400"/>
            <a:ext cx="702000" cy="57600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Unternehmens-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größen-,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Kapitalstruktur-,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Standort-,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Rechtsstruktur-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18000" y="770400"/>
            <a:ext cx="702000" cy="57600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Organisations-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und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Kommunikations-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Führungskräfte-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19" name="Ableitung strategischer Zielgrößen"/>
          <p:cNvSpPr/>
          <p:nvPr/>
        </p:nvSpPr>
        <p:spPr>
          <a:xfrm>
            <a:off x="3618000" y="640800"/>
            <a:ext cx="1944000" cy="741600"/>
          </a:xfrm>
          <a:prstGeom prst="roundRect">
            <a:avLst>
              <a:gd name="adj" fmla="val 5825"/>
            </a:avLst>
          </a:prstGeom>
          <a:noFill/>
          <a:ln w="6350">
            <a:solidFill>
              <a:srgbClr val="8C8C8C"/>
            </a:solidFill>
            <a:prstDash val="sysDash"/>
            <a:round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618000" y="648000"/>
            <a:ext cx="1944000" cy="115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767"/>
              </a:lnSpc>
              <a:buNone/>
            </a:pPr>
            <a:r>
              <a:rPr lang="de-DE" sz="650" b="1" i="0">
                <a:solidFill>
                  <a:srgbClr val="1A1A1A"/>
                </a:solidFill>
                <a:latin typeface="Arial"/>
              </a:rPr>
              <a:t>Ableitung strategischer Zielgrößen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68400" y="770400"/>
            <a:ext cx="896400" cy="57600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nicht monetäre</a:t>
            </a:r>
            <a:br>
              <a:rPr lang="de-DE" sz="6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1" i="0">
                <a:solidFill>
                  <a:srgbClr val="1A1A1A"/>
                </a:solidFill>
                <a:latin typeface="Arial"/>
              </a:rPr>
              <a:t>Sachziele:</a:t>
            </a:r>
          </a:p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Produktivitäts-,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Bestands-,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Auslastungs-,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Mengen-Ziele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5200" y="770400"/>
            <a:ext cx="896400" cy="576000"/>
          </a:xfrm>
          <a:prstGeom prst="roundRect">
            <a:avLst>
              <a:gd name="adj" fmla="val 5000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monetäre Wertziele:</a:t>
            </a:r>
          </a:p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Ergebnis-,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Rentabilitäts-,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Liquiditäts-,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Umsatz-Ziele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64000" y="1476000"/>
            <a:ext cx="1386000" cy="215832"/>
          </a:xfrm>
          <a:prstGeom prst="roundRect">
            <a:avLst>
              <a:gd name="adj" fmla="val 13344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Investitions-/Desinvestitionsplanung,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langfr. Finanzierungsplanung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40000" y="1706400"/>
            <a:ext cx="871200" cy="215832"/>
          </a:xfrm>
          <a:prstGeom prst="roundRect">
            <a:avLst>
              <a:gd name="adj" fmla="val 13344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Forschungs-/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Entwicklungsplanung</a:t>
            </a:r>
          </a:p>
        </p:txBody>
      </p:sp>
      <p:sp>
        <p:nvSpPr>
          <p:cNvPr id="25" name="Mengen- und Prozesspläne"/>
          <p:cNvSpPr/>
          <p:nvPr/>
        </p:nvSpPr>
        <p:spPr>
          <a:xfrm>
            <a:off x="64800" y="2052000"/>
            <a:ext cx="2282400" cy="1425600"/>
          </a:xfrm>
          <a:prstGeom prst="roundRect">
            <a:avLst>
              <a:gd name="adj" fmla="val 3030"/>
            </a:avLst>
          </a:prstGeom>
          <a:noFill/>
          <a:ln w="6350">
            <a:solidFill>
              <a:srgbClr val="8C8C8C"/>
            </a:solidFill>
            <a:prstDash val="sysDash"/>
            <a:round/>
          </a:ln>
        </p:spPr>
        <p:txBody>
          <a:bodyPr rtlCol="0" anchor="ctr"/>
          <a:lstStyle/>
          <a:p/>
        </p:txBody>
      </p:sp>
      <p:sp>
        <p:nvSpPr>
          <p:cNvPr id="26" name="Produktprogrammplanung"/>
          <p:cNvSpPr/>
          <p:nvPr/>
        </p:nvSpPr>
        <p:spPr>
          <a:xfrm rot="16200000">
            <a:off x="-378000" y="2610000"/>
            <a:ext cx="1310400" cy="309600"/>
          </a:xfrm>
          <a:prstGeom prst="roundRect">
            <a:avLst>
              <a:gd name="adj" fmla="val 9302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Unternehmensübergreifende kurz-/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mittelfristige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Produktprogrammplanung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7200" y="2109600"/>
            <a:ext cx="8064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Absatzplanung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7200" y="2367084"/>
            <a:ext cx="806400" cy="215832"/>
          </a:xfrm>
          <a:prstGeom prst="roundRect">
            <a:avLst>
              <a:gd name="adj" fmla="val 13344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Lagerbestands-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7200" y="2689200"/>
            <a:ext cx="8064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Produktionsplanung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7200" y="2946684"/>
            <a:ext cx="806400" cy="215832"/>
          </a:xfrm>
          <a:prstGeom prst="roundRect">
            <a:avLst>
              <a:gd name="adj" fmla="val 13344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Lagerbestands-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7200" y="3268800"/>
            <a:ext cx="8064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Beschaffungsplanung</a:t>
            </a:r>
          </a:p>
        </p:txBody>
      </p:sp>
      <p:sp>
        <p:nvSpPr>
          <p:cNvPr id="32" name="Freeform 31"/>
          <p:cNvSpPr/>
          <p:nvPr/>
        </p:nvSpPr>
        <p:spPr>
          <a:xfrm>
            <a:off x="950400" y="2260800"/>
            <a:ext cx="0" cy="106284"/>
          </a:xfrm>
          <a:custGeom>
            <a:avLst/>
            <a:gdLst/>
            <a:ahLst/>
            <a:cxnLst/>
            <a:rect l="l" t="t" r="r" b="b"/>
            <a:pathLst>
              <a:path w="0" h="106284">
                <a:moveTo>
                  <a:pt x="0" y="0"/>
                </a:moveTo>
                <a:lnTo>
                  <a:pt x="0" y="10628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50400" y="2582916"/>
            <a:ext cx="0" cy="106284"/>
          </a:xfrm>
          <a:custGeom>
            <a:avLst/>
            <a:gdLst/>
            <a:ahLst/>
            <a:cxnLst/>
            <a:rect l="l" t="t" r="r" b="b"/>
            <a:pathLst>
              <a:path w="0" h="106284">
                <a:moveTo>
                  <a:pt x="0" y="0"/>
                </a:moveTo>
                <a:lnTo>
                  <a:pt x="0" y="10628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950400" y="2840400"/>
            <a:ext cx="0" cy="106284"/>
          </a:xfrm>
          <a:custGeom>
            <a:avLst/>
            <a:gdLst/>
            <a:ahLst/>
            <a:cxnLst/>
            <a:rect l="l" t="t" r="r" b="b"/>
            <a:pathLst>
              <a:path w="0" h="106284">
                <a:moveTo>
                  <a:pt x="0" y="0"/>
                </a:moveTo>
                <a:lnTo>
                  <a:pt x="0" y="10628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950400" y="3162516"/>
            <a:ext cx="0" cy="106284"/>
          </a:xfrm>
          <a:custGeom>
            <a:avLst/>
            <a:gdLst/>
            <a:ahLst/>
            <a:cxnLst/>
            <a:rect l="l" t="t" r="r" b="b"/>
            <a:pathLst>
              <a:path w="0" h="106284">
                <a:moveTo>
                  <a:pt x="0" y="0"/>
                </a:moveTo>
                <a:lnTo>
                  <a:pt x="0" y="10628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32000" y="2185200"/>
            <a:ext cx="115200" cy="0"/>
          </a:xfrm>
          <a:custGeom>
            <a:avLst/>
            <a:gdLst/>
            <a:ahLst/>
            <a:cxnLst/>
            <a:rect l="l" t="t" r="r" b="b"/>
            <a:pathLst>
              <a:path w="115200" h="0">
                <a:moveTo>
                  <a:pt x="0" y="0"/>
                </a:moveTo>
                <a:lnTo>
                  <a:pt x="115200" y="0"/>
                </a:lnTo>
              </a:path>
            </a:pathLst>
          </a:custGeom>
          <a:noFill/>
          <a:ln w="762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32000" y="2475000"/>
            <a:ext cx="115200" cy="0"/>
          </a:xfrm>
          <a:custGeom>
            <a:avLst/>
            <a:gdLst/>
            <a:ahLst/>
            <a:cxnLst/>
            <a:rect l="l" t="t" r="r" b="b"/>
            <a:pathLst>
              <a:path w="115200" h="0">
                <a:moveTo>
                  <a:pt x="0" y="0"/>
                </a:moveTo>
                <a:lnTo>
                  <a:pt x="115200" y="0"/>
                </a:lnTo>
              </a:path>
            </a:pathLst>
          </a:custGeom>
          <a:noFill/>
          <a:ln w="762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432000" y="2764800"/>
            <a:ext cx="115200" cy="0"/>
          </a:xfrm>
          <a:custGeom>
            <a:avLst/>
            <a:gdLst/>
            <a:ahLst/>
            <a:cxnLst/>
            <a:rect l="l" t="t" r="r" b="b"/>
            <a:pathLst>
              <a:path w="115200" h="0">
                <a:moveTo>
                  <a:pt x="0" y="0"/>
                </a:moveTo>
                <a:lnTo>
                  <a:pt x="115200" y="0"/>
                </a:lnTo>
              </a:path>
            </a:pathLst>
          </a:custGeom>
          <a:noFill/>
          <a:ln w="762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32000" y="3054600"/>
            <a:ext cx="115200" cy="0"/>
          </a:xfrm>
          <a:custGeom>
            <a:avLst/>
            <a:gdLst/>
            <a:ahLst/>
            <a:cxnLst/>
            <a:rect l="l" t="t" r="r" b="b"/>
            <a:pathLst>
              <a:path w="115200" h="0">
                <a:moveTo>
                  <a:pt x="0" y="0"/>
                </a:moveTo>
                <a:lnTo>
                  <a:pt x="115200" y="0"/>
                </a:lnTo>
              </a:path>
            </a:pathLst>
          </a:custGeom>
          <a:noFill/>
          <a:ln w="762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32000" y="3344400"/>
            <a:ext cx="115200" cy="0"/>
          </a:xfrm>
          <a:custGeom>
            <a:avLst/>
            <a:gdLst/>
            <a:ahLst/>
            <a:cxnLst/>
            <a:rect l="l" t="t" r="r" b="b"/>
            <a:pathLst>
              <a:path w="115200" h="0">
                <a:moveTo>
                  <a:pt x="0" y="0"/>
                </a:moveTo>
                <a:lnTo>
                  <a:pt x="115200" y="0"/>
                </a:lnTo>
              </a:path>
            </a:pathLst>
          </a:custGeom>
          <a:noFill/>
          <a:ln w="762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440000" y="2286000"/>
            <a:ext cx="871200" cy="305748"/>
          </a:xfrm>
          <a:prstGeom prst="roundRect">
            <a:avLst>
              <a:gd name="adj" fmla="val 942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Logistikplanung</a:t>
            </a:r>
          </a:p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(Lager-, Transport-,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Bereitstellungsplanung)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40000" y="2771748"/>
            <a:ext cx="871200" cy="395664"/>
          </a:xfrm>
          <a:prstGeom prst="roundRect">
            <a:avLst>
              <a:gd name="adj" fmla="val 727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Pläne der Verwaltung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und anderer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unterstützender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Unternehmensbereiche</a:t>
            </a:r>
          </a:p>
        </p:txBody>
      </p:sp>
      <p:sp>
        <p:nvSpPr>
          <p:cNvPr id="43" name="Ressourcenpläne"/>
          <p:cNvSpPr/>
          <p:nvPr/>
        </p:nvSpPr>
        <p:spPr>
          <a:xfrm>
            <a:off x="2466000" y="2052000"/>
            <a:ext cx="828000" cy="1036632"/>
          </a:xfrm>
          <a:prstGeom prst="roundRect">
            <a:avLst>
              <a:gd name="adj" fmla="val 5217"/>
            </a:avLst>
          </a:prstGeom>
          <a:noFill/>
          <a:ln w="6350">
            <a:solidFill>
              <a:srgbClr val="8C8C8C"/>
            </a:solidFill>
            <a:prstDash val="sysDash"/>
            <a:round/>
          </a:ln>
        </p:spPr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2520000" y="2116800"/>
            <a:ext cx="7200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Betriebsmittelpläne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20000" y="2347200"/>
            <a:ext cx="7200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Personalpläne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20000" y="2577600"/>
            <a:ext cx="720000" cy="151200"/>
          </a:xfrm>
          <a:prstGeom prst="roundRect">
            <a:avLst>
              <a:gd name="adj" fmla="val 1904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Leistungspläne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20000" y="2808000"/>
            <a:ext cx="720000" cy="215832"/>
          </a:xfrm>
          <a:prstGeom prst="roundRect">
            <a:avLst>
              <a:gd name="adj" fmla="val 13344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Verbrauchsfaktor-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pläne</a:t>
            </a:r>
          </a:p>
        </p:txBody>
      </p:sp>
      <p:sp>
        <p:nvSpPr>
          <p:cNvPr id="48" name="Wertmäßige Pläne"/>
          <p:cNvSpPr/>
          <p:nvPr/>
        </p:nvSpPr>
        <p:spPr>
          <a:xfrm>
            <a:off x="3412800" y="2037600"/>
            <a:ext cx="2030400" cy="1440000"/>
          </a:xfrm>
          <a:prstGeom prst="roundRect">
            <a:avLst>
              <a:gd name="adj" fmla="val 3000"/>
            </a:avLst>
          </a:prstGeom>
          <a:noFill/>
          <a:ln w="6350">
            <a:solidFill>
              <a:srgbClr val="8C8C8C"/>
            </a:solidFill>
            <a:prstDash val="sysDash"/>
            <a:round/>
          </a:ln>
        </p:spPr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3484800" y="2095200"/>
            <a:ext cx="532800" cy="215832"/>
          </a:xfrm>
          <a:prstGeom prst="roundRect">
            <a:avLst>
              <a:gd name="adj" fmla="val 13344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Umsatz-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79600" y="2095200"/>
            <a:ext cx="532800" cy="215832"/>
          </a:xfrm>
          <a:prstGeom prst="roundRect">
            <a:avLst>
              <a:gd name="adj" fmla="val 13344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Ertrags-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74400" y="2095200"/>
            <a:ext cx="532800" cy="215832"/>
          </a:xfrm>
          <a:prstGeom prst="roundRect">
            <a:avLst>
              <a:gd name="adj" fmla="val 13344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Einzahlungs-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84800" y="2374940"/>
            <a:ext cx="532800" cy="395664"/>
          </a:xfrm>
          <a:prstGeom prst="roundRect">
            <a:avLst>
              <a:gd name="adj" fmla="val 7278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Betriebs-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ergebnis-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79600" y="2374940"/>
            <a:ext cx="532800" cy="395664"/>
          </a:xfrm>
          <a:prstGeom prst="roundRect">
            <a:avLst>
              <a:gd name="adj" fmla="val 7278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Plan-G+V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74400" y="2374940"/>
            <a:ext cx="532800" cy="395664"/>
          </a:xfrm>
          <a:prstGeom prst="roundRect">
            <a:avLst>
              <a:gd name="adj" fmla="val 7278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kurzfr.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Finanz-/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Liquiditäts-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84800" y="2834512"/>
            <a:ext cx="532800" cy="215832"/>
          </a:xfrm>
          <a:prstGeom prst="roundRect">
            <a:avLst>
              <a:gd name="adj" fmla="val 13344"/>
            </a:avLst>
          </a:prstGeom>
          <a:solidFill>
            <a:srgbClr val="C62828"/>
          </a:solidFill>
          <a:ln>
            <a:noFill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FFFFFF"/>
                </a:solidFill>
                <a:latin typeface="Arial"/>
              </a:rPr>
              <a:t>Kosten-</a:t>
            </a:r>
            <a:br>
              <a:rPr lang="de-DE" sz="600" b="1" i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de-DE" sz="600" b="1" i="0">
                <a:solidFill>
                  <a:srgbClr val="FFFFFF"/>
                </a:solidFill>
                <a:latin typeface="Arial"/>
              </a:rPr>
              <a:t>planung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79600" y="2834512"/>
            <a:ext cx="532800" cy="215832"/>
          </a:xfrm>
          <a:prstGeom prst="roundRect">
            <a:avLst>
              <a:gd name="adj" fmla="val 13344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Aufwands-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74400" y="2834512"/>
            <a:ext cx="532800" cy="215832"/>
          </a:xfrm>
          <a:prstGeom prst="roundRect">
            <a:avLst>
              <a:gd name="adj" fmla="val 13344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Auszahlungs-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84800" y="3114252"/>
            <a:ext cx="532800" cy="305748"/>
          </a:xfrm>
          <a:prstGeom prst="roundRect">
            <a:avLst>
              <a:gd name="adj" fmla="val 9420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Bestands-/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Vermögens-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planung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79600" y="3114252"/>
            <a:ext cx="532800" cy="305748"/>
          </a:xfrm>
          <a:prstGeom prst="roundRect">
            <a:avLst>
              <a:gd name="adj" fmla="val 9420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21600" rIns="21600" tIns="18000" bIns="180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Planbilanz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Vermögen/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Kapital</a:t>
            </a:r>
          </a:p>
        </p:txBody>
      </p:sp>
      <p:sp>
        <p:nvSpPr>
          <p:cNvPr id="60" name="Freeform 59"/>
          <p:cNvSpPr/>
          <p:nvPr/>
        </p:nvSpPr>
        <p:spPr>
          <a:xfrm>
            <a:off x="2790000" y="410400"/>
            <a:ext cx="0" cy="230400"/>
          </a:xfrm>
          <a:custGeom>
            <a:avLst/>
            <a:gdLst/>
            <a:ahLst/>
            <a:cxnLst/>
            <a:rect l="l" t="t" r="r" b="b"/>
            <a:pathLst>
              <a:path w="0" h="230400">
                <a:moveTo>
                  <a:pt x="0" y="0"/>
                </a:moveTo>
                <a:lnTo>
                  <a:pt x="0" y="2304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492000" y="1058400"/>
            <a:ext cx="126000" cy="0"/>
          </a:xfrm>
          <a:custGeom>
            <a:avLst/>
            <a:gdLst/>
            <a:ahLst/>
            <a:cxnLst/>
            <a:rect l="l" t="t" r="r" b="b"/>
            <a:pathLst>
              <a:path w="126000" h="0">
                <a:moveTo>
                  <a:pt x="0" y="0"/>
                </a:moveTo>
                <a:lnTo>
                  <a:pt x="12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295000" y="1346400"/>
            <a:ext cx="0" cy="129600"/>
          </a:xfrm>
          <a:custGeom>
            <a:avLst/>
            <a:gdLst/>
            <a:ahLst/>
            <a:cxnLst/>
            <a:rect l="l" t="t" r="r" b="b"/>
            <a:pathLst>
              <a:path w="0" h="129600">
                <a:moveTo>
                  <a:pt x="0" y="0"/>
                </a:moveTo>
                <a:lnTo>
                  <a:pt x="0" y="1296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548000" y="1346400"/>
            <a:ext cx="0" cy="360000"/>
          </a:xfrm>
          <a:custGeom>
            <a:avLst/>
            <a:gdLst/>
            <a:ahLst/>
            <a:cxnLst/>
            <a:rect l="l" t="t" r="r" b="b"/>
            <a:pathLst>
              <a:path w="0" h="360000">
                <a:moveTo>
                  <a:pt x="0" y="0"/>
                </a:moveTo>
                <a:lnTo>
                  <a:pt x="0" y="36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990000" y="1346400"/>
            <a:ext cx="0" cy="705600"/>
          </a:xfrm>
          <a:custGeom>
            <a:avLst/>
            <a:gdLst/>
            <a:ahLst/>
            <a:cxnLst/>
            <a:rect l="l" t="t" r="r" b="b"/>
            <a:pathLst>
              <a:path w="0" h="705600">
                <a:moveTo>
                  <a:pt x="0" y="0"/>
                </a:moveTo>
                <a:lnTo>
                  <a:pt x="0" y="7056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875600" y="1922232"/>
            <a:ext cx="0" cy="129768"/>
          </a:xfrm>
          <a:custGeom>
            <a:avLst/>
            <a:gdLst/>
            <a:ahLst/>
            <a:cxnLst/>
            <a:rect l="l" t="t" r="r" b="b"/>
            <a:pathLst>
              <a:path w="0" h="129768">
                <a:moveTo>
                  <a:pt x="0" y="0"/>
                </a:moveTo>
                <a:lnTo>
                  <a:pt x="0" y="129768"/>
                </a:lnTo>
              </a:path>
            </a:pathLst>
          </a:custGeom>
          <a:noFill/>
          <a:ln w="762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362400" y="1346400"/>
            <a:ext cx="0" cy="475200"/>
          </a:xfrm>
          <a:custGeom>
            <a:avLst/>
            <a:gdLst/>
            <a:ahLst/>
            <a:cxnLst/>
            <a:rect l="l" t="t" r="r" b="b"/>
            <a:pathLst>
              <a:path w="0" h="475200">
                <a:moveTo>
                  <a:pt x="0" y="0"/>
                </a:moveTo>
                <a:lnTo>
                  <a:pt x="0" y="475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590000" y="1382400"/>
            <a:ext cx="0" cy="439200"/>
          </a:xfrm>
          <a:custGeom>
            <a:avLst/>
            <a:gdLst/>
            <a:ahLst/>
            <a:cxnLst/>
            <a:rect l="l" t="t" r="r" b="b"/>
            <a:pathLst>
              <a:path w="0" h="439200">
                <a:moveTo>
                  <a:pt x="0" y="0"/>
                </a:moveTo>
                <a:lnTo>
                  <a:pt x="0" y="4392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33200" y="1562400"/>
            <a:ext cx="504000" cy="1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1">
                <a:solidFill>
                  <a:srgbClr val="1A1A1A"/>
                </a:solidFill>
                <a:latin typeface="Arial"/>
              </a:rPr>
              <a:t>Abgleich</a:t>
            </a:r>
          </a:p>
        </p:txBody>
      </p:sp>
      <p:sp>
        <p:nvSpPr>
          <p:cNvPr id="69" name="Freeform 68"/>
          <p:cNvSpPr/>
          <p:nvPr/>
        </p:nvSpPr>
        <p:spPr>
          <a:xfrm>
            <a:off x="2347200" y="2664000"/>
            <a:ext cx="118800" cy="0"/>
          </a:xfrm>
          <a:custGeom>
            <a:avLst/>
            <a:gdLst/>
            <a:ahLst/>
            <a:cxnLst/>
            <a:rect l="l" t="t" r="r" b="b"/>
            <a:pathLst>
              <a:path w="118800" h="0">
                <a:moveTo>
                  <a:pt x="0" y="0"/>
                </a:moveTo>
                <a:lnTo>
                  <a:pt x="1188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2664000" y="1691832"/>
            <a:ext cx="0" cy="424968"/>
          </a:xfrm>
          <a:custGeom>
            <a:avLst/>
            <a:gdLst/>
            <a:ahLst/>
            <a:cxnLst/>
            <a:rect l="l" t="t" r="r" b="b"/>
            <a:pathLst>
              <a:path w="0" h="424968">
                <a:moveTo>
                  <a:pt x="0" y="0"/>
                </a:moveTo>
                <a:lnTo>
                  <a:pt x="0" y="424968"/>
                </a:lnTo>
              </a:path>
            </a:pathLst>
          </a:custGeom>
          <a:noFill/>
          <a:ln w="762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150000" y="1631399"/>
            <a:ext cx="117000" cy="791401"/>
          </a:xfrm>
          <a:custGeom>
            <a:avLst/>
            <a:gdLst/>
            <a:ahLst/>
            <a:cxnLst/>
            <a:rect l="l" t="t" r="r" b="b"/>
            <a:pathLst>
              <a:path w="117000" h="791401">
                <a:moveTo>
                  <a:pt x="0" y="0"/>
                </a:moveTo>
                <a:lnTo>
                  <a:pt x="117000" y="0"/>
                </a:lnTo>
                <a:lnTo>
                  <a:pt x="117000" y="791401"/>
                </a:lnTo>
                <a:lnTo>
                  <a:pt x="90000" y="791401"/>
                </a:lnTo>
              </a:path>
            </a:pathLst>
          </a:custGeom>
          <a:noFill/>
          <a:ln w="762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206000" y="1987200"/>
            <a:ext cx="2545200" cy="122400"/>
          </a:xfrm>
          <a:custGeom>
            <a:avLst/>
            <a:gdLst/>
            <a:ahLst/>
            <a:cxnLst/>
            <a:rect l="l" t="t" r="r" b="b"/>
            <a:pathLst>
              <a:path w="2545200" h="122400">
                <a:moveTo>
                  <a:pt x="0" y="122400"/>
                </a:moveTo>
                <a:lnTo>
                  <a:pt x="0" y="0"/>
                </a:lnTo>
                <a:lnTo>
                  <a:pt x="2545200" y="0"/>
                </a:lnTo>
                <a:lnTo>
                  <a:pt x="2545200" y="108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3294000" y="2942428"/>
            <a:ext cx="190800" cy="0"/>
          </a:xfrm>
          <a:custGeom>
            <a:avLst/>
            <a:gdLst/>
            <a:ahLst/>
            <a:cxnLst/>
            <a:rect l="l" t="t" r="r" b="b"/>
            <a:pathLst>
              <a:path w="190800" h="0">
                <a:moveTo>
                  <a:pt x="0" y="0"/>
                </a:moveTo>
                <a:lnTo>
                  <a:pt x="1908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871000" y="3088632"/>
            <a:ext cx="613800" cy="178494"/>
          </a:xfrm>
          <a:custGeom>
            <a:avLst/>
            <a:gdLst/>
            <a:ahLst/>
            <a:cxnLst/>
            <a:rect l="l" t="t" r="r" b="b"/>
            <a:pathLst>
              <a:path w="613800" h="178494">
                <a:moveTo>
                  <a:pt x="0" y="0"/>
                </a:moveTo>
                <a:lnTo>
                  <a:pt x="0" y="178494"/>
                </a:lnTo>
                <a:lnTo>
                  <a:pt x="613800" y="178494"/>
                </a:lnTo>
              </a:path>
            </a:pathLst>
          </a:custGeom>
          <a:noFill/>
          <a:ln w="7620">
            <a:solidFill>
              <a:srgbClr val="3A3F44"/>
            </a:solidFill>
            <a:prstDash val="sys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4017600" y="2203116"/>
            <a:ext cx="162000" cy="0"/>
          </a:xfrm>
          <a:custGeom>
            <a:avLst/>
            <a:gdLst/>
            <a:ahLst/>
            <a:cxnLst/>
            <a:rect l="l" t="t" r="r" b="b"/>
            <a:pathLst>
              <a:path w="162000" h="0">
                <a:moveTo>
                  <a:pt x="0" y="0"/>
                </a:moveTo>
                <a:lnTo>
                  <a:pt x="16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4712400" y="2203116"/>
            <a:ext cx="162000" cy="0"/>
          </a:xfrm>
          <a:custGeom>
            <a:avLst/>
            <a:gdLst/>
            <a:ahLst/>
            <a:cxnLst/>
            <a:rect l="l" t="t" r="r" b="b"/>
            <a:pathLst>
              <a:path w="162000" h="0">
                <a:moveTo>
                  <a:pt x="0" y="0"/>
                </a:moveTo>
                <a:lnTo>
                  <a:pt x="16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4017600" y="2942428"/>
            <a:ext cx="162000" cy="0"/>
          </a:xfrm>
          <a:custGeom>
            <a:avLst/>
            <a:gdLst/>
            <a:ahLst/>
            <a:cxnLst/>
            <a:rect l="l" t="t" r="r" b="b"/>
            <a:pathLst>
              <a:path w="162000" h="0">
                <a:moveTo>
                  <a:pt x="0" y="0"/>
                </a:moveTo>
                <a:lnTo>
                  <a:pt x="16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4712400" y="2942428"/>
            <a:ext cx="162000" cy="0"/>
          </a:xfrm>
          <a:custGeom>
            <a:avLst/>
            <a:gdLst/>
            <a:ahLst/>
            <a:cxnLst/>
            <a:rect l="l" t="t" r="r" b="b"/>
            <a:pathLst>
              <a:path w="162000" h="0">
                <a:moveTo>
                  <a:pt x="0" y="0"/>
                </a:moveTo>
                <a:lnTo>
                  <a:pt x="16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4017600" y="3267126"/>
            <a:ext cx="162000" cy="0"/>
          </a:xfrm>
          <a:custGeom>
            <a:avLst/>
            <a:gdLst/>
            <a:ahLst/>
            <a:cxnLst/>
            <a:rect l="l" t="t" r="r" b="b"/>
            <a:pathLst>
              <a:path w="162000" h="0">
                <a:moveTo>
                  <a:pt x="0" y="0"/>
                </a:moveTo>
                <a:lnTo>
                  <a:pt x="16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3751200" y="2311032"/>
            <a:ext cx="0" cy="63908"/>
          </a:xfrm>
          <a:custGeom>
            <a:avLst/>
            <a:gdLst/>
            <a:ahLst/>
            <a:cxnLst/>
            <a:rect l="l" t="t" r="r" b="b"/>
            <a:pathLst>
              <a:path w="0" h="63908">
                <a:moveTo>
                  <a:pt x="0" y="0"/>
                </a:moveTo>
                <a:lnTo>
                  <a:pt x="0" y="63908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4446000" y="2311032"/>
            <a:ext cx="0" cy="63908"/>
          </a:xfrm>
          <a:custGeom>
            <a:avLst/>
            <a:gdLst/>
            <a:ahLst/>
            <a:cxnLst/>
            <a:rect l="l" t="t" r="r" b="b"/>
            <a:pathLst>
              <a:path w="0" h="63908">
                <a:moveTo>
                  <a:pt x="0" y="0"/>
                </a:moveTo>
                <a:lnTo>
                  <a:pt x="0" y="63908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5140800" y="2311032"/>
            <a:ext cx="0" cy="63908"/>
          </a:xfrm>
          <a:custGeom>
            <a:avLst/>
            <a:gdLst/>
            <a:ahLst/>
            <a:cxnLst/>
            <a:rect l="l" t="t" r="r" b="b"/>
            <a:pathLst>
              <a:path w="0" h="63908">
                <a:moveTo>
                  <a:pt x="0" y="0"/>
                </a:moveTo>
                <a:lnTo>
                  <a:pt x="0" y="63908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3751200" y="2770604"/>
            <a:ext cx="0" cy="63908"/>
          </a:xfrm>
          <a:custGeom>
            <a:avLst/>
            <a:gdLst/>
            <a:ahLst/>
            <a:cxnLst/>
            <a:rect l="l" t="t" r="r" b="b"/>
            <a:pathLst>
              <a:path w="0" h="63908">
                <a:moveTo>
                  <a:pt x="0" y="6390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4446000" y="2770604"/>
            <a:ext cx="0" cy="63908"/>
          </a:xfrm>
          <a:custGeom>
            <a:avLst/>
            <a:gdLst/>
            <a:ahLst/>
            <a:cxnLst/>
            <a:rect l="l" t="t" r="r" b="b"/>
            <a:pathLst>
              <a:path w="0" h="63908">
                <a:moveTo>
                  <a:pt x="0" y="6390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5140800" y="2770604"/>
            <a:ext cx="0" cy="63908"/>
          </a:xfrm>
          <a:custGeom>
            <a:avLst/>
            <a:gdLst/>
            <a:ahLst/>
            <a:cxnLst/>
            <a:rect l="l" t="t" r="r" b="b"/>
            <a:pathLst>
              <a:path w="0" h="63908">
                <a:moveTo>
                  <a:pt x="0" y="6390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4712400" y="2572772"/>
            <a:ext cx="774000" cy="633204"/>
          </a:xfrm>
          <a:custGeom>
            <a:avLst/>
            <a:gdLst/>
            <a:ahLst/>
            <a:cxnLst/>
            <a:rect l="l" t="t" r="r" b="b"/>
            <a:pathLst>
              <a:path w="774000" h="633204">
                <a:moveTo>
                  <a:pt x="694800" y="0"/>
                </a:moveTo>
                <a:lnTo>
                  <a:pt x="774000" y="0"/>
                </a:lnTo>
                <a:lnTo>
                  <a:pt x="774000" y="633204"/>
                </a:lnTo>
                <a:lnTo>
                  <a:pt x="0" y="633204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3150000" y="1536433"/>
            <a:ext cx="2408400" cy="0"/>
          </a:xfrm>
          <a:custGeom>
            <a:avLst/>
            <a:gdLst/>
            <a:ahLst/>
            <a:cxnLst/>
            <a:rect l="l" t="t" r="r" b="b"/>
            <a:pathLst>
              <a:path w="2408400" h="0">
                <a:moveTo>
                  <a:pt x="0" y="0"/>
                </a:moveTo>
                <a:lnTo>
                  <a:pt x="2408400" y="0"/>
                </a:lnTo>
              </a:path>
            </a:pathLst>
          </a:custGeom>
          <a:noFill/>
          <a:ln w="762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5140800" y="1536433"/>
            <a:ext cx="0" cy="558767"/>
          </a:xfrm>
          <a:custGeom>
            <a:avLst/>
            <a:gdLst/>
            <a:ahLst/>
            <a:cxnLst/>
            <a:rect l="l" t="t" r="r" b="b"/>
            <a:pathLst>
              <a:path w="0" h="558767">
                <a:moveTo>
                  <a:pt x="0" y="0"/>
                </a:moveTo>
                <a:lnTo>
                  <a:pt x="0" y="558767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Knoten"/>
          <p:cNvSpPr/>
          <p:nvPr/>
        </p:nvSpPr>
        <p:spPr>
          <a:xfrm>
            <a:off x="5124600" y="1520233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712400" y="1536433"/>
            <a:ext cx="846000" cy="1797958"/>
          </a:xfrm>
          <a:custGeom>
            <a:avLst/>
            <a:gdLst/>
            <a:ahLst/>
            <a:cxnLst/>
            <a:rect l="l" t="t" r="r" b="b"/>
            <a:pathLst>
              <a:path w="846000" h="1797958">
                <a:moveTo>
                  <a:pt x="846000" y="0"/>
                </a:moveTo>
                <a:lnTo>
                  <a:pt x="846000" y="1797958"/>
                </a:lnTo>
                <a:lnTo>
                  <a:pt x="0" y="1797958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5407200" y="2942428"/>
            <a:ext cx="151200" cy="0"/>
          </a:xfrm>
          <a:custGeom>
            <a:avLst/>
            <a:gdLst/>
            <a:ahLst/>
            <a:cxnLst/>
            <a:rect l="l" t="t" r="r" b="b"/>
            <a:pathLst>
              <a:path w="151200" h="0">
                <a:moveTo>
                  <a:pt x="1512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Knoten"/>
          <p:cNvSpPr/>
          <p:nvPr/>
        </p:nvSpPr>
        <p:spPr>
          <a:xfrm>
            <a:off x="5542200" y="2926228"/>
            <a:ext cx="32400" cy="32400"/>
          </a:xfrm>
          <a:prstGeom prst="ellipse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347200" y="2572772"/>
            <a:ext cx="1137600" cy="811228"/>
          </a:xfrm>
          <a:custGeom>
            <a:avLst/>
            <a:gdLst/>
            <a:ahLst/>
            <a:cxnLst/>
            <a:rect l="l" t="t" r="r" b="b"/>
            <a:pathLst>
              <a:path w="1137600" h="811228">
                <a:moveTo>
                  <a:pt x="1137600" y="0"/>
                </a:moveTo>
                <a:lnTo>
                  <a:pt x="986400" y="0"/>
                </a:lnTo>
                <a:lnTo>
                  <a:pt x="986400" y="811228"/>
                </a:lnTo>
                <a:lnTo>
                  <a:pt x="0" y="811228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