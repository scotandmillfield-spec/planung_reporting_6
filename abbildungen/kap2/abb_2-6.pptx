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280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nhalt"/>
          <p:cNvSpPr/>
          <p:nvPr/>
        </p:nvSpPr>
        <p:spPr>
          <a:xfrm>
            <a:off x="1324800" y="338400"/>
            <a:ext cx="2620800" cy="1979914"/>
          </a:xfrm>
          <a:prstGeom prst="roundRect">
            <a:avLst>
              <a:gd name="adj" fmla="val 2727"/>
            </a:avLst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Inhalt Text"/>
          <p:cNvSpPr txBox="1"/>
          <p:nvPr/>
        </p:nvSpPr>
        <p:spPr>
          <a:xfrm>
            <a:off x="1857600" y="1004357"/>
            <a:ext cx="2030400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0" i="1">
                <a:solidFill>
                  <a:srgbClr val="1A1A1A"/>
                </a:solidFill>
                <a:latin typeface="Arial"/>
              </a:rPr>
              <a:t>Informationen aus Betrieb und Umwelt</a:t>
            </a:r>
          </a:p>
          <a:p>
            <a:pPr algn="ctr">
              <a:lnSpc>
                <a:spcPts val="826"/>
              </a:lnSpc>
              <a:buNone/>
            </a:pPr>
            <a:r>
              <a:rPr lang="de-DE" sz="700" b="0" i="1">
                <a:solidFill>
                  <a:srgbClr val="1A1A1A"/>
                </a:solidFill>
                <a:latin typeface="Arial"/>
              </a:rPr>
              <a:t>(inhaltlicher Umfang des Reportings)</a:t>
            </a:r>
          </a:p>
        </p:txBody>
      </p:sp>
      <p:sp>
        <p:nvSpPr>
          <p:cNvPr id="4" name="Freeform 3"/>
          <p:cNvSpPr/>
          <p:nvPr/>
        </p:nvSpPr>
        <p:spPr>
          <a:xfrm>
            <a:off x="1281600" y="36000"/>
            <a:ext cx="0" cy="2325514"/>
          </a:xfrm>
          <a:custGeom>
            <a:avLst/>
            <a:gdLst/>
            <a:ahLst/>
            <a:cxnLst/>
            <a:rect l="l" t="t" r="r" b="b"/>
            <a:pathLst>
              <a:path w="0" h="2325514">
                <a:moveTo>
                  <a:pt x="0" y="23255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281600" y="2361514"/>
            <a:ext cx="2664000" cy="0"/>
          </a:xfrm>
          <a:custGeom>
            <a:avLst/>
            <a:gdLst/>
            <a:ahLst/>
            <a:cxnLst/>
            <a:rect l="l" t="t" r="r" b="b"/>
            <a:pathLst>
              <a:path w="2664000" h="0">
                <a:moveTo>
                  <a:pt x="0" y="0"/>
                </a:moveTo>
                <a:lnTo>
                  <a:pt x="266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303200" y="1407557"/>
            <a:ext cx="680400" cy="932357"/>
          </a:xfrm>
          <a:custGeom>
            <a:avLst/>
            <a:gdLst/>
            <a:ahLst/>
            <a:cxnLst/>
            <a:rect l="l" t="t" r="r" b="b"/>
            <a:pathLst>
              <a:path w="680400" h="932357">
                <a:moveTo>
                  <a:pt x="0" y="932357"/>
                </a:moveTo>
                <a:lnTo>
                  <a:pt x="6804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Achse Prozesse"/>
          <p:cNvSpPr txBox="1"/>
          <p:nvPr/>
        </p:nvSpPr>
        <p:spPr>
          <a:xfrm>
            <a:off x="0" y="7200"/>
            <a:ext cx="1238400" cy="3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1">
                <a:solidFill>
                  <a:srgbClr val="1A1A1A"/>
                </a:solidFill>
                <a:latin typeface="Arial"/>
              </a:rPr>
              <a:t>Prozesse des Reportings</a:t>
            </a:r>
          </a:p>
        </p:txBody>
      </p:sp>
      <p:sp>
        <p:nvSpPr>
          <p:cNvPr id="8" name="Informations-&#10;analyse/-nutzung"/>
          <p:cNvSpPr/>
          <p:nvPr/>
        </p:nvSpPr>
        <p:spPr>
          <a:xfrm>
            <a:off x="21600" y="338400"/>
            <a:ext cx="1152000" cy="253004"/>
          </a:xfrm>
          <a:prstGeom prst="roundRect">
            <a:avLst>
              <a:gd name="adj" fmla="val 1138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Informations-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analyse/-nutzung</a:t>
            </a:r>
          </a:p>
        </p:txBody>
      </p:sp>
      <p:sp>
        <p:nvSpPr>
          <p:cNvPr id="9" name="Berichtsbereitstellung"/>
          <p:cNvSpPr/>
          <p:nvPr/>
        </p:nvSpPr>
        <p:spPr>
          <a:xfrm>
            <a:off x="21600" y="713804"/>
            <a:ext cx="1152000" cy="165600"/>
          </a:xfrm>
          <a:prstGeom prst="roundRect">
            <a:avLst>
              <a:gd name="adj" fmla="val 17391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Berichtsbereitstellung</a:t>
            </a:r>
          </a:p>
        </p:txBody>
      </p:sp>
      <p:sp>
        <p:nvSpPr>
          <p:cNvPr id="10" name="Berichtsaufbereitung"/>
          <p:cNvSpPr/>
          <p:nvPr/>
        </p:nvSpPr>
        <p:spPr>
          <a:xfrm>
            <a:off x="21600" y="1001804"/>
            <a:ext cx="1152000" cy="165600"/>
          </a:xfrm>
          <a:prstGeom prst="roundRect">
            <a:avLst>
              <a:gd name="adj" fmla="val 17391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Berichtsaufbereitung</a:t>
            </a:r>
          </a:p>
        </p:txBody>
      </p:sp>
      <p:sp>
        <p:nvSpPr>
          <p:cNvPr id="11" name="Informationsaufbereitung und -"/>
          <p:cNvSpPr/>
          <p:nvPr/>
        </p:nvSpPr>
        <p:spPr>
          <a:xfrm>
            <a:off x="21600" y="1289804"/>
            <a:ext cx="1152000" cy="357906"/>
          </a:xfrm>
          <a:prstGeom prst="roundRect">
            <a:avLst>
              <a:gd name="adj" fmla="val 8047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Informations-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aufbereitung und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-verwaltung</a:t>
            </a:r>
          </a:p>
        </p:txBody>
      </p:sp>
      <p:sp>
        <p:nvSpPr>
          <p:cNvPr id="12" name="Datenbeschaffung"/>
          <p:cNvSpPr/>
          <p:nvPr/>
        </p:nvSpPr>
        <p:spPr>
          <a:xfrm>
            <a:off x="21600" y="1770110"/>
            <a:ext cx="1152000" cy="165600"/>
          </a:xfrm>
          <a:prstGeom prst="roundRect">
            <a:avLst>
              <a:gd name="adj" fmla="val 17391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Datenbeschaffung</a:t>
            </a:r>
          </a:p>
        </p:txBody>
      </p:sp>
      <p:sp>
        <p:nvSpPr>
          <p:cNvPr id="13" name="Informationsbedarfsermittlung"/>
          <p:cNvSpPr/>
          <p:nvPr/>
        </p:nvSpPr>
        <p:spPr>
          <a:xfrm>
            <a:off x="21600" y="2058110"/>
            <a:ext cx="1152000" cy="253004"/>
          </a:xfrm>
          <a:prstGeom prst="roundRect">
            <a:avLst>
              <a:gd name="adj" fmla="val 1138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Informationsbedarfs-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ermittlung</a:t>
            </a:r>
          </a:p>
        </p:txBody>
      </p:sp>
      <p:sp>
        <p:nvSpPr>
          <p:cNvPr id="14" name="Freeform 13"/>
          <p:cNvSpPr/>
          <p:nvPr/>
        </p:nvSpPr>
        <p:spPr>
          <a:xfrm>
            <a:off x="597600" y="591404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97600" y="879404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97600" y="1167404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97600" y="1647710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597600" y="1935710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24800" y="2404714"/>
            <a:ext cx="12888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Interne Adressaten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6800" y="2404714"/>
            <a:ext cx="12888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Externe Adressaten</a:t>
            </a:r>
          </a:p>
        </p:txBody>
      </p:sp>
      <p:sp>
        <p:nvSpPr>
          <p:cNvPr id="21" name="Achse Empfänger"/>
          <p:cNvSpPr txBox="1"/>
          <p:nvPr/>
        </p:nvSpPr>
        <p:spPr>
          <a:xfrm>
            <a:off x="1281600" y="2635114"/>
            <a:ext cx="2664000" cy="1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1">
                <a:solidFill>
                  <a:srgbClr val="1A1A1A"/>
                </a:solidFill>
                <a:latin typeface="Arial"/>
              </a:rPr>
              <a:t>Empfänger des Reportings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