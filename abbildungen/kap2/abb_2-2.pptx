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31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Unternehmenskultur"/>
          <p:cNvSpPr/>
          <p:nvPr/>
        </p:nvSpPr>
        <p:spPr>
          <a:xfrm>
            <a:off x="10800" y="10800"/>
            <a:ext cx="3938400" cy="3132000"/>
          </a:xfrm>
          <a:prstGeom prst="roundRect">
            <a:avLst>
              <a:gd name="adj" fmla="val 1379"/>
            </a:avLst>
          </a:prstGeom>
          <a:noFill/>
          <a:ln w="6350">
            <a:solidFill>
              <a:srgbClr val="8C8C8C"/>
            </a:solidFill>
            <a:prstDash val="sysDash"/>
            <a:round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4000" y="57600"/>
            <a:ext cx="2232000" cy="1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Unternehmenskultur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0" y="57600"/>
            <a:ext cx="972000" cy="1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Zeithorizont, z. B.</a:t>
            </a:r>
          </a:p>
        </p:txBody>
      </p:sp>
      <p:sp>
        <p:nvSpPr>
          <p:cNvPr id="5" name="Generelle Zielplanung"/>
          <p:cNvSpPr/>
          <p:nvPr/>
        </p:nvSpPr>
        <p:spPr>
          <a:xfrm>
            <a:off x="504000" y="309600"/>
            <a:ext cx="2232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Generelle Zielplanung</a:t>
            </a:r>
          </a:p>
        </p:txBody>
      </p:sp>
      <p:sp>
        <p:nvSpPr>
          <p:cNvPr id="6" name="Strategische Planung"/>
          <p:cNvSpPr/>
          <p:nvPr/>
        </p:nvSpPr>
        <p:spPr>
          <a:xfrm>
            <a:off x="504000" y="662400"/>
            <a:ext cx="2232000" cy="462808"/>
          </a:xfrm>
          <a:prstGeom prst="roundRect">
            <a:avLst>
              <a:gd name="adj" fmla="val 622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Strategische Planung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Geschäftsfelder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Regionen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…</a:t>
            </a:r>
          </a:p>
        </p:txBody>
      </p:sp>
      <p:sp>
        <p:nvSpPr>
          <p:cNvPr id="7" name="Zeithorizont 5 Jahre"/>
          <p:cNvSpPr txBox="1"/>
          <p:nvPr/>
        </p:nvSpPr>
        <p:spPr>
          <a:xfrm>
            <a:off x="2880000" y="814604"/>
            <a:ext cx="972000" cy="158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5 Jahre</a:t>
            </a:r>
          </a:p>
        </p:txBody>
      </p:sp>
      <p:sp>
        <p:nvSpPr>
          <p:cNvPr id="8" name="Mittelfristplanung"/>
          <p:cNvSpPr/>
          <p:nvPr/>
        </p:nvSpPr>
        <p:spPr>
          <a:xfrm>
            <a:off x="504000" y="1276408"/>
            <a:ext cx="2232000" cy="462808"/>
          </a:xfrm>
          <a:prstGeom prst="roundRect">
            <a:avLst>
              <a:gd name="adj" fmla="val 622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Mittelfristplanung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Maßnahmen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Projekte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…</a:t>
            </a:r>
          </a:p>
        </p:txBody>
      </p:sp>
      <p:sp>
        <p:nvSpPr>
          <p:cNvPr id="9" name="Zeithorizont 2–3 Jahre"/>
          <p:cNvSpPr txBox="1"/>
          <p:nvPr/>
        </p:nvSpPr>
        <p:spPr>
          <a:xfrm>
            <a:off x="2880000" y="1428612"/>
            <a:ext cx="972000" cy="158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2–3 Jahre</a:t>
            </a:r>
          </a:p>
        </p:txBody>
      </p:sp>
      <p:sp>
        <p:nvSpPr>
          <p:cNvPr id="10" name="Operative Planung"/>
          <p:cNvSpPr/>
          <p:nvPr/>
        </p:nvSpPr>
        <p:spPr>
          <a:xfrm>
            <a:off x="504000" y="1890416"/>
            <a:ext cx="2232000" cy="462808"/>
          </a:xfrm>
          <a:prstGeom prst="roundRect">
            <a:avLst>
              <a:gd name="adj" fmla="val 6223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Operative Planung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Prozesse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Ressourcen</a:t>
            </a:r>
          </a:p>
          <a:p>
            <a:pPr algn="l" marL="79200" indent="-79200">
              <a:lnSpc>
                <a:spcPts val="826"/>
              </a:lnSpc>
              <a:buFont typeface="Arial"/>
              <a:buChar char="•"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…</a:t>
            </a:r>
          </a:p>
        </p:txBody>
      </p:sp>
      <p:sp>
        <p:nvSpPr>
          <p:cNvPr id="11" name="Zeithorizont bis 1 Jahr"/>
          <p:cNvSpPr txBox="1"/>
          <p:nvPr/>
        </p:nvSpPr>
        <p:spPr>
          <a:xfrm>
            <a:off x="2880000" y="2042620"/>
            <a:ext cx="972000" cy="158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bis 1 Jahr</a:t>
            </a:r>
          </a:p>
        </p:txBody>
      </p:sp>
      <p:sp>
        <p:nvSpPr>
          <p:cNvPr id="12" name="Steuerung und Kontrolle"/>
          <p:cNvSpPr/>
          <p:nvPr/>
        </p:nvSpPr>
        <p:spPr>
          <a:xfrm>
            <a:off x="504000" y="2504424"/>
            <a:ext cx="2232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Steuerung und Kontrolle</a:t>
            </a:r>
          </a:p>
        </p:txBody>
      </p:sp>
      <p:sp>
        <p:nvSpPr>
          <p:cNvPr id="13" name="Durchführung"/>
          <p:cNvSpPr/>
          <p:nvPr/>
        </p:nvSpPr>
        <p:spPr>
          <a:xfrm>
            <a:off x="504000" y="2857224"/>
            <a:ext cx="2232000" cy="201600"/>
          </a:xfrm>
          <a:prstGeom prst="roundRect">
            <a:avLst>
              <a:gd name="adj" fmla="val 14285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Durchführung</a:t>
            </a:r>
          </a:p>
        </p:txBody>
      </p:sp>
      <p:sp>
        <p:nvSpPr>
          <p:cNvPr id="14" name="Freeform 13"/>
          <p:cNvSpPr/>
          <p:nvPr/>
        </p:nvSpPr>
        <p:spPr>
          <a:xfrm>
            <a:off x="2412000" y="511200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151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412000" y="1125208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151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12000" y="1739216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151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12000" y="2353224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151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412000" y="2706024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1512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36000" y="2706024"/>
            <a:ext cx="0" cy="151200"/>
          </a:xfrm>
          <a:custGeom>
            <a:avLst/>
            <a:gdLst/>
            <a:ahLst/>
            <a:cxnLst/>
            <a:rect l="l" t="t" r="r" b="b"/>
            <a:pathLst>
              <a:path w="0" h="151200">
                <a:moveTo>
                  <a:pt x="0" y="0"/>
                </a:moveTo>
                <a:lnTo>
                  <a:pt x="0" y="151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16000" y="410400"/>
            <a:ext cx="288000" cy="2194824"/>
          </a:xfrm>
          <a:custGeom>
            <a:avLst/>
            <a:gdLst/>
            <a:ahLst/>
            <a:cxnLst/>
            <a:rect l="l" t="t" r="r" b="b"/>
            <a:pathLst>
              <a:path w="288000" h="2194824">
                <a:moveTo>
                  <a:pt x="288000" y="0"/>
                </a:moveTo>
                <a:lnTo>
                  <a:pt x="0" y="0"/>
                </a:lnTo>
                <a:lnTo>
                  <a:pt x="0" y="2194824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16000" y="893804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Knoten"/>
          <p:cNvSpPr/>
          <p:nvPr/>
        </p:nvSpPr>
        <p:spPr>
          <a:xfrm>
            <a:off x="199800" y="877604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16000" y="1507812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Knoten"/>
          <p:cNvSpPr/>
          <p:nvPr/>
        </p:nvSpPr>
        <p:spPr>
          <a:xfrm>
            <a:off x="199800" y="1491612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16000" y="212182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Knoten"/>
          <p:cNvSpPr/>
          <p:nvPr/>
        </p:nvSpPr>
        <p:spPr>
          <a:xfrm>
            <a:off x="199800" y="210562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16000" y="2605224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