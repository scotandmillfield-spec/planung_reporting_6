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39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rte Fachlicher Inhalt"/>
          <p:cNvSpPr/>
          <p:nvPr/>
        </p:nvSpPr>
        <p:spPr>
          <a:xfrm>
            <a:off x="7200" y="7200"/>
            <a:ext cx="1926000" cy="1988872"/>
          </a:xfrm>
          <a:prstGeom prst="roundRect">
            <a:avLst>
              <a:gd name="adj" fmla="val 149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3" name="Kopf Fachlicher Inhalt"/>
          <p:cNvSpPr/>
          <p:nvPr/>
        </p:nvSpPr>
        <p:spPr>
          <a:xfrm>
            <a:off x="7200" y="7200"/>
            <a:ext cx="1926000" cy="187200"/>
          </a:xfrm>
          <a:prstGeom prst="round2SameRect">
            <a:avLst>
              <a:gd name="adj1" fmla="val 15384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Fachlicher Inhalt</a:t>
            </a:r>
          </a:p>
        </p:txBody>
      </p:sp>
      <p:sp>
        <p:nvSpPr>
          <p:cNvPr id="4" name="Inhalt Fachlicher Inhalt"/>
          <p:cNvSpPr txBox="1"/>
          <p:nvPr/>
        </p:nvSpPr>
        <p:spPr>
          <a:xfrm>
            <a:off x="7200" y="194400"/>
            <a:ext cx="1926000" cy="1801672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Bezug zur Unternehmensstrategie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Wertschöpfungstreibende Faktoren des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Geschäftsmodells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Planungs-/Berichtsinhalte</a:t>
            </a:r>
          </a:p>
          <a:p>
            <a:pPr algn="l" marL="79200">
              <a:lnSpc>
                <a:spcPts val="708"/>
              </a:lnSpc>
              <a:spcBef>
                <a:spcPts val="3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(Struktur und Navigation, Berichts- und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Planungsobjekte)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Planungsformular-/Berichtsgestaltung</a:t>
            </a:r>
          </a:p>
          <a:p>
            <a:pPr algn="l" marL="79200">
              <a:lnSpc>
                <a:spcPts val="708"/>
              </a:lnSpc>
              <a:spcBef>
                <a:spcPts val="3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(Berichtsarten, Grundformen, Filter-/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Selektionsmöglichkeiten, Layout, Besonderheiten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der Planungsformulare)</a:t>
            </a:r>
          </a:p>
        </p:txBody>
      </p:sp>
      <p:sp>
        <p:nvSpPr>
          <p:cNvPr id="5" name="Karte IT-Unterstützung"/>
          <p:cNvSpPr/>
          <p:nvPr/>
        </p:nvSpPr>
        <p:spPr>
          <a:xfrm>
            <a:off x="2026800" y="7200"/>
            <a:ext cx="1926000" cy="1988872"/>
          </a:xfrm>
          <a:prstGeom prst="roundRect">
            <a:avLst>
              <a:gd name="adj" fmla="val 149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6" name="Kopf IT-Unterstützung"/>
          <p:cNvSpPr/>
          <p:nvPr/>
        </p:nvSpPr>
        <p:spPr>
          <a:xfrm>
            <a:off x="2026800" y="7200"/>
            <a:ext cx="1926000" cy="187200"/>
          </a:xfrm>
          <a:prstGeom prst="round2SameRect">
            <a:avLst>
              <a:gd name="adj1" fmla="val 15384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IT-Unterstützung</a:t>
            </a:r>
          </a:p>
        </p:txBody>
      </p:sp>
      <p:sp>
        <p:nvSpPr>
          <p:cNvPr id="7" name="Inhalt IT-Unterstützung"/>
          <p:cNvSpPr txBox="1"/>
          <p:nvPr/>
        </p:nvSpPr>
        <p:spPr>
          <a:xfrm>
            <a:off x="2026800" y="194400"/>
            <a:ext cx="1926000" cy="1801672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Hardware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Software</a:t>
            </a:r>
          </a:p>
          <a:p>
            <a:pPr algn="l" marL="172800" indent="-79200">
              <a:lnSpc>
                <a:spcPts val="826"/>
              </a:lnSpc>
              <a:spcBef>
                <a:spcPts val="60"/>
              </a:spcBef>
              <a:buFont typeface="Arial"/>
              <a:buChar char="–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ERP-gestützte Systeme</a:t>
            </a:r>
          </a:p>
          <a:p>
            <a:pPr algn="l" marL="172800" indent="-79200">
              <a:lnSpc>
                <a:spcPts val="826"/>
              </a:lnSpc>
              <a:spcBef>
                <a:spcPts val="60"/>
              </a:spcBef>
              <a:buFont typeface="Arial"/>
              <a:buChar char="–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Tabellenkalkulationsprogramme</a:t>
            </a:r>
          </a:p>
          <a:p>
            <a:pPr algn="l" marL="172800" indent="-79200">
              <a:lnSpc>
                <a:spcPts val="826"/>
              </a:lnSpc>
              <a:spcBef>
                <a:spcPts val="60"/>
              </a:spcBef>
              <a:buFont typeface="Arial"/>
              <a:buChar char="–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Relationale Datenbank-gestützte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Systeme</a:t>
            </a:r>
          </a:p>
          <a:p>
            <a:pPr algn="l" marL="172800" indent="-79200">
              <a:lnSpc>
                <a:spcPts val="826"/>
              </a:lnSpc>
              <a:spcBef>
                <a:spcPts val="60"/>
              </a:spcBef>
              <a:buFont typeface="Arial"/>
              <a:buChar char="–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Data-Warehouse- und BI-gestützte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Systeme</a:t>
            </a:r>
          </a:p>
          <a:p>
            <a:pPr algn="l" marL="172800">
              <a:lnSpc>
                <a:spcPts val="708"/>
              </a:lnSpc>
              <a:spcBef>
                <a:spcPts val="3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(Anforderungskriterien: Datenanbindung,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Datenmodellierung, -harmonisierung und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-qualität, Analyse- und Planungsfunktionalität,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Flexibilität und Gestaltungsmöglichkeiten,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Geschwindigkeit etc.)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Mobile BI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KI-gestützte und Big-Data-Analytics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RPA und Chatbots</a:t>
            </a:r>
          </a:p>
        </p:txBody>
      </p:sp>
      <p:sp>
        <p:nvSpPr>
          <p:cNvPr id="8" name="Karte Organisation"/>
          <p:cNvSpPr/>
          <p:nvPr/>
        </p:nvSpPr>
        <p:spPr>
          <a:xfrm>
            <a:off x="7200" y="2075272"/>
            <a:ext cx="1926000" cy="1878382"/>
          </a:xfrm>
          <a:prstGeom prst="roundRect">
            <a:avLst>
              <a:gd name="adj" fmla="val 15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9" name="Kopf Organisation"/>
          <p:cNvSpPr/>
          <p:nvPr/>
        </p:nvSpPr>
        <p:spPr>
          <a:xfrm>
            <a:off x="7200" y="2075272"/>
            <a:ext cx="1926000" cy="187200"/>
          </a:xfrm>
          <a:prstGeom prst="round2SameRect">
            <a:avLst>
              <a:gd name="adj1" fmla="val 15384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Organisation</a:t>
            </a:r>
          </a:p>
        </p:txBody>
      </p:sp>
      <p:sp>
        <p:nvSpPr>
          <p:cNvPr id="10" name="Inhalt Organisation"/>
          <p:cNvSpPr txBox="1"/>
          <p:nvPr/>
        </p:nvSpPr>
        <p:spPr>
          <a:xfrm>
            <a:off x="7200" y="2262472"/>
            <a:ext cx="1926000" cy="1691182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Unternehmensverbindungen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Aufbauorganisation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Führungsstil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Unternehmensgröße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Adressaten/Empfänger der Planung/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Berichte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Sender/Ersteller/Koordinatoren der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Planung/Berichte</a:t>
            </a:r>
          </a:p>
          <a:p>
            <a:pPr algn="l" marL="79200">
              <a:lnSpc>
                <a:spcPts val="708"/>
              </a:lnSpc>
              <a:spcBef>
                <a:spcPts val="3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(zentrale und dezentrale Verantwortlichkeiten)</a:t>
            </a:r>
          </a:p>
        </p:txBody>
      </p:sp>
      <p:sp>
        <p:nvSpPr>
          <p:cNvPr id="11" name="Karte Prozesse"/>
          <p:cNvSpPr/>
          <p:nvPr/>
        </p:nvSpPr>
        <p:spPr>
          <a:xfrm>
            <a:off x="2026800" y="2075272"/>
            <a:ext cx="1926000" cy="1878382"/>
          </a:xfrm>
          <a:prstGeom prst="roundRect">
            <a:avLst>
              <a:gd name="adj" fmla="val 15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2" name="Kopf Prozesse"/>
          <p:cNvSpPr/>
          <p:nvPr/>
        </p:nvSpPr>
        <p:spPr>
          <a:xfrm>
            <a:off x="2026800" y="2075272"/>
            <a:ext cx="1926000" cy="187200"/>
          </a:xfrm>
          <a:prstGeom prst="round2SameRect">
            <a:avLst>
              <a:gd name="adj1" fmla="val 15384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Prozesse</a:t>
            </a:r>
          </a:p>
        </p:txBody>
      </p:sp>
      <p:sp>
        <p:nvSpPr>
          <p:cNvPr id="13" name="Inhalt Prozesse"/>
          <p:cNvSpPr txBox="1"/>
          <p:nvPr/>
        </p:nvSpPr>
        <p:spPr>
          <a:xfrm>
            <a:off x="2026800" y="2262472"/>
            <a:ext cx="1926000" cy="1691182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Einführungsprozesse</a:t>
            </a:r>
          </a:p>
          <a:p>
            <a:pPr algn="l" marL="79200">
              <a:lnSpc>
                <a:spcPts val="708"/>
              </a:lnSpc>
              <a:spcBef>
                <a:spcPts val="3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(Rahmenbedingungen, Informationsbedarfs- und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Ist-Analyse, Best-Practice-Abgleich, Blueprint,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Sollkonzept, DV-Auswahl, IT-Konzept und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Implementierung, Coaching/Schulung)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Zyklische Durchführungsprozesse</a:t>
            </a:r>
          </a:p>
          <a:p>
            <a:pPr algn="l" marL="172800" indent="-79200">
              <a:lnSpc>
                <a:spcPts val="826"/>
              </a:lnSpc>
              <a:spcBef>
                <a:spcPts val="60"/>
              </a:spcBef>
              <a:buFont typeface="Arial"/>
              <a:buChar char="–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Zyklischer Planungsprozess</a:t>
            </a:r>
          </a:p>
          <a:p>
            <a:pPr algn="l" marL="172800">
              <a:lnSpc>
                <a:spcPts val="708"/>
              </a:lnSpc>
              <a:spcBef>
                <a:spcPts val="3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(Vorbereitung (u. a. Datenaufbereitung),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Durchführung, Abstimmung und Genehmigung)</a:t>
            </a:r>
          </a:p>
          <a:p>
            <a:pPr algn="l" marL="172800" indent="-79200">
              <a:lnSpc>
                <a:spcPts val="826"/>
              </a:lnSpc>
              <a:spcBef>
                <a:spcPts val="60"/>
              </a:spcBef>
              <a:buFont typeface="Arial"/>
              <a:buChar char="–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Zyklischer Reportingprozess</a:t>
            </a:r>
          </a:p>
          <a:p>
            <a:pPr algn="l" marL="172800">
              <a:lnSpc>
                <a:spcPts val="708"/>
              </a:lnSpc>
              <a:spcBef>
                <a:spcPts val="3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(Informationsbeschaffung, -aufbereitung,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Berichtserstellung, Analysevorbereitung,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Berichtsbereitstellung, Informationsanalyse und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Steuerung)</a:t>
            </a:r>
          </a:p>
          <a:p>
            <a:pPr algn="l" marL="79200" indent="-79200">
              <a:lnSpc>
                <a:spcPts val="826"/>
              </a:lnSpc>
              <a:spcBef>
                <a:spcPts val="110"/>
              </a:spcBef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Qualitätssicherungsprozesse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(u. a. Support)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