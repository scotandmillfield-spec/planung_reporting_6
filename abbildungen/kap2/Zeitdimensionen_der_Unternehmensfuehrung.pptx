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83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nternehmenskultur"/>
          <p:cNvSpPr/>
          <p:nvPr/>
        </p:nvSpPr>
        <p:spPr>
          <a:xfrm>
            <a:off x="10800" y="10800"/>
            <a:ext cx="3938400" cy="2815200"/>
          </a:xfrm>
          <a:prstGeom prst="roundRect">
            <a:avLst>
              <a:gd name="adj" fmla="val 1535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4000" y="57600"/>
            <a:ext cx="2232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Unternehmenskultur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0" y="57600"/>
            <a:ext cx="972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Zeithorizont, z. B.</a:t>
            </a:r>
          </a:p>
        </p:txBody>
      </p:sp>
      <p:sp>
        <p:nvSpPr>
          <p:cNvPr id="5" name="Generelle Zielplanung"/>
          <p:cNvSpPr/>
          <p:nvPr/>
        </p:nvSpPr>
        <p:spPr>
          <a:xfrm>
            <a:off x="504000" y="309600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Generelle Zielplanung</a:t>
            </a:r>
          </a:p>
        </p:txBody>
      </p:sp>
      <p:sp>
        <p:nvSpPr>
          <p:cNvPr id="6" name="Strategische Planung"/>
          <p:cNvSpPr/>
          <p:nvPr/>
        </p:nvSpPr>
        <p:spPr>
          <a:xfrm>
            <a:off x="504000" y="662400"/>
            <a:ext cx="22320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Strategische 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Geschäftsfelder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Regionen</a:t>
            </a:r>
          </a:p>
        </p:txBody>
      </p:sp>
      <p:sp>
        <p:nvSpPr>
          <p:cNvPr id="7" name="Zeithorizont 5 Jahre"/>
          <p:cNvSpPr txBox="1"/>
          <p:nvPr/>
        </p:nvSpPr>
        <p:spPr>
          <a:xfrm>
            <a:off x="2880000" y="762153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 Jahre</a:t>
            </a:r>
          </a:p>
        </p:txBody>
      </p:sp>
      <p:sp>
        <p:nvSpPr>
          <p:cNvPr id="8" name="Mittelfristplanung"/>
          <p:cNvSpPr/>
          <p:nvPr/>
        </p:nvSpPr>
        <p:spPr>
          <a:xfrm>
            <a:off x="504000" y="1171506"/>
            <a:ext cx="22320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Mittelfristplanung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Maßnahmen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Projekte</a:t>
            </a:r>
          </a:p>
        </p:txBody>
      </p:sp>
      <p:sp>
        <p:nvSpPr>
          <p:cNvPr id="9" name="Zeithorizont 2–3 Jahre"/>
          <p:cNvSpPr txBox="1"/>
          <p:nvPr/>
        </p:nvSpPr>
        <p:spPr>
          <a:xfrm>
            <a:off x="2880000" y="1271259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2–3 Jahre</a:t>
            </a:r>
          </a:p>
        </p:txBody>
      </p:sp>
      <p:sp>
        <p:nvSpPr>
          <p:cNvPr id="10" name="Operative Planung"/>
          <p:cNvSpPr/>
          <p:nvPr/>
        </p:nvSpPr>
        <p:spPr>
          <a:xfrm>
            <a:off x="504000" y="1680612"/>
            <a:ext cx="22320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Operative 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Prozesse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Ressourcen</a:t>
            </a:r>
          </a:p>
        </p:txBody>
      </p:sp>
      <p:sp>
        <p:nvSpPr>
          <p:cNvPr id="11" name="Zeithorizont bis 1 Jahr"/>
          <p:cNvSpPr txBox="1"/>
          <p:nvPr/>
        </p:nvSpPr>
        <p:spPr>
          <a:xfrm>
            <a:off x="2880000" y="1780365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bis 1 Jahr</a:t>
            </a:r>
          </a:p>
        </p:txBody>
      </p:sp>
      <p:sp>
        <p:nvSpPr>
          <p:cNvPr id="12" name="Steuerung und Kontrolle"/>
          <p:cNvSpPr/>
          <p:nvPr/>
        </p:nvSpPr>
        <p:spPr>
          <a:xfrm>
            <a:off x="504000" y="2189718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Steuerung und Kontrolle</a:t>
            </a:r>
          </a:p>
        </p:txBody>
      </p:sp>
      <p:sp>
        <p:nvSpPr>
          <p:cNvPr id="13" name="Durchführung"/>
          <p:cNvSpPr/>
          <p:nvPr/>
        </p:nvSpPr>
        <p:spPr>
          <a:xfrm>
            <a:off x="504000" y="2542518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Durchführung</a:t>
            </a:r>
          </a:p>
        </p:txBody>
      </p:sp>
      <p:sp>
        <p:nvSpPr>
          <p:cNvPr id="14" name="Freeform 13"/>
          <p:cNvSpPr/>
          <p:nvPr/>
        </p:nvSpPr>
        <p:spPr>
          <a:xfrm>
            <a:off x="2412000" y="511200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412000" y="1020306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12000" y="1529412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12000" y="2038518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412000" y="2391318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36000" y="2391318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0"/>
                </a:moveTo>
                <a:lnTo>
                  <a:pt x="0" y="151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16000" y="410400"/>
            <a:ext cx="288000" cy="1880118"/>
          </a:xfrm>
          <a:custGeom>
            <a:avLst/>
            <a:gdLst/>
            <a:ahLst/>
            <a:cxnLst/>
            <a:rect l="l" t="t" r="r" b="b"/>
            <a:pathLst>
              <a:path w="288000" h="1880118">
                <a:moveTo>
                  <a:pt x="288000" y="0"/>
                </a:moveTo>
                <a:lnTo>
                  <a:pt x="0" y="0"/>
                </a:lnTo>
                <a:lnTo>
                  <a:pt x="0" y="1880118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6000" y="841353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Knoten"/>
          <p:cNvSpPr/>
          <p:nvPr/>
        </p:nvSpPr>
        <p:spPr>
          <a:xfrm>
            <a:off x="199800" y="825153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16000" y="1350459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Knoten"/>
          <p:cNvSpPr/>
          <p:nvPr/>
        </p:nvSpPr>
        <p:spPr>
          <a:xfrm>
            <a:off x="199800" y="1334259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16000" y="1859565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noten"/>
          <p:cNvSpPr/>
          <p:nvPr/>
        </p:nvSpPr>
        <p:spPr>
          <a:xfrm>
            <a:off x="199800" y="1843365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16000" y="2290518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